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handoutMasterIdLst>
    <p:handoutMasterId r:id="rId18"/>
  </p:handoutMasterIdLst>
  <p:sldIdLst>
    <p:sldId id="256" r:id="rId3"/>
    <p:sldId id="258" r:id="rId5"/>
    <p:sldId id="259" r:id="rId6"/>
    <p:sldId id="260" r:id="rId7"/>
    <p:sldId id="261" r:id="rId8"/>
    <p:sldId id="262" r:id="rId9"/>
    <p:sldId id="263" r:id="rId10"/>
    <p:sldId id="264" r:id="rId11"/>
    <p:sldId id="272" r:id="rId12"/>
    <p:sldId id="267" r:id="rId13"/>
    <p:sldId id="268" r:id="rId14"/>
    <p:sldId id="269" r:id="rId15"/>
    <p:sldId id="270" r:id="rId16"/>
    <p:sldId id="271" r:id="rId17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handoutMaster" Target="handoutMasters/handoutMaster1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457700" cy="91757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8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5826920" y="0"/>
            <a:ext cx="4457700" cy="91757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8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17370426"/>
            <a:ext cx="4457700" cy="91757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8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5826920" y="17370426"/>
            <a:ext cx="4457700" cy="91757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8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ym typeface="+mn-ea"/>
              </a:rPr>
              <a:t>各位老师好，我是信管2202的颜益炜，我的毕业设计题目是《</a:t>
            </a:r>
            <a:r>
              <a:rPr lang="zh-CN">
                <a:solidFill>
                  <a:srgbClr val="194B81">
                    <a:alpha val="100000"/>
                  </a:srgbClr>
                </a:solidFill>
                <a:effectLst>
                  <a:outerShdw blurRad="38100" dist="38100" dir="2700000">
                    <a:srgbClr val="000000">
                      <a:alpha val="43136"/>
                    </a:srgbClr>
                  </a:outerShdw>
                </a:effectLst>
                <a:latin typeface="思源宋体 CN Heavy"/>
                <a:ea typeface="思源宋体 CN Heavy"/>
                <a:cs typeface="思源宋体 CN Heavy"/>
                <a:sym typeface="+mn-ea"/>
              </a:rPr>
              <a:t>基于大语言模型的缺陷检测AGENT设计与实现</a:t>
            </a:r>
            <a:r>
              <a:rPr lang="en-US" dirty="0">
                <a:sym typeface="+mn-ea"/>
              </a:rPr>
              <a:t>》。今天的汇报大约十分钟，会按研究背景、需求分析、总体设计、关键模块、测试结果和现场演示几个部分展开，最后再请各位老师提问，我会做现场演示。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ym typeface="+mn-ea"/>
              </a:rPr>
              <a:t>先说背景。DAC-3D</a:t>
            </a:r>
            <a:r>
              <a:rPr lang="zh-CN" altLang="en-US" dirty="0">
                <a:sym typeface="+mn-ea"/>
              </a:rPr>
              <a:t>中文全称叫做</a:t>
            </a:r>
            <a:r>
              <a:rPr lang="en-US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色散差动阵列共聚焦三维测量系统</a:t>
            </a:r>
            <a:r>
              <a:rPr lang="en-US" dirty="0">
                <a:sym typeface="+mn-ea"/>
              </a:rPr>
              <a:t>，操作人员日常要做参数设置、扫描区域确认、运行状态查看和结果判读。问题在于参数多、流程长、状态杂、结果带专业字段。新用户经常拿着手册一边看一边操作，培训成本一直不低。我列了三句操作人员真实会问出口的话——这个参数是什么意思、为什么这个缺陷被判严重、接下来应该怎么办——这些问题传统菜单和按钮都不太能直接回答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ym typeface="+mn-ea"/>
              </a:rPr>
              <a:t>近年大语言模型在自然语言理解和文本生成上能力明显提升，从Transformer、BERT到RAG、DPR，再到任务型对话、ReAct，方法已经比较成熟，工业数字助手综述也指出助手价值在知识支持和流程协调上。但具体到既有专业文档、又有结构化结果、还有运行状态的检测软件，需要把这些能力工程化整合成一套受约束、可审计、能联机的Agent化助手，现成的方案比较少。这就是本课题想填的空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ym typeface="+mn-ea"/>
              </a:rPr>
              <a:t>所以本文的目标，不是再做一个通用聊天机器人，而是要做一个受三重约束的Agent化任务型助手——知识来源约束、结构化规则约束、检测业务流程约束。具体覆盖参数问答、操作预览、结果解读、状态查询、运维管理这五类任务。请注意这五类任务在后面的架构、模块、测试里会反复出现，是本设计的主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ym typeface="+mn-ea"/>
              </a:rPr>
              <a:t>把五类任务展开做需求分析。每一类对应明确的输入、输出和系统模块。这里我特别提一下表里两类需求：一是Agent任务分派，统一入口先识别任务类型再分流，避免把执行类请求当作普通问答处理；二是</a:t>
            </a:r>
            <a:r>
              <a:rPr lang="zh-CN" altLang="en-US" dirty="0">
                <a:sym typeface="+mn-ea"/>
              </a:rPr>
              <a:t>记忆</a:t>
            </a:r>
            <a:r>
              <a:rPr lang="zh-CN" altLang="en-US" dirty="0">
                <a:sym typeface="+mn-ea"/>
              </a:rPr>
              <a:t>与技能辅助</a:t>
            </a:r>
            <a:r>
              <a:rPr lang="en-US" dirty="0">
                <a:sym typeface="+mn-ea"/>
              </a:rPr>
              <a:t>，使关键过程</a:t>
            </a:r>
            <a:r>
              <a:rPr lang="en-US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  <a:sym typeface="+mn-ea"/>
              </a:rPr>
              <a:t>必须</a:t>
            </a:r>
            <a:r>
              <a:rPr lang="en-US" dirty="0">
                <a:solidFill>
                  <a:srgbClr val="C0392B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  <a:sym typeface="+mn-ea"/>
              </a:rPr>
              <a:t>可审核</a:t>
            </a:r>
            <a:r>
              <a:rPr lang="en-US" b="1" dirty="0">
                <a:solidFill>
                  <a:srgbClr val="C0392B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  <a:sym typeface="+mn-ea"/>
              </a:rPr>
              <a:t>、</a:t>
            </a:r>
            <a:r>
              <a:rPr lang="en-US" dirty="0">
                <a:solidFill>
                  <a:srgbClr val="C0392B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  <a:sym typeface="+mn-ea"/>
              </a:rPr>
              <a:t>可拒绝</a:t>
            </a:r>
            <a:r>
              <a:rPr lang="en-US" dirty="0">
                <a:sym typeface="+mn-ea"/>
              </a:rPr>
              <a:t>。这两点也是本设计相比一般RAG问答系统的差异所在。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ym typeface="+mn-ea"/>
              </a:rPr>
              <a:t>基于需求，系统设计成六层。最上面是交互展示层，往下是DAC-3D集成层、工具与安全层、Agent编排层、知识与上下文层，最下面是配置与入口层。请注意中间这两层——工具与安全层、Agent编排层——是本设计的关键。Agent编排层负责把请求分派到对应链路，工具与安全层负责把执行类操作约束在预览-校验-确认-审计的生命周期内。后面几页会展开这几个关键模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一个关键模块：知识库与检索增强问答。文档可以是Markdown、TXT、PDF或DOCX，先做格式探测和文本清洗，再按标题和句子边界切分成带元信息的片段，向量化后持久化到Chroma。检索阶段用稠密向量加词项统计的混合策略：一种处理表述不一致的情况，一种处理直接命中术语的情况。最后每条回答都会带上来源文件、章节和分数，可追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ym typeface="+mn-ea"/>
              </a:rPr>
              <a:t>第二个关键模块：意图识别和结构化命令生成。这里要重点说一个工程决策——面对操作请求，系统不替用户决定关键参数。比如用户说"开始扫描"，缺区域、缺分辨率，系统不会自己猜，而是返回澄清提示。命令进入完整的生命周期：先生成pending preview，再依次经过schema校验、路径白名单、风险分类、确认token校验，最后才提交。这是从聊天系统走向任务型软件的关键。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ym typeface="+mn-ea"/>
              </a:rPr>
              <a:t>本文选用的处理方式是，先由Agent开展任务分派，再形成结构化命令预览，随后交由Tool Gateway对schema校验、路径白名单检查、风险分类、确认令牌校验以及命令生命周期记录进行统一处理，而不是直接触发执行。这样一来虽然增加了必要的中间处理环节，但更契合工业软件对于安全性以及可控性的基本要求。</a:t>
            </a:r>
            <a:endParaRPr lang="en-US" dirty="0">
              <a:sym typeface="+mn-ea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ym typeface="+mn-ea"/>
              </a:rPr>
              <a:t>前后端实现。后端FastAPI，统一暴露八类接口——同步聊天、流式聊天、运行时查询、知识库管理、命令审批、Trace读取、评测运行、记忆补丁审核。前端React+Vite+TypeScript，从单纯的对话窗口扩展成Agent工作台，可以同时展示对话、来源、命令预览、审批入口、状态摘要、Trace审计信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ym typeface="+mn-ea"/>
              </a:rPr>
              <a:t>系统测试。我用诚实的数据汇报。功能测试65条，46通过、8警告、11失败，主要失败集中在结果解释模块的结构化输出稳定性，这是后续要优先修复的。Agent回归20条、安全红队20条全部跑通，验证了命令生命周期、记忆审核和安全拦截链路。性能数据显示本地确定性逻辑开销很低，主要响应时间来自外部模型调用。SUS用户体验量表平均得分82分，5名参与者中4人在所有任务上完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ym typeface="+mn-ea"/>
              </a:rPr>
              <a:t>下面进入现场演示环节。这是 DAC-3D Agent 工作台，它不是普通聊天框，而是连接 DAC-3D 主系统状态、知识库、命令审批和检测结果解释的本地智能助手。我会依次演示八个场景。第一个是知识问答与操作指导，我输入样品表面反光很强怎么办，助手会依据 DAC-3D 文档和检测经验给出处理建议；第二个是状态查询，我输入当前检测状态是什么，这不是模型猜的，而是从主系统写出的状态文件里读到的运行数据。第三个是自然语言命令预览，我输入扫描 10mm 乘 10mm 区域，助手会转换为结构化命令预览，包括扫描范围、模式、缺失字段与风险提示。第四个是安全审批，这是本设计最重要的部分，上一步返回的命令会带上 needs_confirmation、preview_id、confirmation_token 以及生命周期状态，LLM 不能直接控制设备，所有执行类动作都要经过预览、Tool Gateway、策略校验、路径白名单、确认 token 和生命周期记录。第五个是结果解释，我输入当前检测结果怎么样，助手会读取最近结果并解释缺陷类型、严重度和依据；如果没有结果会明确说明，不会编造。第六个是 Agent 工具能力，我在终端执行 dac3d-agent 列出工具列表，可以看到 DAC-3D、Machine、Memory、Skill、Safety、Tool Gateway 等工具，这说明系统是多工具 Agent Runtime，不是单一路由问答，我会重点补一个跨工具问题，让 Agent 总结近三个月的设备异常趋势。第七个是评测与审计，在系统设置区可以看到 Trace、Eval、记忆补丁和技能补丁入口，系统可复查、可测试、可持续改进。总结一句：本系统的创新点不是接入大模型，而是把大模型放入工业检测软件的受控工作流里，同时具备智能交互、工业安全边界和可审计验证能力。如果老师们在演示中有问题可以随时打断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ym typeface="+mn-ea"/>
              </a:rPr>
              <a:t>总结一下。本文围绕DAC-3D检测场景，完成了一套Agent化、有安全边界、可审计的智能交互助手原型，覆盖五类任务，功能、Agent回归和安全红队三类测试链路均已建立。本设计的工程价值在于：把LLM、RAG、意图识别、Agent编排、工具网关、安全审查、Memory OS、Trace/Eval拧成了一套可运行、可验证、可扩展的软件原型。不足主要在结果解释结构化输出稳定性、RAG来源约束、真实设备闭环联机三方面，后续工作会沿着这几条线推进。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感谢各位老师的耐心聆听，请各位老师批评指正。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019" name="Group 8"/>
          <p:cNvGrpSpPr/>
          <p:nvPr userDrawn="1"/>
        </p:nvGrpSpPr>
        <p:grpSpPr>
          <a:xfrm>
            <a:off x="13987145" y="264160"/>
            <a:ext cx="4162425" cy="960755"/>
            <a:chOff x="2063591" y="1157383"/>
            <a:chExt cx="8060246" cy="1859756"/>
          </a:xfrm>
        </p:grpSpPr>
        <p:pic>
          <p:nvPicPr>
            <p:cNvPr id="100008" name="Picture 9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2063591" y="1157383"/>
              <a:ext cx="1824609" cy="1824609"/>
            </a:xfrm>
            <a:prstGeom prst="rect">
              <a:avLst/>
            </a:prstGeom>
          </p:spPr>
        </p:pic>
        <p:pic>
          <p:nvPicPr>
            <p:cNvPr id="100014" name="Picture 10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4007739" y="1310354"/>
              <a:ext cx="6116098" cy="1706785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jpe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219200" y="1047750"/>
            <a:ext cx="9526238" cy="3524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432" dirty="0">
                <a:solidFill>
                  <a:srgbClr val="6B6B75"/>
                </a:solidFill>
                <a:latin typeface="宋体" panose="02010600030101010101" pitchFamily="2" charset="-122"/>
                <a:ea typeface="宋体" panose="02010600030101010101" pitchFamily="2" charset="-122"/>
                <a:cs typeface="JetBrains Mono" pitchFamily="34" charset="-120"/>
              </a:rPr>
              <a:t>本科毕业设计（论文）答辩</a:t>
            </a:r>
            <a:endParaRPr lang="en-US" sz="1800" kern="0" spc="432" dirty="0">
              <a:solidFill>
                <a:srgbClr val="6B6B75"/>
              </a:solidFill>
              <a:latin typeface="宋体" panose="02010600030101010101" pitchFamily="2" charset="-122"/>
              <a:ea typeface="宋体" panose="02010600030101010101" pitchFamily="2" charset="-122"/>
              <a:cs typeface="JetBrains Mono" pitchFamily="34" charset="-120"/>
            </a:endParaRPr>
          </a:p>
        </p:txBody>
      </p:sp>
      <p:sp>
        <p:nvSpPr>
          <p:cNvPr id="15" name="TextBox 4"/>
          <p:cNvSpPr txBox="1"/>
          <p:nvPr/>
        </p:nvSpPr>
        <p:spPr>
          <a:xfrm>
            <a:off x="3522345" y="2962910"/>
            <a:ext cx="10808335" cy="218059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/>
          <a:p>
            <a:pPr algn="ctr">
              <a:lnSpc>
                <a:spcPct val="100000"/>
              </a:lnSpc>
            </a:pPr>
            <a:r>
              <a:rPr lang="zh-CN" sz="6000" b="1">
                <a:solidFill>
                  <a:srgbClr val="194B81">
                    <a:alpha val="100000"/>
                  </a:srgbClr>
                </a:solidFill>
                <a:effectLst>
                  <a:outerShdw blurRad="38100" dist="38100" dir="2700000">
                    <a:srgbClr val="000000">
                      <a:alpha val="43136"/>
                    </a:srgbClr>
                  </a:outerShdw>
                </a:effectLst>
                <a:latin typeface="思源宋体 CN Heavy"/>
                <a:ea typeface="思源宋体 CN Heavy"/>
                <a:cs typeface="思源宋体 CN Heavy"/>
                <a:sym typeface="+mn-ea"/>
              </a:rPr>
              <a:t>基于大语言模型的缺陷检测AGENT设计与实现</a:t>
            </a:r>
            <a:endParaRPr lang="zh-CN" sz="6000" b="1">
              <a:solidFill>
                <a:srgbClr val="194B81">
                  <a:alpha val="100000"/>
                </a:srgbClr>
              </a:solidFill>
              <a:effectLst>
                <a:outerShdw blurRad="38100" dist="38100" dir="2700000">
                  <a:srgbClr val="000000">
                    <a:alpha val="43136"/>
                  </a:srgbClr>
                </a:outerShdw>
              </a:effectLst>
              <a:latin typeface="思源宋体 CN Heavy"/>
              <a:ea typeface="思源宋体 CN Heavy"/>
              <a:cs typeface="思源宋体 CN Heavy"/>
              <a:sym typeface="+mn-ea"/>
            </a:endParaRPr>
          </a:p>
        </p:txBody>
      </p:sp>
      <p:sp>
        <p:nvSpPr>
          <p:cNvPr id="100007" name="TextBox 5"/>
          <p:cNvSpPr txBox="1"/>
          <p:nvPr/>
        </p:nvSpPr>
        <p:spPr>
          <a:xfrm>
            <a:off x="8002033" y="6393751"/>
            <a:ext cx="1848583" cy="871521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normAutofit/>
          </a:bodyPr>
          <a:p>
            <a:pPr algn="ctr"/>
          </a:p>
          <a:p>
            <a:pPr algn="ctr">
              <a:lnSpc>
                <a:spcPct val="150000"/>
              </a:lnSpc>
            </a:pPr>
          </a:p>
        </p:txBody>
      </p:sp>
      <p:cxnSp>
        <p:nvCxnSpPr>
          <p:cNvPr id="16" name="Connector 6"/>
          <p:cNvCxnSpPr/>
          <p:nvPr/>
        </p:nvCxnSpPr>
        <p:spPr>
          <a:xfrm>
            <a:off x="4115868" y="5769079"/>
            <a:ext cx="9621008" cy="0"/>
          </a:xfrm>
          <a:prstGeom prst="line">
            <a:avLst/>
          </a:prstGeom>
          <a:ln w="28575">
            <a:solidFill>
              <a:srgbClr val="194B81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20" name="文本框 19"/>
          <p:cNvSpPr txBox="1"/>
          <p:nvPr/>
        </p:nvSpPr>
        <p:spPr>
          <a:xfrm>
            <a:off x="4116070" y="6628765"/>
            <a:ext cx="9620250" cy="2401570"/>
          </a:xfrm>
          <a:prstGeom prst="rect">
            <a:avLst/>
          </a:prstGeom>
        </p:spPr>
        <p:txBody>
          <a:bodyPr>
            <a:noAutofit/>
          </a:bodyPr>
          <a:p>
            <a:pPr marL="0" indent="0" algn="l">
              <a:spcBef>
                <a:spcPct val="0"/>
              </a:spcBef>
              <a:spcAft>
                <a:spcPct val="0"/>
              </a:spcAft>
            </a:pPr>
            <a:r>
              <a:rPr lang="zh-CN" altLang="en-US" sz="2800" b="0" i="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</a:rPr>
              <a:t>学 生：颜益炜</a:t>
            </a:r>
            <a:r>
              <a:rPr lang="en-US" altLang="zh-CN" sz="2800" b="0" i="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</a:rPr>
              <a:t>                                       </a:t>
            </a:r>
            <a:r>
              <a:rPr lang="zh-CN" altLang="en-US" sz="2800" b="0" i="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</a:rPr>
              <a:t>指导老师：郑</a:t>
            </a:r>
            <a:r>
              <a:rPr lang="zh-CN" altLang="en-US" sz="2800">
                <a:latin typeface="Noto Sans SC" panose="020B0200000000000000" charset="-122"/>
                <a:ea typeface="Noto Sans SC" panose="020B0200000000000000" charset="-122"/>
                <a:sym typeface="+mn-ea"/>
              </a:rPr>
              <a:t>积仕</a:t>
            </a:r>
            <a:r>
              <a:rPr lang="en-US" altLang="zh-CN" sz="2800" b="0" i="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</a:rPr>
              <a:t>  </a:t>
            </a:r>
            <a:endParaRPr lang="zh-CN" altLang="en-US" sz="2800" b="0" i="0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 marL="0" indent="0" algn="l">
              <a:spcBef>
                <a:spcPct val="0"/>
              </a:spcBef>
              <a:spcAft>
                <a:spcPct val="0"/>
              </a:spcAft>
            </a:pPr>
            <a:r>
              <a:rPr lang="zh-CN" altLang="en-US" sz="2800" i="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</a:rPr>
              <a:t>专 业：信息管理与信息系统</a:t>
            </a:r>
            <a:r>
              <a:rPr lang="en-US" altLang="zh-CN" sz="2800" b="0" i="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</a:rPr>
              <a:t>            </a:t>
            </a:r>
            <a:r>
              <a:rPr lang="zh-CN" altLang="en-US" sz="2800" b="0" i="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</a:rPr>
              <a:t>班 级：信管（闽台）</a:t>
            </a:r>
            <a:r>
              <a:rPr lang="en-US" altLang="zh-CN" sz="2800" b="0" i="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</a:rPr>
              <a:t>2202  </a:t>
            </a:r>
            <a:endParaRPr lang="en-US" altLang="zh-CN" sz="2800" b="0" i="0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 marL="0" indent="0" algn="ctr">
              <a:spcBef>
                <a:spcPts val="2500"/>
              </a:spcBef>
            </a:pPr>
            <a:endParaRPr lang="zh-CN" altLang="en-US" sz="2000" b="0" i="0">
              <a:solidFill>
                <a:schemeClr val="tx1">
                  <a:lumMod val="50000"/>
                  <a:lumOff val="50000"/>
                </a:schemeClr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 marL="0" indent="0" algn="ctr">
              <a:spcBef>
                <a:spcPts val="2500"/>
              </a:spcBef>
            </a:pPr>
            <a:r>
              <a:rPr lang="zh-CN" altLang="en-US" sz="2000" b="0" i="0">
                <a:solidFill>
                  <a:schemeClr val="tx1">
                    <a:lumMod val="50000"/>
                    <a:lumOff val="50000"/>
                  </a:schemeClr>
                </a:solidFill>
                <a:latin typeface="Noto Sans SC" panose="020B0200000000000000" charset="-122"/>
                <a:ea typeface="Noto Sans SC" panose="020B0200000000000000" charset="-122"/>
              </a:rPr>
              <a:t>福建理工大学 人工智能与交通工程学院</a:t>
            </a:r>
            <a:endParaRPr lang="zh-CN" altLang="en-US" sz="2000" b="0" i="0">
              <a:solidFill>
                <a:schemeClr val="tx1">
                  <a:lumMod val="50000"/>
                  <a:lumOff val="50000"/>
                </a:schemeClr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5870" y="872490"/>
            <a:ext cx="506730" cy="4508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3200" kern="0" spc="162" dirty="0">
                <a:solidFill>
                  <a:srgbClr val="2B3A8A"/>
                </a:solidFill>
                <a:latin typeface="宋体" panose="02010600030101010101" pitchFamily="2" charset="-122"/>
                <a:ea typeface="宋体" panose="02010600030101010101" pitchFamily="2" charset="-122"/>
                <a:cs typeface="JetBrains Mono" pitchFamily="34" charset="-120"/>
              </a:rPr>
              <a:t>01</a:t>
            </a:r>
            <a:endParaRPr lang="en-US" sz="3200" kern="0" spc="162" dirty="0">
              <a:solidFill>
                <a:srgbClr val="2B3A8A"/>
              </a:solidFill>
              <a:latin typeface="宋体" panose="02010600030101010101" pitchFamily="2" charset="-122"/>
              <a:ea typeface="宋体" panose="02010600030101010101" pitchFamily="2" charset="-122"/>
              <a:cs typeface="JetBrains Mono" pitchFamily="34" charset="-12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694815" y="876300"/>
            <a:ext cx="3517265" cy="4978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5151A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  <a:sym typeface="+mn-ea"/>
              </a:rPr>
              <a:t> 研究背景与意义</a:t>
            </a:r>
            <a:endParaRPr lang="en-US" sz="3200" b="1" dirty="0">
              <a:solidFill>
                <a:srgbClr val="15151A"/>
              </a:solidFill>
              <a:latin typeface="宋体" panose="02010600030101010101" pitchFamily="2" charset="-122"/>
              <a:ea typeface="宋体" panose="02010600030101010101" pitchFamily="2" charset="-122"/>
              <a:cs typeface="PingFang SC" pitchFamily="34" charset="-120"/>
              <a:sym typeface="+mn-ea"/>
            </a:endParaRPr>
          </a:p>
        </p:txBody>
      </p:sp>
      <p:sp>
        <p:nvSpPr>
          <p:cNvPr id="5" name="Text 3"/>
          <p:cNvSpPr/>
          <p:nvPr/>
        </p:nvSpPr>
        <p:spPr>
          <a:xfrm>
            <a:off x="1219200" y="1509395"/>
            <a:ext cx="16325088" cy="14668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4800" b="1" kern="0" spc="-48" dirty="0">
                <a:solidFill>
                  <a:srgbClr val="15151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检测系统的人机交互，正在</a:t>
            </a:r>
            <a:r>
              <a:rPr lang="en-US" sz="4800" b="1" kern="0" spc="-48" dirty="0">
                <a:solidFill>
                  <a:srgbClr val="2B3A8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慢慢发生变化</a:t>
            </a:r>
            <a:endParaRPr lang="en-US" sz="4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Text 4"/>
          <p:cNvSpPr/>
          <p:nvPr/>
        </p:nvSpPr>
        <p:spPr>
          <a:xfrm>
            <a:off x="876935" y="2576195"/>
            <a:ext cx="8513445" cy="290068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lnSpc>
                <a:spcPct val="155000"/>
              </a:lnSpc>
              <a:buNone/>
            </a:pPr>
            <a:r>
              <a:rPr lang="en-US" sz="2300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DAC-3D（Dispersion Array Confocal 3D Measurement System）</a:t>
            </a:r>
            <a:endParaRPr lang="en-US" sz="2300" dirty="0">
              <a:solidFill>
                <a:srgbClr val="2C2C34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algn="ctr">
              <a:lnSpc>
                <a:spcPct val="155000"/>
              </a:lnSpc>
              <a:buNone/>
            </a:pPr>
            <a:r>
              <a:rPr lang="en-US" sz="2300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色散差动阵列共聚焦三维测量系统</a:t>
            </a:r>
            <a:endParaRPr lang="en-US" sz="2300" dirty="0">
              <a:solidFill>
                <a:srgbClr val="2C2C34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algn="l">
              <a:lnSpc>
                <a:spcPct val="155000"/>
              </a:lnSpc>
              <a:buNone/>
            </a:pPr>
            <a:r>
              <a:rPr lang="en-US" sz="2300" b="1" dirty="0">
                <a:solidFill>
                  <a:srgbClr val="C0392B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参数多、流程长、状态杂、结果带专业字段</a:t>
            </a:r>
            <a:r>
              <a:rPr lang="en-US" sz="2300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。新用户往往要边看手册边操作，培训成本一直不低，传统菜单与按钮难以即时回答"为什么、是什么、怎么办"。</a:t>
            </a:r>
            <a:endParaRPr lang="en-US" sz="2300" dirty="0">
              <a:solidFill>
                <a:srgbClr val="2C2C34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Shape 5"/>
          <p:cNvSpPr/>
          <p:nvPr/>
        </p:nvSpPr>
        <p:spPr>
          <a:xfrm flipH="1">
            <a:off x="9667875" y="7823835"/>
            <a:ext cx="76200" cy="1440815"/>
          </a:xfrm>
          <a:prstGeom prst="rect">
            <a:avLst/>
          </a:prstGeom>
          <a:solidFill>
            <a:srgbClr val="2B3A8A"/>
          </a:solidFill>
        </p:spPr>
      </p:sp>
      <p:sp>
        <p:nvSpPr>
          <p:cNvPr id="8" name="Text 6"/>
          <p:cNvSpPr/>
          <p:nvPr/>
        </p:nvSpPr>
        <p:spPr>
          <a:xfrm>
            <a:off x="9744075" y="7639685"/>
            <a:ext cx="4714240" cy="1440180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400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“这个参数是</a:t>
            </a:r>
            <a:r>
              <a:rPr lang="en-US" sz="2400" u="sng" dirty="0">
                <a:solidFill>
                  <a:srgbClr val="C0392B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什么意思 </a:t>
            </a:r>
            <a:r>
              <a:rPr lang="en-US" sz="2400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？” </a:t>
            </a:r>
            <a:br>
              <a:rPr lang="en-US" sz="2400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</a:br>
            <a:r>
              <a:rPr lang="en-US" sz="2400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“为什么这个缺陷被判</a:t>
            </a:r>
            <a:r>
              <a:rPr lang="en-US" sz="2400" u="sng" dirty="0">
                <a:solidFill>
                  <a:srgbClr val="C0392B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严重 </a:t>
            </a:r>
            <a:r>
              <a:rPr lang="en-US" sz="2400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？” </a:t>
            </a:r>
            <a:br>
              <a:rPr lang="en-US" sz="2400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</a:br>
            <a:r>
              <a:rPr lang="en-US" sz="2400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“接下来</a:t>
            </a:r>
            <a:r>
              <a:rPr lang="en-US" sz="2400" u="sng" dirty="0">
                <a:solidFill>
                  <a:srgbClr val="C0392B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应该怎么办</a:t>
            </a:r>
            <a:r>
              <a:rPr lang="en-US" sz="2400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？”</a:t>
            </a:r>
            <a:endParaRPr lang="en-US" sz="2400" dirty="0">
              <a:solidFill>
                <a:srgbClr val="2C2C34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9448800" y="2576195"/>
            <a:ext cx="7620000" cy="1448435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C">
                <a:alpha val="1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44075" y="2714625"/>
            <a:ext cx="7240334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5151A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</a:rPr>
              <a:t>参数与流程理解成本高</a:t>
            </a:r>
            <a:endParaRPr lang="en-US" sz="2100" b="1" dirty="0">
              <a:solidFill>
                <a:srgbClr val="15151A"/>
              </a:solidFill>
              <a:latin typeface="宋体" panose="02010600030101010101" pitchFamily="2" charset="-122"/>
              <a:ea typeface="宋体" panose="02010600030101010101" pitchFamily="2" charset="-122"/>
              <a:cs typeface="PingFang SC" pitchFamily="34" charset="-12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9744075" y="3039745"/>
            <a:ext cx="7240334" cy="6858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algn="l">
              <a:lnSpc>
                <a:spcPct val="155000"/>
              </a:lnSpc>
              <a:buClrTx/>
              <a:buSzTx/>
              <a:buFontTx/>
              <a:buNone/>
            </a:pPr>
            <a:r>
              <a:rPr lang="en-US" sz="1650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扫描区域过大 → 检测时间显著拉长；分辨率不当 → 影响结果细节。新用户需依赖手册与熟练人员。</a:t>
            </a:r>
            <a:endParaRPr lang="en-US" sz="1650" dirty="0">
              <a:solidFill>
                <a:srgbClr val="2C2C34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9448800" y="4111625"/>
            <a:ext cx="7620000" cy="1450340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C">
                <a:alpha val="1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38665" y="4250055"/>
            <a:ext cx="7240334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5151A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</a:rPr>
              <a:t>结果字段不直观</a:t>
            </a:r>
            <a:endParaRPr lang="en-US" sz="2100" b="1" dirty="0">
              <a:solidFill>
                <a:srgbClr val="15151A"/>
              </a:solidFill>
              <a:latin typeface="宋体" panose="02010600030101010101" pitchFamily="2" charset="-122"/>
              <a:ea typeface="宋体" panose="02010600030101010101" pitchFamily="2" charset="-122"/>
              <a:cs typeface="PingFang SC" pitchFamily="34" charset="-12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9638665" y="4669155"/>
            <a:ext cx="7240334" cy="6858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algn="l">
              <a:lnSpc>
                <a:spcPct val="155000"/>
              </a:lnSpc>
              <a:buClrTx/>
              <a:buSzTx/>
              <a:buFontTx/>
              <a:buNone/>
            </a:pPr>
            <a:r>
              <a:rPr lang="en-US" sz="1650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原始结果含深度、长度、坐标、规则编号——程序友好，但操作人员难以快速判断“</a:t>
            </a:r>
            <a:r>
              <a:rPr lang="en-US" sz="1650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严不严重</a:t>
            </a:r>
            <a:r>
              <a:rPr lang="en-US" sz="1650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”。</a:t>
            </a:r>
            <a:endParaRPr lang="en-US" sz="1650" dirty="0">
              <a:solidFill>
                <a:srgbClr val="2C2C34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9448800" y="5648960"/>
            <a:ext cx="7620000" cy="1449705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C">
                <a:alpha val="1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38665" y="5787390"/>
            <a:ext cx="7240334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5151A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</a:rPr>
              <a:t>异常时帮助有限</a:t>
            </a:r>
            <a:endParaRPr lang="en-US" sz="2100" b="1" dirty="0">
              <a:solidFill>
                <a:srgbClr val="15151A"/>
              </a:solidFill>
              <a:latin typeface="宋体" panose="02010600030101010101" pitchFamily="2" charset="-122"/>
              <a:ea typeface="宋体" panose="02010600030101010101" pitchFamily="2" charset="-122"/>
              <a:cs typeface="PingFang SC" pitchFamily="34" charset="-12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9638665" y="6206490"/>
            <a:ext cx="7240334" cy="6858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650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用户想要的不是"再多一个页面"，而是在当前界面就能问、就能答的辅助层。</a:t>
            </a:r>
            <a:endParaRPr lang="en-US" sz="1650" dirty="0">
              <a:solidFill>
                <a:srgbClr val="2C2C34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9200" y="533400"/>
            <a:ext cx="533400" cy="342900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4075" y="5513705"/>
            <a:ext cx="5709920" cy="4283075"/>
          </a:xfrm>
          <a:prstGeom prst="rect">
            <a:avLst/>
          </a:prstGeom>
        </p:spPr>
      </p:pic>
      <p:sp>
        <p:nvSpPr>
          <p:cNvPr id="32" name="Shape 2"/>
          <p:cNvSpPr/>
          <p:nvPr/>
        </p:nvSpPr>
        <p:spPr>
          <a:xfrm>
            <a:off x="4859685" y="1085850"/>
            <a:ext cx="12209115" cy="9525"/>
          </a:xfrm>
          <a:prstGeom prst="rect">
            <a:avLst/>
          </a:prstGeom>
          <a:solidFill>
            <a:srgbClr val="14141C">
              <a:alpha val="10000"/>
            </a:srgbClr>
          </a:solidFill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4859685" y="1085850"/>
            <a:ext cx="12209115" cy="9525"/>
          </a:xfrm>
          <a:prstGeom prst="rect">
            <a:avLst/>
          </a:prstGeom>
          <a:solidFill>
            <a:srgbClr val="14141C">
              <a:alpha val="10000"/>
            </a:srgbClr>
          </a:solidFill>
        </p:spPr>
      </p:sp>
      <p:sp>
        <p:nvSpPr>
          <p:cNvPr id="5" name="Text 3"/>
          <p:cNvSpPr/>
          <p:nvPr/>
        </p:nvSpPr>
        <p:spPr>
          <a:xfrm>
            <a:off x="1219200" y="1419225"/>
            <a:ext cx="16325088" cy="14668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4800" b="1" kern="0" spc="-48" dirty="0">
                <a:solidFill>
                  <a:srgbClr val="15151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方法基础</a:t>
            </a:r>
            <a:r>
              <a:rPr lang="en-US" sz="4800" b="1" kern="0" spc="-48" dirty="0">
                <a:solidFill>
                  <a:srgbClr val="2B3A8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已经具备 </a:t>
            </a:r>
            <a:r>
              <a:rPr lang="en-US" sz="4800" b="1" kern="0" spc="-48" dirty="0">
                <a:solidFill>
                  <a:srgbClr val="15151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 工程化整合</a:t>
            </a:r>
            <a:r>
              <a:rPr lang="en-US" sz="4800" b="1" kern="0" spc="-48" dirty="0">
                <a:solidFill>
                  <a:srgbClr val="2B3A8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仍是空白</a:t>
            </a:r>
            <a:endParaRPr lang="en-US" sz="4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219200" y="3248025"/>
            <a:ext cx="15849600" cy="1714500"/>
          </a:xfrm>
          <a:prstGeom prst="rect">
            <a:avLst/>
          </a:prstGeom>
          <a:ln w="9525">
            <a:solidFill>
              <a:srgbClr val="14141C">
                <a:alpha val="2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28725" y="3257550"/>
            <a:ext cx="3957638" cy="169545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8" name="Shape 6"/>
          <p:cNvSpPr/>
          <p:nvPr/>
        </p:nvSpPr>
        <p:spPr>
          <a:xfrm>
            <a:off x="5176838" y="3257550"/>
            <a:ext cx="9525" cy="1695450"/>
          </a:xfrm>
          <a:prstGeom prst="rect">
            <a:avLst/>
          </a:prstGeom>
          <a:solidFill>
            <a:srgbClr val="14141C">
              <a:alpha val="10000"/>
            </a:srgbClr>
          </a:solidFill>
        </p:spPr>
      </p:sp>
      <p:sp>
        <p:nvSpPr>
          <p:cNvPr id="10" name="Text 8"/>
          <p:cNvSpPr/>
          <p:nvPr/>
        </p:nvSpPr>
        <p:spPr>
          <a:xfrm>
            <a:off x="1495425" y="3340735"/>
            <a:ext cx="3517154" cy="3238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15151A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</a:rPr>
              <a:t>语言能力基础</a:t>
            </a:r>
            <a:endParaRPr lang="en-US" sz="2400" b="1" dirty="0">
              <a:solidFill>
                <a:srgbClr val="15151A"/>
              </a:solidFill>
              <a:latin typeface="宋体" panose="02010600030101010101" pitchFamily="2" charset="-122"/>
              <a:ea typeface="宋体" panose="02010600030101010101" pitchFamily="2" charset="-122"/>
              <a:cs typeface="PingFang SC" pitchFamily="34" charset="-12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317625" y="3702685"/>
            <a:ext cx="3721100" cy="12223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rgbClr val="6B6B7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Transformer、BERT </a:t>
            </a:r>
            <a:r>
              <a:rPr lang="zh-CN" altLang="en-US" sz="2400" dirty="0">
                <a:solidFill>
                  <a:srgbClr val="6B6B7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应用于</a:t>
            </a:r>
            <a:r>
              <a:rPr lang="en-US" sz="2400" dirty="0">
                <a:solidFill>
                  <a:srgbClr val="6B6B7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自然语言理解与生成在工程</a:t>
            </a:r>
            <a:r>
              <a:rPr lang="zh-CN" altLang="en-US" sz="2400" dirty="0">
                <a:solidFill>
                  <a:srgbClr val="6B6B7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lang="zh-CN" altLang="en-US" sz="2400" dirty="0">
              <a:solidFill>
                <a:srgbClr val="6B6B7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186363" y="3257550"/>
            <a:ext cx="3957638" cy="169545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3" name="Shape 11"/>
          <p:cNvSpPr/>
          <p:nvPr/>
        </p:nvSpPr>
        <p:spPr>
          <a:xfrm>
            <a:off x="9134475" y="3257550"/>
            <a:ext cx="9525" cy="1695450"/>
          </a:xfrm>
          <a:prstGeom prst="rect">
            <a:avLst/>
          </a:prstGeom>
          <a:solidFill>
            <a:srgbClr val="14141C">
              <a:alpha val="10000"/>
            </a:srgbClr>
          </a:solidFill>
        </p:spPr>
      </p:sp>
      <p:sp>
        <p:nvSpPr>
          <p:cNvPr id="15" name="Text 13"/>
          <p:cNvSpPr/>
          <p:nvPr/>
        </p:nvSpPr>
        <p:spPr>
          <a:xfrm>
            <a:off x="5453063" y="3340735"/>
            <a:ext cx="3517154" cy="3238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15151A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</a:rPr>
              <a:t>检索增强</a:t>
            </a:r>
            <a:endParaRPr lang="en-US" sz="2400" b="1" dirty="0">
              <a:solidFill>
                <a:srgbClr val="15151A"/>
              </a:solidFill>
              <a:latin typeface="宋体" panose="02010600030101010101" pitchFamily="2" charset="-122"/>
              <a:ea typeface="宋体" panose="02010600030101010101" pitchFamily="2" charset="-122"/>
              <a:cs typeface="PingFang SC" pitchFamily="34" charset="-12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365115" y="3702685"/>
            <a:ext cx="3605530" cy="127063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rgbClr val="6B6B7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RAG、DPR 让回答可查、可更新、有依据。</a:t>
            </a:r>
            <a:endParaRPr lang="en-US" sz="2400" dirty="0">
              <a:solidFill>
                <a:srgbClr val="6B6B7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9144000" y="3257550"/>
            <a:ext cx="3957638" cy="169545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8" name="Shape 16"/>
          <p:cNvSpPr/>
          <p:nvPr/>
        </p:nvSpPr>
        <p:spPr>
          <a:xfrm>
            <a:off x="13092113" y="3257550"/>
            <a:ext cx="9525" cy="1695450"/>
          </a:xfrm>
          <a:prstGeom prst="rect">
            <a:avLst/>
          </a:prstGeom>
          <a:solidFill>
            <a:srgbClr val="14141C">
              <a:alpha val="10000"/>
            </a:srgbClr>
          </a:solidFill>
        </p:spPr>
      </p:sp>
      <p:sp>
        <p:nvSpPr>
          <p:cNvPr id="20" name="Text 18"/>
          <p:cNvSpPr/>
          <p:nvPr/>
        </p:nvSpPr>
        <p:spPr>
          <a:xfrm>
            <a:off x="9410700" y="3340735"/>
            <a:ext cx="3517154" cy="3238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15151A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</a:rPr>
              <a:t>任务型对话</a:t>
            </a:r>
            <a:endParaRPr lang="en-US" sz="2400" b="1" dirty="0">
              <a:solidFill>
                <a:srgbClr val="15151A"/>
              </a:solidFill>
              <a:latin typeface="宋体" panose="02010600030101010101" pitchFamily="2" charset="-122"/>
              <a:ea typeface="宋体" panose="02010600030101010101" pitchFamily="2" charset="-122"/>
              <a:cs typeface="PingFang SC" pitchFamily="34" charset="-12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9338310" y="3702685"/>
            <a:ext cx="3589655" cy="126301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rgbClr val="6B6B7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ReAct、任务型对话综述 强调“识别 + 行动”闭环。</a:t>
            </a:r>
            <a:endParaRPr lang="en-US" sz="2400" dirty="0">
              <a:solidFill>
                <a:srgbClr val="6B6B7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13101638" y="3257550"/>
            <a:ext cx="3957638" cy="169545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4" name="Text 22"/>
          <p:cNvSpPr/>
          <p:nvPr/>
        </p:nvSpPr>
        <p:spPr>
          <a:xfrm>
            <a:off x="13368338" y="3340735"/>
            <a:ext cx="3526965" cy="3238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15151A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</a:rPr>
              <a:t>工业数字助手</a:t>
            </a:r>
            <a:endParaRPr lang="en-US" sz="2400" b="1" dirty="0">
              <a:solidFill>
                <a:srgbClr val="15151A"/>
              </a:solidFill>
              <a:latin typeface="宋体" panose="02010600030101010101" pitchFamily="2" charset="-122"/>
              <a:ea typeface="宋体" panose="02010600030101010101" pitchFamily="2" charset="-122"/>
              <a:cs typeface="PingFang SC" pitchFamily="34" charset="-12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13275945" y="3702685"/>
            <a:ext cx="3691890" cy="111696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rgbClr val="6B6B7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助手价值在知识支持与流程协调。</a:t>
            </a:r>
            <a:endParaRPr lang="en-US" sz="2400" dirty="0">
              <a:solidFill>
                <a:srgbClr val="6B6B7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1219200" y="5991225"/>
            <a:ext cx="7696200" cy="2698115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7" name="Shape 25"/>
          <p:cNvSpPr/>
          <p:nvPr/>
        </p:nvSpPr>
        <p:spPr>
          <a:xfrm>
            <a:off x="1228725" y="8594725"/>
            <a:ext cx="7696200" cy="9525"/>
          </a:xfrm>
          <a:prstGeom prst="rect">
            <a:avLst/>
          </a:prstGeom>
          <a:solidFill>
            <a:srgbClr val="14141C">
              <a:alpha val="10000"/>
            </a:srgbClr>
          </a:solidFill>
        </p:spPr>
      </p:sp>
      <p:sp>
        <p:nvSpPr>
          <p:cNvPr id="28" name="Shape 26"/>
          <p:cNvSpPr/>
          <p:nvPr/>
        </p:nvSpPr>
        <p:spPr>
          <a:xfrm>
            <a:off x="1167765" y="5981065"/>
            <a:ext cx="7696200" cy="9525"/>
          </a:xfrm>
          <a:prstGeom prst="rect">
            <a:avLst/>
          </a:prstGeom>
          <a:solidFill>
            <a:srgbClr val="14141C">
              <a:alpha val="10000"/>
            </a:srgbClr>
          </a:solidFill>
        </p:spPr>
      </p:sp>
      <p:sp>
        <p:nvSpPr>
          <p:cNvPr id="29" name="Shape 27"/>
          <p:cNvSpPr/>
          <p:nvPr/>
        </p:nvSpPr>
        <p:spPr>
          <a:xfrm flipH="1">
            <a:off x="1167765" y="5991225"/>
            <a:ext cx="76200" cy="2697480"/>
          </a:xfrm>
          <a:prstGeom prst="rect">
            <a:avLst/>
          </a:prstGeom>
          <a:solidFill>
            <a:srgbClr val="2B3A8A"/>
          </a:solidFill>
        </p:spPr>
      </p:sp>
      <p:sp>
        <p:nvSpPr>
          <p:cNvPr id="30" name="Shape 28"/>
          <p:cNvSpPr/>
          <p:nvPr/>
        </p:nvSpPr>
        <p:spPr>
          <a:xfrm>
            <a:off x="8905875" y="5991225"/>
            <a:ext cx="9525" cy="2247900"/>
          </a:xfrm>
          <a:prstGeom prst="rect">
            <a:avLst/>
          </a:prstGeom>
          <a:solidFill>
            <a:srgbClr val="14141C">
              <a:alpha val="10000"/>
            </a:srgbClr>
          </a:solidFill>
        </p:spPr>
      </p:sp>
      <p:sp>
        <p:nvSpPr>
          <p:cNvPr id="31" name="Text 29"/>
          <p:cNvSpPr/>
          <p:nvPr/>
        </p:nvSpPr>
        <p:spPr>
          <a:xfrm>
            <a:off x="1600200" y="6305550"/>
            <a:ext cx="7171658" cy="2476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kern="0" spc="216" dirty="0">
                <a:solidFill>
                  <a:srgbClr val="2B3A8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· 研究空白</a:t>
            </a:r>
            <a:endParaRPr lang="en-US" sz="2400" kern="0" spc="216" dirty="0">
              <a:solidFill>
                <a:srgbClr val="2B3A8A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1600200" y="6640830"/>
            <a:ext cx="7171690" cy="18764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indent="609600" algn="l" fontAlgn="auto">
              <a:lnSpc>
                <a:spcPct val="160000"/>
              </a:lnSpc>
              <a:buNone/>
              <a:extLst>
                <a:ext uri="{35155182-B16C-46BC-9424-99874614C6A1}">
                  <wpsdc:indentchars xmlns:wpsdc="http://www.wps.cn/officeDocument/2017/drawingmlCustomData" val="200" checksum="4158780845"/>
                </a:ext>
              </a:extLst>
            </a:pPr>
            <a:r>
              <a:rPr lang="en-US" sz="2400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面向具</a:t>
            </a:r>
            <a:r>
              <a:rPr lang="en-US" sz="2400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体检测软件、同时覆盖 </a:t>
            </a:r>
            <a:r>
              <a:rPr lang="en-US" sz="2400" b="1" dirty="0">
                <a:solidFill>
                  <a:srgbClr val="C0392B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知识问答</a:t>
            </a:r>
            <a:r>
              <a:rPr lang="zh-CN" altLang="en-US" sz="2400" b="1" dirty="0">
                <a:solidFill>
                  <a:srgbClr val="C0392B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sz="2400" b="1" dirty="0">
                <a:solidFill>
                  <a:srgbClr val="C0392B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自然语言操作</a:t>
            </a:r>
            <a:r>
              <a:rPr lang="zh-CN" altLang="en-US" sz="2400" b="1" dirty="0">
                <a:solidFill>
                  <a:srgbClr val="C0392B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sz="2400" b="1" dirty="0">
                <a:solidFill>
                  <a:srgbClr val="C0392B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状态查询</a:t>
            </a:r>
            <a:r>
              <a:rPr lang="zh-CN" altLang="en-US" sz="2400" b="1" dirty="0">
                <a:solidFill>
                  <a:srgbClr val="C0392B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sz="2400" b="1" dirty="0">
                <a:solidFill>
                  <a:srgbClr val="C0392B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结果解释</a:t>
            </a:r>
            <a:r>
              <a:rPr lang="zh-CN" altLang="en-US" sz="2400" b="1" dirty="0">
                <a:solidFill>
                  <a:srgbClr val="C0392B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sz="2400" b="1" dirty="0">
                <a:solidFill>
                  <a:srgbClr val="C0392B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操作指导 </a:t>
            </a:r>
            <a:r>
              <a:rPr lang="en-US" sz="2400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的工程化原型，仍然较少。</a:t>
            </a:r>
            <a:endParaRPr lang="en-US" sz="2400" dirty="0">
              <a:solidFill>
                <a:srgbClr val="2C2C34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9215120" y="6078220"/>
            <a:ext cx="8148955" cy="261112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indent="609600" algn="l" fontAlgn="auto">
              <a:lnSpc>
                <a:spcPct val="165000"/>
              </a:lnSpc>
              <a:buNone/>
              <a:extLst>
                <a:ext uri="{35155182-B16C-46BC-9424-99874614C6A1}">
                  <wpsdc:indentchars xmlns:wpsdc="http://www.wps.cn/officeDocument/2017/drawingmlCustomData" val="200" checksum="4158780845"/>
                </a:ext>
              </a:extLst>
            </a:pPr>
            <a:r>
              <a:rPr lang="en-US" sz="2400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DAC-3D 场景同时具备</a:t>
            </a:r>
            <a:r>
              <a:rPr lang="en-US" sz="2400" b="1" dirty="0">
                <a:solidFill>
                  <a:srgbClr val="C0392B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专业文档</a:t>
            </a:r>
            <a:r>
              <a:rPr lang="en-US" sz="2400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sz="2400" b="1" dirty="0">
                <a:solidFill>
                  <a:srgbClr val="C0392B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结构化结果</a:t>
            </a:r>
            <a:r>
              <a:rPr lang="en-US" sz="2400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sz="2400" b="1" dirty="0">
                <a:solidFill>
                  <a:srgbClr val="C0392B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运行状态</a:t>
            </a:r>
            <a:r>
              <a:rPr lang="en-US" sz="2400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三类信息源，</a:t>
            </a:r>
            <a:r>
              <a:rPr lang="zh-CN" altLang="en-US" sz="2400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在</a:t>
            </a:r>
            <a:r>
              <a:rPr lang="en-US" sz="2400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主系统</a:t>
            </a:r>
            <a:r>
              <a:rPr lang="zh-CN" altLang="en-US" sz="2400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上布局知识库</a:t>
            </a:r>
            <a:r>
              <a:rPr lang="en-US" sz="2400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助手——这要求助手既有知识约束，也能处理结构化任务，还有软件可</a:t>
            </a:r>
            <a:r>
              <a:rPr lang="en-US" sz="2400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集成性。</a:t>
            </a:r>
            <a:endParaRPr lang="en-US" sz="2400" dirty="0">
              <a:solidFill>
                <a:srgbClr val="2C2C34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Text 0"/>
          <p:cNvSpPr/>
          <p:nvPr/>
        </p:nvSpPr>
        <p:spPr>
          <a:xfrm>
            <a:off x="1220470" y="837565"/>
            <a:ext cx="506730" cy="4508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p>
            <a:pPr marL="0" indent="0" algn="l">
              <a:buNone/>
            </a:pPr>
            <a:r>
              <a:rPr lang="en-US" sz="3200" kern="0" spc="162" dirty="0">
                <a:solidFill>
                  <a:srgbClr val="2B3A8A"/>
                </a:solidFill>
                <a:latin typeface="宋体" panose="02010600030101010101" pitchFamily="2" charset="-122"/>
                <a:ea typeface="宋体" panose="02010600030101010101" pitchFamily="2" charset="-122"/>
                <a:cs typeface="JetBrains Mono" pitchFamily="34" charset="-120"/>
              </a:rPr>
              <a:t>01</a:t>
            </a:r>
            <a:endParaRPr lang="en-US" sz="3200" kern="0" spc="162" dirty="0">
              <a:solidFill>
                <a:srgbClr val="2B3A8A"/>
              </a:solidFill>
              <a:latin typeface="宋体" panose="02010600030101010101" pitchFamily="2" charset="-122"/>
              <a:ea typeface="宋体" panose="02010600030101010101" pitchFamily="2" charset="-122"/>
              <a:cs typeface="JetBrains Mono" pitchFamily="34" charset="-120"/>
            </a:endParaRPr>
          </a:p>
        </p:txBody>
      </p:sp>
      <p:sp>
        <p:nvSpPr>
          <p:cNvPr id="35" name="Text 1"/>
          <p:cNvSpPr/>
          <p:nvPr/>
        </p:nvSpPr>
        <p:spPr>
          <a:xfrm>
            <a:off x="1669415" y="841375"/>
            <a:ext cx="3517265" cy="4978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p>
            <a:pPr marL="0" indent="0" algn="l">
              <a:buNone/>
            </a:pPr>
            <a:r>
              <a:rPr lang="en-US" sz="3200" b="1" dirty="0">
                <a:solidFill>
                  <a:srgbClr val="15151A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  <a:sym typeface="+mn-ea"/>
              </a:rPr>
              <a:t> 研究背景与意义</a:t>
            </a:r>
            <a:endParaRPr lang="en-US" sz="3200" b="1" dirty="0">
              <a:solidFill>
                <a:srgbClr val="15151A"/>
              </a:solidFill>
              <a:latin typeface="宋体" panose="02010600030101010101" pitchFamily="2" charset="-122"/>
              <a:ea typeface="宋体" panose="02010600030101010101" pitchFamily="2" charset="-122"/>
              <a:cs typeface="PingFang SC" pitchFamily="34" charset="-12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1219200" y="1590675"/>
            <a:ext cx="16325088" cy="14668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4800" b="1" kern="0" spc="-48" dirty="0">
                <a:solidFill>
                  <a:srgbClr val="15151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不是</a:t>
            </a:r>
            <a:r>
              <a:rPr lang="en-US" sz="4800" b="1" kern="0" spc="-48" dirty="0">
                <a:solidFill>
                  <a:srgbClr val="2B3A8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通用聊天机器人</a:t>
            </a:r>
            <a:r>
              <a:rPr lang="en-US" sz="4800" b="1" kern="0" spc="-48" dirty="0">
                <a:solidFill>
                  <a:srgbClr val="15151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，而是</a:t>
            </a:r>
            <a:r>
              <a:rPr lang="en-US" sz="4800" b="1" kern="0" spc="-48" dirty="0">
                <a:solidFill>
                  <a:srgbClr val="2B3A8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Agent化受约束</a:t>
            </a:r>
            <a:r>
              <a:rPr lang="en-US" sz="4800" b="1" kern="0" spc="-48" dirty="0">
                <a:solidFill>
                  <a:srgbClr val="15151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的任务型助手</a:t>
            </a:r>
            <a:endParaRPr lang="en-US" sz="4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19200" y="3057525"/>
            <a:ext cx="13735050" cy="63944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400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接受三重约束——</a:t>
            </a:r>
            <a:r>
              <a:rPr lang="en-US" sz="2400" b="1" dirty="0">
                <a:solidFill>
                  <a:srgbClr val="C0392B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知识来源</a:t>
            </a:r>
            <a:r>
              <a:rPr lang="en-US" sz="2400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sz="2400" b="1" dirty="0">
                <a:solidFill>
                  <a:srgbClr val="C0392B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结构化规则</a:t>
            </a:r>
            <a:r>
              <a:rPr lang="en-US" sz="2400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sz="2400" b="1" dirty="0">
                <a:solidFill>
                  <a:srgbClr val="C0392B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检测业务流程</a:t>
            </a:r>
            <a:r>
              <a:rPr lang="en-US" sz="2400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——服务以下五类任务。</a:t>
            </a:r>
            <a:endParaRPr lang="en-US" sz="2400" dirty="0">
              <a:solidFill>
                <a:srgbClr val="2C2C34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grpSp>
        <p:nvGrpSpPr>
          <p:cNvPr id="29" name="组合 28"/>
          <p:cNvGrpSpPr/>
          <p:nvPr/>
        </p:nvGrpSpPr>
        <p:grpSpPr>
          <a:xfrm>
            <a:off x="394335" y="4540250"/>
            <a:ext cx="17499165" cy="2208530"/>
            <a:chOff x="1920" y="6150"/>
            <a:chExt cx="24960" cy="3150"/>
          </a:xfrm>
        </p:grpSpPr>
        <p:sp>
          <p:nvSpPr>
            <p:cNvPr id="7" name="Shape 5"/>
            <p:cNvSpPr/>
            <p:nvPr/>
          </p:nvSpPr>
          <p:spPr>
            <a:xfrm>
              <a:off x="1920" y="6150"/>
              <a:ext cx="4776" cy="31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14141C">
                  <a:alpha val="10000"/>
                </a:srgbClr>
              </a:solidFill>
              <a:prstDash val="solid"/>
            </a:ln>
          </p:spPr>
        </p:sp>
        <p:sp>
          <p:nvSpPr>
            <p:cNvPr id="9" name="Text 7"/>
            <p:cNvSpPr/>
            <p:nvPr/>
          </p:nvSpPr>
          <p:spPr>
            <a:xfrm>
              <a:off x="2395" y="6350"/>
              <a:ext cx="3966" cy="660"/>
            </a:xfrm>
            <a:prstGeom prst="rect">
              <a:avLst/>
            </a:prstGeom>
            <a:noFill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2400" b="1" dirty="0">
                  <a:solidFill>
                    <a:srgbClr val="15151A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PingFang SC" pitchFamily="34" charset="-120"/>
                </a:rPr>
                <a:t>参数问答</a:t>
              </a:r>
              <a:endParaRPr lang="en-US" sz="2400" b="1" dirty="0">
                <a:solidFill>
                  <a:srgbClr val="15151A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</a:endParaRPr>
            </a:p>
          </p:txBody>
        </p:sp>
        <p:sp>
          <p:nvSpPr>
            <p:cNvPr id="10" name="Text 8"/>
            <p:cNvSpPr/>
            <p:nvPr/>
          </p:nvSpPr>
          <p:spPr>
            <a:xfrm>
              <a:off x="2385" y="7066"/>
              <a:ext cx="3966" cy="1858"/>
            </a:xfrm>
            <a:prstGeom prst="rect">
              <a:avLst/>
            </a:prstGeom>
            <a:noFill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lnSpc>
                  <a:spcPct val="155000"/>
                </a:lnSpc>
                <a:buNone/>
              </a:pPr>
              <a:r>
                <a:rPr lang="en-US" dirty="0">
                  <a:solidFill>
                    <a:srgbClr val="2C2C34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· </a:t>
              </a:r>
              <a:r>
                <a:rPr lang="en-US" dirty="0">
                  <a:solidFill>
                    <a:srgbClr val="2C2C34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参数含义 </a:t>
              </a:r>
              <a:endParaRPr lang="en-US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  <a:p>
              <a:pPr marL="0" indent="0" algn="l">
                <a:lnSpc>
                  <a:spcPct val="155000"/>
                </a:lnSpc>
                <a:buNone/>
              </a:pPr>
              <a:r>
                <a:rPr lang="en-US" dirty="0">
                  <a:solidFill>
                    <a:srgbClr val="2C2C34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· 流程说明 </a:t>
              </a:r>
              <a:endParaRPr lang="en-US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  <a:p>
              <a:pPr marL="0" indent="0" algn="l">
                <a:lnSpc>
                  <a:spcPct val="155000"/>
                </a:lnSpc>
                <a:buNone/>
              </a:pPr>
              <a:r>
                <a:rPr lang="en-US" dirty="0">
                  <a:solidFill>
                    <a:srgbClr val="2C2C34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· 故障与手册理解</a:t>
              </a:r>
              <a:endParaRPr lang="en-US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1" name="Shape 9"/>
            <p:cNvSpPr/>
            <p:nvPr/>
          </p:nvSpPr>
          <p:spPr>
            <a:xfrm>
              <a:off x="6966" y="6150"/>
              <a:ext cx="4776" cy="31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14141C">
                  <a:alpha val="10000"/>
                </a:srgbClr>
              </a:solidFill>
              <a:prstDash val="solid"/>
            </a:ln>
          </p:spPr>
        </p:sp>
        <p:sp>
          <p:nvSpPr>
            <p:cNvPr id="13" name="Text 11"/>
            <p:cNvSpPr/>
            <p:nvPr/>
          </p:nvSpPr>
          <p:spPr>
            <a:xfrm>
              <a:off x="7431" y="6350"/>
              <a:ext cx="3966" cy="660"/>
            </a:xfrm>
            <a:prstGeom prst="rect">
              <a:avLst/>
            </a:prstGeom>
            <a:noFill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algn="l">
                <a:buClrTx/>
                <a:buSzTx/>
                <a:buFontTx/>
                <a:buNone/>
              </a:pPr>
              <a:r>
                <a:rPr lang="en-US" sz="2400" b="1" dirty="0">
                  <a:solidFill>
                    <a:srgbClr val="15151A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PingFang SC" pitchFamily="34" charset="-120"/>
                </a:rPr>
                <a:t>操作预览</a:t>
              </a:r>
              <a:endParaRPr lang="en-US" sz="2400" b="1" dirty="0">
                <a:solidFill>
                  <a:srgbClr val="15151A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</a:endParaRPr>
            </a:p>
          </p:txBody>
        </p:sp>
        <p:sp>
          <p:nvSpPr>
            <p:cNvPr id="14" name="Text 12"/>
            <p:cNvSpPr/>
            <p:nvPr/>
          </p:nvSpPr>
          <p:spPr>
            <a:xfrm>
              <a:off x="7430" y="7067"/>
              <a:ext cx="3966" cy="1857"/>
            </a:xfrm>
            <a:prstGeom prst="rect">
              <a:avLst/>
            </a:prstGeom>
            <a:noFill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algn="l">
                <a:lnSpc>
                  <a:spcPct val="155000"/>
                </a:lnSpc>
                <a:buClrTx/>
                <a:buSzTx/>
                <a:buFontTx/>
                <a:buNone/>
              </a:pPr>
              <a:r>
                <a:rPr lang="en-US" sz="1800" dirty="0">
                  <a:solidFill>
                    <a:srgbClr val="2C2C34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自然语言 → 结构化扫描命令 + 缺失项提示</a:t>
              </a:r>
              <a:endParaRPr lang="en-US" sz="1800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5" name="Shape 13"/>
            <p:cNvSpPr/>
            <p:nvPr/>
          </p:nvSpPr>
          <p:spPr>
            <a:xfrm>
              <a:off x="12012" y="6150"/>
              <a:ext cx="4776" cy="31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14141C">
                  <a:alpha val="10000"/>
                </a:srgbClr>
              </a:solidFill>
              <a:prstDash val="solid"/>
            </a:ln>
          </p:spPr>
        </p:sp>
        <p:sp>
          <p:nvSpPr>
            <p:cNvPr id="17" name="Text 15"/>
            <p:cNvSpPr/>
            <p:nvPr/>
          </p:nvSpPr>
          <p:spPr>
            <a:xfrm>
              <a:off x="12417" y="6350"/>
              <a:ext cx="3966" cy="660"/>
            </a:xfrm>
            <a:prstGeom prst="rect">
              <a:avLst/>
            </a:prstGeom>
            <a:noFill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algn="l">
                <a:buClrTx/>
                <a:buSzTx/>
                <a:buFontTx/>
                <a:buNone/>
              </a:pPr>
              <a:r>
                <a:rPr lang="en-US" sz="2400" b="1" dirty="0">
                  <a:solidFill>
                    <a:srgbClr val="15151A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PingFang SC" pitchFamily="34" charset="-120"/>
                </a:rPr>
                <a:t>结果解读</a:t>
              </a:r>
              <a:endParaRPr lang="en-US" sz="2400" b="1" dirty="0">
                <a:solidFill>
                  <a:srgbClr val="15151A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</a:endParaRPr>
            </a:p>
          </p:txBody>
        </p:sp>
        <p:sp>
          <p:nvSpPr>
            <p:cNvPr id="18" name="Text 16"/>
            <p:cNvSpPr/>
            <p:nvPr/>
          </p:nvSpPr>
          <p:spPr>
            <a:xfrm>
              <a:off x="12477" y="7067"/>
              <a:ext cx="3966" cy="1858"/>
            </a:xfrm>
            <a:prstGeom prst="rect">
              <a:avLst/>
            </a:prstGeom>
            <a:noFill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algn="l">
                <a:lnSpc>
                  <a:spcPct val="155000"/>
                </a:lnSpc>
                <a:buClrTx/>
                <a:buSzTx/>
                <a:buFontTx/>
                <a:buNone/>
              </a:pPr>
              <a:r>
                <a:rPr lang="en-US" dirty="0">
                  <a:solidFill>
                    <a:srgbClr val="2C2C34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· </a:t>
              </a:r>
              <a:r>
                <a:rPr lang="en-US" sz="1800" dirty="0">
                  <a:solidFill>
                    <a:srgbClr val="2C2C34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严重度判定 </a:t>
              </a:r>
              <a:endParaRPr lang="en-US" sz="1800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  <a:p>
              <a:pPr marL="0" algn="l">
                <a:lnSpc>
                  <a:spcPct val="155000"/>
                </a:lnSpc>
                <a:buClrTx/>
                <a:buSzTx/>
                <a:buFontTx/>
                <a:buNone/>
              </a:pPr>
              <a:r>
                <a:rPr lang="en-US" sz="1800" dirty="0">
                  <a:solidFill>
                    <a:srgbClr val="2C2C34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· 依据展示 </a:t>
              </a:r>
              <a:endParaRPr lang="en-US" sz="1800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  <a:p>
              <a:pPr marL="0" algn="l">
                <a:lnSpc>
                  <a:spcPct val="155000"/>
                </a:lnSpc>
                <a:buClrTx/>
                <a:buSzTx/>
                <a:buFontTx/>
                <a:buNone/>
              </a:pPr>
              <a:r>
                <a:rPr lang="en-US" sz="1800" dirty="0">
                  <a:solidFill>
                    <a:srgbClr val="2C2C34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· 后续建议</a:t>
              </a:r>
              <a:endParaRPr lang="en-US" sz="1800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9" name="Shape 17"/>
            <p:cNvSpPr/>
            <p:nvPr/>
          </p:nvSpPr>
          <p:spPr>
            <a:xfrm>
              <a:off x="17058" y="6150"/>
              <a:ext cx="4776" cy="31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14141C">
                  <a:alpha val="10000"/>
                </a:srgbClr>
              </a:solidFill>
              <a:prstDash val="solid"/>
            </a:ln>
          </p:spPr>
        </p:sp>
        <p:sp>
          <p:nvSpPr>
            <p:cNvPr id="21" name="Text 19"/>
            <p:cNvSpPr/>
            <p:nvPr/>
          </p:nvSpPr>
          <p:spPr>
            <a:xfrm>
              <a:off x="17523" y="6350"/>
              <a:ext cx="3966" cy="660"/>
            </a:xfrm>
            <a:prstGeom prst="rect">
              <a:avLst/>
            </a:prstGeom>
            <a:noFill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algn="l">
                <a:buClrTx/>
                <a:buSzTx/>
                <a:buFontTx/>
                <a:buNone/>
              </a:pPr>
              <a:r>
                <a:rPr lang="en-US" sz="2400" b="1" dirty="0">
                  <a:solidFill>
                    <a:srgbClr val="15151A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PingFang SC" pitchFamily="34" charset="-120"/>
                </a:rPr>
                <a:t>状态查询</a:t>
              </a:r>
              <a:endParaRPr lang="en-US" sz="2400" b="1" dirty="0">
                <a:solidFill>
                  <a:srgbClr val="15151A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</a:endParaRPr>
            </a:p>
          </p:txBody>
        </p:sp>
        <p:sp>
          <p:nvSpPr>
            <p:cNvPr id="22" name="Text 20"/>
            <p:cNvSpPr/>
            <p:nvPr/>
          </p:nvSpPr>
          <p:spPr>
            <a:xfrm>
              <a:off x="17523" y="7067"/>
              <a:ext cx="3966" cy="1858"/>
            </a:xfrm>
            <a:prstGeom prst="rect">
              <a:avLst/>
            </a:prstGeom>
            <a:noFill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algn="l">
                <a:lnSpc>
                  <a:spcPct val="155000"/>
                </a:lnSpc>
                <a:buClrTx/>
                <a:buSzTx/>
                <a:buFontTx/>
                <a:buNone/>
              </a:pPr>
              <a:r>
                <a:rPr lang="en-US" dirty="0">
                  <a:solidFill>
                    <a:srgbClr val="2C2C34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· </a:t>
              </a:r>
              <a:r>
                <a:rPr lang="en-US" sz="1800" dirty="0">
                  <a:solidFill>
                    <a:srgbClr val="2C2C34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运行时摘要 </a:t>
              </a:r>
              <a:endParaRPr lang="en-US" sz="1800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  <a:p>
              <a:pPr marL="0" algn="l">
                <a:lnSpc>
                  <a:spcPct val="155000"/>
                </a:lnSpc>
                <a:buClrTx/>
                <a:buSzTx/>
                <a:buFontTx/>
                <a:buNone/>
              </a:pPr>
              <a:r>
                <a:rPr lang="en-US" sz="1800" dirty="0">
                  <a:solidFill>
                    <a:srgbClr val="2C2C34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· 最近结果 </a:t>
              </a:r>
              <a:endParaRPr lang="en-US" sz="1800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  <a:p>
              <a:pPr marL="0" algn="l">
                <a:lnSpc>
                  <a:spcPct val="155000"/>
                </a:lnSpc>
                <a:buClrTx/>
                <a:buSzTx/>
                <a:buFontTx/>
                <a:buNone/>
              </a:pPr>
              <a:r>
                <a:rPr lang="en-US" sz="1800" dirty="0">
                  <a:solidFill>
                    <a:srgbClr val="2C2C34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· 当前阶段</a:t>
              </a:r>
              <a:endParaRPr lang="en-US" sz="1800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23" name="Shape 21"/>
            <p:cNvSpPr/>
            <p:nvPr/>
          </p:nvSpPr>
          <p:spPr>
            <a:xfrm>
              <a:off x="22104" y="6150"/>
              <a:ext cx="4776" cy="31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14141C">
                  <a:alpha val="10000"/>
                </a:srgbClr>
              </a:solidFill>
              <a:prstDash val="solid"/>
            </a:ln>
          </p:spPr>
        </p:sp>
        <p:sp>
          <p:nvSpPr>
            <p:cNvPr id="25" name="Text 23"/>
            <p:cNvSpPr/>
            <p:nvPr/>
          </p:nvSpPr>
          <p:spPr>
            <a:xfrm>
              <a:off x="22569" y="6350"/>
              <a:ext cx="3966" cy="660"/>
            </a:xfrm>
            <a:prstGeom prst="rect">
              <a:avLst/>
            </a:prstGeom>
            <a:noFill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2400" b="1" dirty="0">
                  <a:solidFill>
                    <a:srgbClr val="15151A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PingFang SC" pitchFamily="34" charset="-120"/>
                </a:rPr>
                <a:t>运维管理</a:t>
              </a:r>
              <a:endParaRPr lang="en-US" sz="2100" b="1" dirty="0">
                <a:solidFill>
                  <a:srgbClr val="15151A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</a:endParaRPr>
            </a:p>
          </p:txBody>
        </p:sp>
        <p:sp>
          <p:nvSpPr>
            <p:cNvPr id="26" name="Text 24"/>
            <p:cNvSpPr/>
            <p:nvPr/>
          </p:nvSpPr>
          <p:spPr>
            <a:xfrm>
              <a:off x="22569" y="7067"/>
              <a:ext cx="3966" cy="1858"/>
            </a:xfrm>
            <a:prstGeom prst="rect">
              <a:avLst/>
            </a:prstGeom>
            <a:noFill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algn="l">
                <a:lnSpc>
                  <a:spcPct val="155000"/>
                </a:lnSpc>
                <a:buClrTx/>
                <a:buSzTx/>
                <a:buFontTx/>
                <a:buNone/>
              </a:pPr>
              <a:r>
                <a:rPr lang="en-US" dirty="0">
                  <a:solidFill>
                    <a:srgbClr val="2C2C34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· </a:t>
              </a:r>
              <a:r>
                <a:rPr lang="en-US" sz="1800" dirty="0">
                  <a:solidFill>
                    <a:srgbClr val="2C2C34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文档上传 </a:t>
              </a:r>
              <a:endParaRPr lang="en-US" sz="1800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  <a:p>
              <a:pPr marL="0" algn="l">
                <a:lnSpc>
                  <a:spcPct val="155000"/>
                </a:lnSpc>
                <a:buClrTx/>
                <a:buSzTx/>
                <a:buFontTx/>
                <a:buNone/>
              </a:pPr>
              <a:r>
                <a:rPr lang="en-US" sz="1800" dirty="0">
                  <a:solidFill>
                    <a:srgbClr val="2C2C34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· 知识库重建 </a:t>
              </a:r>
              <a:endParaRPr lang="en-US" sz="1800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  <a:p>
              <a:pPr marL="0" algn="l">
                <a:lnSpc>
                  <a:spcPct val="155000"/>
                </a:lnSpc>
                <a:buClrTx/>
                <a:buSzTx/>
                <a:buFontTx/>
                <a:buNone/>
              </a:pPr>
              <a:r>
                <a:rPr lang="en-US" sz="1800" dirty="0">
                  <a:solidFill>
                    <a:srgbClr val="2C2C34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· 摘要追踪</a:t>
              </a:r>
              <a:endParaRPr lang="en-US" sz="1800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</p:grpSp>
      <p:sp>
        <p:nvSpPr>
          <p:cNvPr id="34" name="Text 0"/>
          <p:cNvSpPr/>
          <p:nvPr/>
        </p:nvSpPr>
        <p:spPr>
          <a:xfrm>
            <a:off x="1220470" y="837565"/>
            <a:ext cx="506730" cy="4508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p>
            <a:pPr marL="0" indent="0" algn="l">
              <a:buNone/>
            </a:pPr>
            <a:r>
              <a:rPr lang="en-US" sz="3200" kern="0" spc="162" dirty="0">
                <a:solidFill>
                  <a:srgbClr val="2B3A8A"/>
                </a:solidFill>
                <a:latin typeface="宋体" panose="02010600030101010101" pitchFamily="2" charset="-122"/>
                <a:ea typeface="宋体" panose="02010600030101010101" pitchFamily="2" charset="-122"/>
                <a:cs typeface="JetBrains Mono" pitchFamily="34" charset="-120"/>
              </a:rPr>
              <a:t>02</a:t>
            </a:r>
            <a:endParaRPr lang="en-US" sz="3200" kern="0" spc="162" dirty="0">
              <a:solidFill>
                <a:srgbClr val="2B3A8A"/>
              </a:solidFill>
              <a:latin typeface="宋体" panose="02010600030101010101" pitchFamily="2" charset="-122"/>
              <a:ea typeface="宋体" panose="02010600030101010101" pitchFamily="2" charset="-122"/>
              <a:cs typeface="JetBrains Mono" pitchFamily="34" charset="-120"/>
            </a:endParaRPr>
          </a:p>
        </p:txBody>
      </p:sp>
      <p:sp>
        <p:nvSpPr>
          <p:cNvPr id="35" name="Text 1"/>
          <p:cNvSpPr/>
          <p:nvPr/>
        </p:nvSpPr>
        <p:spPr>
          <a:xfrm>
            <a:off x="1669415" y="841375"/>
            <a:ext cx="3517265" cy="4978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p>
            <a:pPr marL="0" indent="0" algn="l">
              <a:buNone/>
            </a:pPr>
            <a:r>
              <a:rPr lang="en-US" sz="3200" b="1" dirty="0">
                <a:solidFill>
                  <a:srgbClr val="1515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  <a:sym typeface="+mn-ea"/>
              </a:rPr>
              <a:t> 需求分析与目标</a:t>
            </a:r>
            <a:endParaRPr lang="en-US" sz="3200" b="1" dirty="0">
              <a:solidFill>
                <a:srgbClr val="15151A"/>
              </a:solidFill>
              <a:latin typeface="宋体" panose="02010600030101010101" pitchFamily="2" charset="-122"/>
              <a:ea typeface="宋体" panose="02010600030101010101" pitchFamily="2" charset="-122"/>
              <a:cs typeface="PingFang SC" pitchFamily="34" charset="-120"/>
              <a:sym typeface="+mn-ea"/>
            </a:endParaRPr>
          </a:p>
        </p:txBody>
      </p:sp>
      <p:sp>
        <p:nvSpPr>
          <p:cNvPr id="30" name="Shape 2"/>
          <p:cNvSpPr/>
          <p:nvPr/>
        </p:nvSpPr>
        <p:spPr>
          <a:xfrm>
            <a:off x="4859685" y="1085850"/>
            <a:ext cx="12209115" cy="9525"/>
          </a:xfrm>
          <a:prstGeom prst="rect">
            <a:avLst/>
          </a:prstGeom>
          <a:solidFill>
            <a:srgbClr val="14141C">
              <a:alpha val="10000"/>
            </a:srgbClr>
          </a:solidFill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1219200" y="1527175"/>
            <a:ext cx="16325088" cy="7524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90000" lnSpcReduction="20000"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4800" b="1" kern="0" spc="-48" dirty="0">
                <a:solidFill>
                  <a:srgbClr val="15151A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</a:rPr>
              <a:t>需求</a:t>
            </a:r>
            <a:r>
              <a:rPr lang="en-US" sz="4800" b="1" kern="0" spc="-48" dirty="0">
                <a:solidFill>
                  <a:srgbClr val="2B3A8A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</a:rPr>
              <a:t>分类与映射</a:t>
            </a:r>
            <a:endParaRPr lang="en-US" sz="48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19200" y="2343150"/>
            <a:ext cx="13735050" cy="5048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90000" lnSpcReduction="2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400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每一类任务对应明确的输入、目标输出与系统模块。</a:t>
            </a:r>
            <a:r>
              <a:rPr lang="zh-CN" altLang="en-US" sz="2400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下</a:t>
            </a:r>
            <a:r>
              <a:rPr lang="en-US" sz="2400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表</a:t>
            </a:r>
            <a:r>
              <a:rPr lang="zh-CN" altLang="en-US" sz="2400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所示</a:t>
            </a:r>
            <a:r>
              <a:rPr lang="en-US" sz="2400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是后续设计与测试的依据。</a:t>
            </a:r>
            <a:endParaRPr lang="en-US" sz="2400" dirty="0">
              <a:solidFill>
                <a:srgbClr val="2C2C34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219200" y="3724275"/>
            <a:ext cx="2852886" cy="19050"/>
          </a:xfrm>
          <a:prstGeom prst="rect">
            <a:avLst/>
          </a:prstGeom>
          <a:solidFill>
            <a:srgbClr val="15151A"/>
          </a:solidFill>
        </p:spPr>
      </p:sp>
      <p:sp>
        <p:nvSpPr>
          <p:cNvPr id="8" name="Text 6"/>
          <p:cNvSpPr/>
          <p:nvPr/>
        </p:nvSpPr>
        <p:spPr>
          <a:xfrm>
            <a:off x="1409700" y="3324225"/>
            <a:ext cx="2557780" cy="35687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zh-CN" altLang="en-US" sz="2400" b="1" kern="0" spc="54" dirty="0">
                <a:solidFill>
                  <a:srgbClr val="15151A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</a:rPr>
              <a:t>功能需求</a:t>
            </a:r>
            <a:endParaRPr lang="en-US" sz="2400" b="1" kern="0" spc="54" dirty="0">
              <a:solidFill>
                <a:srgbClr val="15151A"/>
              </a:solidFill>
              <a:latin typeface="宋体" panose="02010600030101010101" pitchFamily="2" charset="-122"/>
              <a:ea typeface="宋体" panose="02010600030101010101" pitchFamily="2" charset="-122"/>
              <a:cs typeface="PingFang SC" pitchFamily="34" charset="-12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072086" y="3724275"/>
            <a:ext cx="4754910" cy="19050"/>
          </a:xfrm>
          <a:prstGeom prst="rect">
            <a:avLst/>
          </a:prstGeom>
          <a:solidFill>
            <a:srgbClr val="15151A"/>
          </a:solidFill>
        </p:spPr>
      </p:sp>
      <p:sp>
        <p:nvSpPr>
          <p:cNvPr id="10" name="Text 8"/>
          <p:cNvSpPr/>
          <p:nvPr/>
        </p:nvSpPr>
        <p:spPr>
          <a:xfrm>
            <a:off x="4693920" y="3324225"/>
            <a:ext cx="1418590" cy="2667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b="1" kern="0" spc="54" dirty="0">
                <a:solidFill>
                  <a:srgbClr val="15151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输入形式</a:t>
            </a:r>
            <a:endParaRPr lang="en-US" sz="2400" b="1" kern="0" spc="54" dirty="0">
              <a:solidFill>
                <a:srgbClr val="15151A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8826996" y="3724275"/>
            <a:ext cx="4437757" cy="19050"/>
          </a:xfrm>
          <a:prstGeom prst="rect">
            <a:avLst/>
          </a:prstGeom>
          <a:solidFill>
            <a:srgbClr val="15151A"/>
          </a:solidFill>
        </p:spPr>
      </p:sp>
      <p:sp>
        <p:nvSpPr>
          <p:cNvPr id="12" name="Text 10"/>
          <p:cNvSpPr/>
          <p:nvPr/>
        </p:nvSpPr>
        <p:spPr>
          <a:xfrm>
            <a:off x="8413115" y="3324225"/>
            <a:ext cx="1461135" cy="35687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b="1" kern="0" spc="51" dirty="0">
                <a:solidFill>
                  <a:srgbClr val="1515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  <a:sym typeface="+mn-ea"/>
              </a:rPr>
              <a:t>输出结果</a:t>
            </a:r>
            <a:endParaRPr lang="en-US" sz="2400" b="1" kern="0" spc="54" dirty="0">
              <a:solidFill>
                <a:srgbClr val="15151A"/>
              </a:solidFill>
              <a:latin typeface="宋体" panose="02010600030101010101" pitchFamily="2" charset="-122"/>
              <a:ea typeface="宋体" panose="02010600030101010101" pitchFamily="2" charset="-122"/>
              <a:cs typeface="PingFang SC" pitchFamily="34" charset="-12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13264753" y="3724275"/>
            <a:ext cx="3804047" cy="19050"/>
          </a:xfrm>
          <a:prstGeom prst="rect">
            <a:avLst/>
          </a:prstGeom>
          <a:solidFill>
            <a:srgbClr val="15151A"/>
          </a:solidFill>
        </p:spPr>
      </p:sp>
      <p:sp>
        <p:nvSpPr>
          <p:cNvPr id="14" name="Text 12"/>
          <p:cNvSpPr/>
          <p:nvPr/>
        </p:nvSpPr>
        <p:spPr>
          <a:xfrm>
            <a:off x="13455253" y="3324225"/>
            <a:ext cx="3537168" cy="2667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b="1" kern="0" spc="51" dirty="0">
                <a:solidFill>
                  <a:srgbClr val="1515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  <a:sym typeface="+mn-ea"/>
              </a:rPr>
              <a:t>约束说明</a:t>
            </a:r>
            <a:endParaRPr lang="en-US" sz="2400" b="1" kern="0" spc="54" dirty="0">
              <a:solidFill>
                <a:srgbClr val="15151A"/>
              </a:solidFill>
              <a:latin typeface="宋体" panose="02010600030101010101" pitchFamily="2" charset="-122"/>
              <a:ea typeface="宋体" panose="02010600030101010101" pitchFamily="2" charset="-122"/>
              <a:cs typeface="PingFang SC" pitchFamily="34" charset="-12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1219200" y="4900613"/>
            <a:ext cx="2852886" cy="9525"/>
          </a:xfrm>
          <a:prstGeom prst="rect">
            <a:avLst/>
          </a:prstGeom>
          <a:solidFill>
            <a:srgbClr val="14141C">
              <a:alpha val="10000"/>
            </a:srgbClr>
          </a:solidFill>
        </p:spPr>
      </p:sp>
      <p:grpSp>
        <p:nvGrpSpPr>
          <p:cNvPr id="72" name="组合 71"/>
          <p:cNvGrpSpPr/>
          <p:nvPr/>
        </p:nvGrpSpPr>
        <p:grpSpPr>
          <a:xfrm>
            <a:off x="1276985" y="4049395"/>
            <a:ext cx="1649730" cy="503555"/>
            <a:chOff x="2011" y="6377"/>
            <a:chExt cx="2598" cy="793"/>
          </a:xfrm>
        </p:grpSpPr>
        <p:sp>
          <p:nvSpPr>
            <p:cNvPr id="16" name="Shape 14"/>
            <p:cNvSpPr/>
            <p:nvPr/>
          </p:nvSpPr>
          <p:spPr>
            <a:xfrm>
              <a:off x="2011" y="6377"/>
              <a:ext cx="2593" cy="778"/>
            </a:xfrm>
            <a:prstGeom prst="rect">
              <a:avLst/>
            </a:prstGeom>
            <a:ln w="9525">
              <a:solidFill>
                <a:srgbClr val="14141C">
                  <a:alpha val="22000"/>
                </a:srgbClr>
              </a:solidFill>
              <a:prstDash val="solid"/>
            </a:ln>
          </p:spPr>
        </p:sp>
        <p:sp>
          <p:nvSpPr>
            <p:cNvPr id="18" name="Text 16"/>
            <p:cNvSpPr/>
            <p:nvPr/>
          </p:nvSpPr>
          <p:spPr>
            <a:xfrm>
              <a:off x="2032" y="6457"/>
              <a:ext cx="2577" cy="713"/>
            </a:xfrm>
            <a:prstGeom prst="rect">
              <a:avLst/>
            </a:prstGeom>
            <a:noFill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C0392B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PingFang SC" pitchFamily="34" charset="-120"/>
                </a:rPr>
                <a:t>参数问答</a:t>
              </a:r>
              <a:endParaRPr lang="en-US" sz="2000" b="1" dirty="0">
                <a:solidFill>
                  <a:srgbClr val="C0392B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</a:endParaRPr>
            </a:p>
          </p:txBody>
        </p:sp>
      </p:grpSp>
      <p:sp>
        <p:nvSpPr>
          <p:cNvPr id="19" name="Shape 17"/>
          <p:cNvSpPr/>
          <p:nvPr/>
        </p:nvSpPr>
        <p:spPr>
          <a:xfrm>
            <a:off x="2874010" y="4860290"/>
            <a:ext cx="5057775" cy="76200"/>
          </a:xfrm>
          <a:prstGeom prst="rect">
            <a:avLst/>
          </a:prstGeom>
          <a:solidFill>
            <a:srgbClr val="14141C">
              <a:alpha val="10000"/>
            </a:srgbClr>
          </a:solidFill>
        </p:spPr>
      </p:sp>
      <p:sp>
        <p:nvSpPr>
          <p:cNvPr id="20" name="Text 18"/>
          <p:cNvSpPr/>
          <p:nvPr/>
        </p:nvSpPr>
        <p:spPr>
          <a:xfrm>
            <a:off x="4072255" y="4048125"/>
            <a:ext cx="2656205" cy="85280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  <a:sym typeface="+mn-ea"/>
              </a:rPr>
              <a:t>参数名或自然语言问题</a:t>
            </a:r>
            <a:endParaRPr lang="en-US" dirty="0">
              <a:solidFill>
                <a:srgbClr val="2C2C34"/>
              </a:solidFill>
              <a:latin typeface="宋体" panose="02010600030101010101" pitchFamily="2" charset="-122"/>
              <a:ea typeface="宋体" panose="02010600030101010101" pitchFamily="2" charset="-122"/>
              <a:cs typeface="PingFang SC" pitchFamily="34" charset="-120"/>
              <a:sym typeface="+mn-ea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7649210" y="4860290"/>
            <a:ext cx="4720590" cy="76200"/>
          </a:xfrm>
          <a:prstGeom prst="rect">
            <a:avLst/>
          </a:prstGeom>
          <a:solidFill>
            <a:srgbClr val="14141C">
              <a:alpha val="10000"/>
            </a:srgbClr>
          </a:solidFill>
        </p:spPr>
      </p:sp>
      <p:sp>
        <p:nvSpPr>
          <p:cNvPr id="22" name="Text 20"/>
          <p:cNvSpPr/>
          <p:nvPr/>
        </p:nvSpPr>
        <p:spPr>
          <a:xfrm>
            <a:off x="7648575" y="4049395"/>
            <a:ext cx="4199890" cy="56769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  <a:sym typeface="+mn-ea"/>
              </a:rPr>
              <a:t>带来源依据的参数解释</a:t>
            </a:r>
            <a:endParaRPr lang="en-US" dirty="0">
              <a:solidFill>
                <a:srgbClr val="2C2C34"/>
              </a:solidFill>
              <a:latin typeface="宋体" panose="02010600030101010101" pitchFamily="2" charset="-122"/>
              <a:ea typeface="宋体" panose="02010600030101010101" pitchFamily="2" charset="-122"/>
              <a:cs typeface="PingFang SC" pitchFamily="34" charset="-120"/>
              <a:sym typeface="+mn-ea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12126595" y="4860290"/>
            <a:ext cx="4046855" cy="76200"/>
          </a:xfrm>
          <a:prstGeom prst="rect">
            <a:avLst/>
          </a:prstGeom>
          <a:solidFill>
            <a:srgbClr val="14141C">
              <a:alpha val="10000"/>
            </a:srgbClr>
          </a:solidFill>
        </p:spPr>
      </p:sp>
      <p:sp>
        <p:nvSpPr>
          <p:cNvPr id="24" name="Text 22"/>
          <p:cNvSpPr/>
          <p:nvPr/>
        </p:nvSpPr>
        <p:spPr>
          <a:xfrm>
            <a:off x="12465685" y="4048125"/>
            <a:ext cx="3533140" cy="4597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  <a:sym typeface="+mn-ea"/>
              </a:rPr>
              <a:t>优先依据知识库与来源元数据</a:t>
            </a:r>
            <a:endParaRPr lang="en-US" dirty="0">
              <a:solidFill>
                <a:srgbClr val="2C2C34"/>
              </a:solidFill>
              <a:latin typeface="宋体" panose="02010600030101010101" pitchFamily="2" charset="-122"/>
              <a:ea typeface="宋体" panose="02010600030101010101" pitchFamily="2" charset="-122"/>
              <a:cs typeface="PingFang SC" pitchFamily="34" charset="-120"/>
              <a:sym typeface="+mn-ea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1219200" y="6062663"/>
            <a:ext cx="2852886" cy="9525"/>
          </a:xfrm>
          <a:prstGeom prst="rect">
            <a:avLst/>
          </a:prstGeom>
          <a:solidFill>
            <a:srgbClr val="14141C">
              <a:alpha val="10000"/>
            </a:srgbClr>
          </a:solidFill>
        </p:spPr>
      </p:sp>
      <p:sp>
        <p:nvSpPr>
          <p:cNvPr id="29" name="Shape 27"/>
          <p:cNvSpPr/>
          <p:nvPr/>
        </p:nvSpPr>
        <p:spPr>
          <a:xfrm>
            <a:off x="2874010" y="6022340"/>
            <a:ext cx="5057775" cy="76200"/>
          </a:xfrm>
          <a:prstGeom prst="rect">
            <a:avLst/>
          </a:prstGeom>
          <a:solidFill>
            <a:srgbClr val="14141C">
              <a:alpha val="10000"/>
            </a:srgbClr>
          </a:solidFill>
        </p:spPr>
      </p:sp>
      <p:sp>
        <p:nvSpPr>
          <p:cNvPr id="30" name="Text 28"/>
          <p:cNvSpPr/>
          <p:nvPr/>
        </p:nvSpPr>
        <p:spPr>
          <a:xfrm>
            <a:off x="4072255" y="5152390"/>
            <a:ext cx="2707005" cy="77406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  <a:sym typeface="+mn-ea"/>
              </a:rPr>
              <a:t>任意用户消息</a:t>
            </a:r>
            <a:endParaRPr lang="en-US" dirty="0">
              <a:solidFill>
                <a:srgbClr val="2C2C34"/>
              </a:solidFill>
              <a:latin typeface="宋体" panose="02010600030101010101" pitchFamily="2" charset="-122"/>
              <a:ea typeface="宋体" panose="02010600030101010101" pitchFamily="2" charset="-122"/>
              <a:cs typeface="PingFang SC" pitchFamily="34" charset="-120"/>
              <a:sym typeface="+mn-ea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7649210" y="6022340"/>
            <a:ext cx="4720590" cy="76200"/>
          </a:xfrm>
          <a:prstGeom prst="rect">
            <a:avLst/>
          </a:prstGeom>
          <a:solidFill>
            <a:srgbClr val="14141C">
              <a:alpha val="10000"/>
            </a:srgbClr>
          </a:solidFill>
        </p:spPr>
      </p:sp>
      <p:sp>
        <p:nvSpPr>
          <p:cNvPr id="32" name="Text 30"/>
          <p:cNvSpPr/>
          <p:nvPr/>
        </p:nvSpPr>
        <p:spPr>
          <a:xfrm>
            <a:off x="7649210" y="5266055"/>
            <a:ext cx="4199255" cy="5397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任务类型</a:t>
            </a:r>
            <a:r>
              <a:rPr lang="zh-CN" altLang="en-US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lang="en-US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工具选择</a:t>
            </a:r>
            <a:r>
              <a:rPr lang="zh-CN" altLang="en-US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lang="en-US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上下文摘要</a:t>
            </a:r>
            <a:endParaRPr lang="en-US" dirty="0">
              <a:solidFill>
                <a:srgbClr val="2C2C34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12126595" y="6022340"/>
            <a:ext cx="4046855" cy="76200"/>
          </a:xfrm>
          <a:prstGeom prst="rect">
            <a:avLst/>
          </a:prstGeom>
          <a:solidFill>
            <a:srgbClr val="14141C">
              <a:alpha val="10000"/>
            </a:srgbClr>
          </a:solidFill>
        </p:spPr>
      </p:sp>
      <p:sp>
        <p:nvSpPr>
          <p:cNvPr id="34" name="Text 32"/>
          <p:cNvSpPr/>
          <p:nvPr/>
        </p:nvSpPr>
        <p:spPr>
          <a:xfrm>
            <a:off x="12462510" y="5266055"/>
            <a:ext cx="4032250" cy="34734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b="1" dirty="0">
                <a:solidFill>
                  <a:srgbClr val="C0392B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  <a:sym typeface="+mn-ea"/>
              </a:rPr>
              <a:t>不把全部请求放入同一条自由问答链路</a:t>
            </a:r>
            <a:endParaRPr lang="en-US" b="1" dirty="0">
              <a:solidFill>
                <a:srgbClr val="C0392B"/>
              </a:solidFill>
              <a:latin typeface="宋体" panose="02010600030101010101" pitchFamily="2" charset="-122"/>
              <a:ea typeface="宋体" panose="02010600030101010101" pitchFamily="2" charset="-122"/>
              <a:cs typeface="PingFang SC" pitchFamily="34" charset="-120"/>
              <a:sym typeface="+mn-ea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1219200" y="7224713"/>
            <a:ext cx="2852886" cy="9525"/>
          </a:xfrm>
          <a:prstGeom prst="rect">
            <a:avLst/>
          </a:prstGeom>
          <a:solidFill>
            <a:srgbClr val="14141C">
              <a:alpha val="10000"/>
            </a:srgbClr>
          </a:solidFill>
        </p:spPr>
      </p:sp>
      <p:sp>
        <p:nvSpPr>
          <p:cNvPr id="39" name="Shape 37"/>
          <p:cNvSpPr/>
          <p:nvPr/>
        </p:nvSpPr>
        <p:spPr>
          <a:xfrm>
            <a:off x="2874010" y="7184390"/>
            <a:ext cx="5057775" cy="76200"/>
          </a:xfrm>
          <a:prstGeom prst="rect">
            <a:avLst/>
          </a:prstGeom>
          <a:solidFill>
            <a:srgbClr val="14141C">
              <a:alpha val="10000"/>
            </a:srgbClr>
          </a:solidFill>
        </p:spPr>
      </p:sp>
      <p:sp>
        <p:nvSpPr>
          <p:cNvPr id="40" name="Text 38"/>
          <p:cNvSpPr/>
          <p:nvPr/>
        </p:nvSpPr>
        <p:spPr>
          <a:xfrm>
            <a:off x="4190365" y="6377305"/>
            <a:ext cx="2588895" cy="847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algn="l">
              <a:lnSpc>
                <a:spcPct val="150000"/>
              </a:lnSpc>
              <a:buClrTx/>
              <a:buSzTx/>
              <a:buFontTx/>
              <a:buNone/>
            </a:pPr>
            <a:r>
              <a:rPr lang="en-US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扫描 / 离线检测 / 停止</a:t>
            </a:r>
            <a:endParaRPr lang="en-US" dirty="0">
              <a:solidFill>
                <a:srgbClr val="2C2C34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7649210" y="7184390"/>
            <a:ext cx="4720590" cy="76200"/>
          </a:xfrm>
          <a:prstGeom prst="rect">
            <a:avLst/>
          </a:prstGeom>
          <a:solidFill>
            <a:srgbClr val="14141C">
              <a:alpha val="10000"/>
            </a:srgbClr>
          </a:solidFill>
        </p:spPr>
      </p:sp>
      <p:sp>
        <p:nvSpPr>
          <p:cNvPr id="42" name="Text 40"/>
          <p:cNvSpPr/>
          <p:nvPr/>
        </p:nvSpPr>
        <p:spPr>
          <a:xfrm>
            <a:off x="7688580" y="6348730"/>
            <a:ext cx="4159885" cy="55689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结构化命令 + 缺失项 + 风险 + 确认</a:t>
            </a:r>
            <a:endParaRPr lang="en-US" dirty="0">
              <a:solidFill>
                <a:srgbClr val="2C2C34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12126595" y="7184390"/>
            <a:ext cx="4046855" cy="76200"/>
          </a:xfrm>
          <a:prstGeom prst="rect">
            <a:avLst/>
          </a:prstGeom>
          <a:solidFill>
            <a:srgbClr val="14141C">
              <a:alpha val="10000"/>
            </a:srgbClr>
          </a:solidFill>
        </p:spPr>
      </p:sp>
      <p:sp>
        <p:nvSpPr>
          <p:cNvPr id="44" name="Text 42"/>
          <p:cNvSpPr/>
          <p:nvPr/>
        </p:nvSpPr>
        <p:spPr>
          <a:xfrm>
            <a:off x="12476480" y="6418580"/>
            <a:ext cx="4272280" cy="34417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执行前必须进入 Tool Gateway 生命周期</a:t>
            </a:r>
            <a:endParaRPr lang="en-US" dirty="0">
              <a:solidFill>
                <a:srgbClr val="2C2C34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1219200" y="8386763"/>
            <a:ext cx="2852886" cy="9525"/>
          </a:xfrm>
          <a:prstGeom prst="rect">
            <a:avLst/>
          </a:prstGeom>
          <a:solidFill>
            <a:srgbClr val="14141C">
              <a:alpha val="10000"/>
            </a:srgbClr>
          </a:solidFill>
        </p:spPr>
      </p:sp>
      <p:sp>
        <p:nvSpPr>
          <p:cNvPr id="49" name="Shape 47"/>
          <p:cNvSpPr/>
          <p:nvPr/>
        </p:nvSpPr>
        <p:spPr>
          <a:xfrm>
            <a:off x="2874010" y="8346440"/>
            <a:ext cx="5057775" cy="76200"/>
          </a:xfrm>
          <a:prstGeom prst="rect">
            <a:avLst/>
          </a:prstGeom>
          <a:solidFill>
            <a:srgbClr val="14141C">
              <a:alpha val="10000"/>
            </a:srgbClr>
          </a:solidFill>
        </p:spPr>
      </p:sp>
      <p:sp>
        <p:nvSpPr>
          <p:cNvPr id="50" name="Text 48"/>
          <p:cNvSpPr/>
          <p:nvPr/>
        </p:nvSpPr>
        <p:spPr>
          <a:xfrm>
            <a:off x="4072255" y="7498715"/>
            <a:ext cx="2905125" cy="847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algn="l">
              <a:lnSpc>
                <a:spcPct val="150000"/>
              </a:lnSpc>
              <a:buClrTx/>
              <a:buSzTx/>
              <a:buFontTx/>
              <a:buNone/>
            </a:pPr>
            <a:r>
              <a:rPr lang="en-US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状态 / 进度 / 设备问题</a:t>
            </a:r>
            <a:endParaRPr lang="en-US" dirty="0">
              <a:solidFill>
                <a:srgbClr val="2C2C34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7649210" y="8346440"/>
            <a:ext cx="4720590" cy="76200"/>
          </a:xfrm>
          <a:prstGeom prst="rect">
            <a:avLst/>
          </a:prstGeom>
          <a:solidFill>
            <a:srgbClr val="14141C">
              <a:alpha val="10000"/>
            </a:srgbClr>
          </a:solidFill>
        </p:spPr>
      </p:sp>
      <p:sp>
        <p:nvSpPr>
          <p:cNvPr id="52" name="Text 50"/>
          <p:cNvSpPr/>
          <p:nvPr/>
        </p:nvSpPr>
        <p:spPr>
          <a:xfrm>
            <a:off x="7688580" y="7504430"/>
            <a:ext cx="3152140" cy="5683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状态摘要 + 最近结果</a:t>
            </a:r>
            <a:endParaRPr lang="en-US" dirty="0">
              <a:solidFill>
                <a:srgbClr val="2C2C34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12126595" y="8346440"/>
            <a:ext cx="4046855" cy="76200"/>
          </a:xfrm>
          <a:prstGeom prst="rect">
            <a:avLst/>
          </a:prstGeom>
          <a:solidFill>
            <a:srgbClr val="14141C">
              <a:alpha val="10000"/>
            </a:srgbClr>
          </a:solidFill>
        </p:spPr>
      </p:sp>
      <p:sp>
        <p:nvSpPr>
          <p:cNvPr id="54" name="Text 52"/>
          <p:cNvSpPr/>
          <p:nvPr/>
        </p:nvSpPr>
        <p:spPr>
          <a:xfrm>
            <a:off x="12462510" y="7504430"/>
            <a:ext cx="3025775" cy="3619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b="1" dirty="0">
                <a:solidFill>
                  <a:srgbClr val="C0392B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  <a:sym typeface="+mn-ea"/>
              </a:rPr>
              <a:t>只读工具</a:t>
            </a:r>
            <a:r>
              <a:rPr lang="en-US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  <a:sym typeface="+mn-ea"/>
              </a:rPr>
              <a:t>，不触发控制动作</a:t>
            </a:r>
            <a:endParaRPr lang="en-US" dirty="0">
              <a:solidFill>
                <a:srgbClr val="2C2C34"/>
              </a:solidFill>
              <a:latin typeface="宋体" panose="02010600030101010101" pitchFamily="2" charset="-122"/>
              <a:ea typeface="宋体" panose="02010600030101010101" pitchFamily="2" charset="-122"/>
              <a:cs typeface="PingFang SC" pitchFamily="34" charset="-120"/>
              <a:sym typeface="+mn-ea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1219200" y="9548813"/>
            <a:ext cx="2852886" cy="9525"/>
          </a:xfrm>
          <a:prstGeom prst="rect">
            <a:avLst/>
          </a:prstGeom>
          <a:solidFill>
            <a:srgbClr val="14141C">
              <a:alpha val="10000"/>
            </a:srgbClr>
          </a:solidFill>
        </p:spPr>
      </p:sp>
      <p:sp>
        <p:nvSpPr>
          <p:cNvPr id="59" name="Shape 57"/>
          <p:cNvSpPr/>
          <p:nvPr/>
        </p:nvSpPr>
        <p:spPr>
          <a:xfrm>
            <a:off x="2874010" y="9508490"/>
            <a:ext cx="5057775" cy="76200"/>
          </a:xfrm>
          <a:prstGeom prst="rect">
            <a:avLst/>
          </a:prstGeom>
          <a:solidFill>
            <a:srgbClr val="14141C">
              <a:alpha val="10000"/>
            </a:srgbClr>
          </a:solidFill>
        </p:spPr>
      </p:sp>
      <p:sp>
        <p:nvSpPr>
          <p:cNvPr id="60" name="Text 58"/>
          <p:cNvSpPr/>
          <p:nvPr/>
        </p:nvSpPr>
        <p:spPr>
          <a:xfrm>
            <a:off x="3919220" y="8724265"/>
            <a:ext cx="3481070" cy="7842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algn="l">
              <a:lnSpc>
                <a:spcPct val="150000"/>
              </a:lnSpc>
              <a:buClrTx/>
              <a:buSzTx/>
              <a:buFontTx/>
              <a:buNone/>
            </a:pPr>
            <a:r>
              <a:rPr lang="en-US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跨轮指代 / 用户偏好 / 流程问题</a:t>
            </a:r>
            <a:endParaRPr lang="en-US" dirty="0">
              <a:solidFill>
                <a:srgbClr val="2C2C34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61" name="Shape 59"/>
          <p:cNvSpPr/>
          <p:nvPr/>
        </p:nvSpPr>
        <p:spPr>
          <a:xfrm>
            <a:off x="7649210" y="9508490"/>
            <a:ext cx="4720590" cy="76200"/>
          </a:xfrm>
          <a:prstGeom prst="rect">
            <a:avLst/>
          </a:prstGeom>
          <a:solidFill>
            <a:srgbClr val="14141C">
              <a:alpha val="10000"/>
            </a:srgbClr>
          </a:solidFill>
        </p:spPr>
      </p:sp>
      <p:sp>
        <p:nvSpPr>
          <p:cNvPr id="62" name="Text 60"/>
          <p:cNvSpPr/>
          <p:nvPr/>
        </p:nvSpPr>
        <p:spPr>
          <a:xfrm>
            <a:off x="7688580" y="8724265"/>
            <a:ext cx="4159250" cy="5715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记忆命中</a:t>
            </a:r>
            <a:r>
              <a:rPr lang="zh-CN" altLang="en-US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lang="en-US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技能说明 </a:t>
            </a:r>
            <a:r>
              <a:rPr lang="zh-CN" altLang="en-US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lang="en-US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待审核补丁</a:t>
            </a:r>
            <a:endParaRPr lang="en-US" dirty="0">
              <a:solidFill>
                <a:srgbClr val="2C2C34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63" name="Shape 61"/>
          <p:cNvSpPr/>
          <p:nvPr/>
        </p:nvSpPr>
        <p:spPr>
          <a:xfrm>
            <a:off x="12126595" y="9508490"/>
            <a:ext cx="4046855" cy="76200"/>
          </a:xfrm>
          <a:prstGeom prst="rect">
            <a:avLst/>
          </a:prstGeom>
          <a:solidFill>
            <a:srgbClr val="14141C">
              <a:alpha val="10000"/>
            </a:srgbClr>
          </a:solidFill>
        </p:spPr>
      </p:sp>
      <p:sp>
        <p:nvSpPr>
          <p:cNvPr id="64" name="Text 62"/>
          <p:cNvSpPr/>
          <p:nvPr/>
        </p:nvSpPr>
        <p:spPr>
          <a:xfrm>
            <a:off x="12476480" y="8724265"/>
            <a:ext cx="3696970" cy="31877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  <a:sym typeface="+mn-ea"/>
              </a:rPr>
              <a:t>长期写入必须</a:t>
            </a:r>
            <a:r>
              <a:rPr lang="en-US" b="1" dirty="0">
                <a:solidFill>
                  <a:srgbClr val="C0392B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  <a:sym typeface="+mn-ea"/>
              </a:rPr>
              <a:t>可审核、可拒绝</a:t>
            </a:r>
            <a:endParaRPr lang="en-US" b="1" dirty="0">
              <a:solidFill>
                <a:srgbClr val="C0392B"/>
              </a:solidFill>
              <a:latin typeface="宋体" panose="02010600030101010101" pitchFamily="2" charset="-122"/>
              <a:ea typeface="宋体" panose="02010600030101010101" pitchFamily="2" charset="-122"/>
              <a:cs typeface="PingFang SC" pitchFamily="34" charset="-120"/>
              <a:sym typeface="+mn-ea"/>
            </a:endParaRPr>
          </a:p>
        </p:txBody>
      </p:sp>
      <p:sp>
        <p:nvSpPr>
          <p:cNvPr id="68" name="Text 0"/>
          <p:cNvSpPr/>
          <p:nvPr/>
        </p:nvSpPr>
        <p:spPr>
          <a:xfrm>
            <a:off x="1220470" y="837565"/>
            <a:ext cx="506730" cy="4508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p>
            <a:pPr marL="0" indent="0" algn="l">
              <a:buNone/>
            </a:pPr>
            <a:r>
              <a:rPr lang="en-US" sz="3200" kern="0" spc="162" dirty="0">
                <a:solidFill>
                  <a:srgbClr val="2B3A8A"/>
                </a:solidFill>
                <a:latin typeface="宋体" panose="02010600030101010101" pitchFamily="2" charset="-122"/>
                <a:ea typeface="宋体" panose="02010600030101010101" pitchFamily="2" charset="-122"/>
                <a:cs typeface="JetBrains Mono" pitchFamily="34" charset="-120"/>
              </a:rPr>
              <a:t>02</a:t>
            </a:r>
            <a:endParaRPr lang="en-US" sz="3200" kern="0" spc="162" dirty="0">
              <a:solidFill>
                <a:srgbClr val="2B3A8A"/>
              </a:solidFill>
              <a:latin typeface="宋体" panose="02010600030101010101" pitchFamily="2" charset="-122"/>
              <a:ea typeface="宋体" panose="02010600030101010101" pitchFamily="2" charset="-122"/>
              <a:cs typeface="JetBrains Mono" pitchFamily="34" charset="-120"/>
            </a:endParaRPr>
          </a:p>
        </p:txBody>
      </p:sp>
      <p:sp>
        <p:nvSpPr>
          <p:cNvPr id="69" name="Text 1"/>
          <p:cNvSpPr/>
          <p:nvPr/>
        </p:nvSpPr>
        <p:spPr>
          <a:xfrm>
            <a:off x="1669415" y="841375"/>
            <a:ext cx="3517265" cy="4978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p>
            <a:pPr marL="0" indent="0" algn="l">
              <a:buNone/>
            </a:pPr>
            <a:r>
              <a:rPr lang="en-US" sz="3200" b="1" dirty="0">
                <a:solidFill>
                  <a:srgbClr val="1515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  <a:sym typeface="+mn-ea"/>
              </a:rPr>
              <a:t> 需求分析与目标</a:t>
            </a:r>
            <a:endParaRPr lang="en-US" sz="3200" b="1" dirty="0">
              <a:solidFill>
                <a:srgbClr val="15151A"/>
              </a:solidFill>
              <a:latin typeface="宋体" panose="02010600030101010101" pitchFamily="2" charset="-122"/>
              <a:ea typeface="宋体" panose="02010600030101010101" pitchFamily="2" charset="-122"/>
              <a:cs typeface="PingFang SC" pitchFamily="34" charset="-120"/>
              <a:sym typeface="+mn-ea"/>
            </a:endParaRPr>
          </a:p>
        </p:txBody>
      </p:sp>
      <p:sp>
        <p:nvSpPr>
          <p:cNvPr id="70" name="Shape 2"/>
          <p:cNvSpPr/>
          <p:nvPr/>
        </p:nvSpPr>
        <p:spPr>
          <a:xfrm>
            <a:off x="4859685" y="1085850"/>
            <a:ext cx="12209115" cy="9525"/>
          </a:xfrm>
          <a:prstGeom prst="rect">
            <a:avLst/>
          </a:prstGeom>
          <a:solidFill>
            <a:srgbClr val="14141C">
              <a:alpha val="10000"/>
            </a:srgbClr>
          </a:solidFill>
        </p:spPr>
      </p:sp>
      <p:grpSp>
        <p:nvGrpSpPr>
          <p:cNvPr id="73" name="组合 72"/>
          <p:cNvGrpSpPr/>
          <p:nvPr/>
        </p:nvGrpSpPr>
        <p:grpSpPr>
          <a:xfrm>
            <a:off x="1276985" y="8547735"/>
            <a:ext cx="1646555" cy="869950"/>
            <a:chOff x="2011" y="6377"/>
            <a:chExt cx="2593" cy="1370"/>
          </a:xfrm>
        </p:grpSpPr>
        <p:sp>
          <p:nvSpPr>
            <p:cNvPr id="74" name="Shape 14"/>
            <p:cNvSpPr/>
            <p:nvPr/>
          </p:nvSpPr>
          <p:spPr>
            <a:xfrm>
              <a:off x="2011" y="6377"/>
              <a:ext cx="2593" cy="1370"/>
            </a:xfrm>
            <a:prstGeom prst="rect">
              <a:avLst/>
            </a:prstGeom>
            <a:ln w="9525">
              <a:solidFill>
                <a:srgbClr val="14141C">
                  <a:alpha val="22000"/>
                </a:srgbClr>
              </a:solidFill>
              <a:prstDash val="solid"/>
            </a:ln>
          </p:spPr>
        </p:sp>
        <p:sp>
          <p:nvSpPr>
            <p:cNvPr id="75" name="Text 16"/>
            <p:cNvSpPr/>
            <p:nvPr/>
          </p:nvSpPr>
          <p:spPr>
            <a:xfrm>
              <a:off x="2033" y="6457"/>
              <a:ext cx="2538" cy="1290"/>
            </a:xfrm>
            <a:prstGeom prst="rect">
              <a:avLst/>
            </a:prstGeom>
            <a:noFill/>
          </p:spPr>
          <p:txBody>
            <a:bodyPr wrap="square" lIns="25400" tIns="25400" rIns="25400" bIns="25400" rtlCol="0" anchor="t">
              <a:noAutofit/>
            </a:bodyPr>
            <a:p>
              <a:pPr marL="0" indent="0" algn="ctr">
                <a:buNone/>
              </a:pPr>
              <a:r>
                <a:rPr lang="zh-CN" altLang="en-US" sz="2000" b="1" dirty="0">
                  <a:solidFill>
                    <a:srgbClr val="C0392B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PingFang SC" pitchFamily="34" charset="-120"/>
                </a:rPr>
                <a:t>记忆与</a:t>
              </a:r>
              <a:endParaRPr lang="zh-CN" altLang="en-US" sz="2000" b="1" dirty="0">
                <a:solidFill>
                  <a:srgbClr val="C0392B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</a:endParaRPr>
            </a:p>
            <a:p>
              <a:pPr marL="0" indent="0" algn="ctr">
                <a:buNone/>
              </a:pPr>
              <a:r>
                <a:rPr lang="zh-CN" altLang="en-US" sz="2000" b="1" dirty="0">
                  <a:solidFill>
                    <a:srgbClr val="C0392B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PingFang SC" pitchFamily="34" charset="-120"/>
                </a:rPr>
                <a:t>技能辅助</a:t>
              </a:r>
              <a:endParaRPr lang="zh-CN" altLang="en-US" sz="2000" b="1" dirty="0">
                <a:solidFill>
                  <a:srgbClr val="C0392B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</a:endParaRPr>
            </a:p>
          </p:txBody>
        </p:sp>
      </p:grpSp>
      <p:grpSp>
        <p:nvGrpSpPr>
          <p:cNvPr id="82" name="组合 81"/>
          <p:cNvGrpSpPr/>
          <p:nvPr/>
        </p:nvGrpSpPr>
        <p:grpSpPr>
          <a:xfrm>
            <a:off x="1276985" y="6203315"/>
            <a:ext cx="1646555" cy="881221"/>
            <a:chOff x="2011" y="6377"/>
            <a:chExt cx="2593" cy="793"/>
          </a:xfrm>
        </p:grpSpPr>
        <p:sp>
          <p:nvSpPr>
            <p:cNvPr id="83" name="Shape 14"/>
            <p:cNvSpPr/>
            <p:nvPr/>
          </p:nvSpPr>
          <p:spPr>
            <a:xfrm>
              <a:off x="2011" y="6377"/>
              <a:ext cx="2593" cy="778"/>
            </a:xfrm>
            <a:prstGeom prst="rect">
              <a:avLst/>
            </a:prstGeom>
            <a:ln w="9525">
              <a:solidFill>
                <a:srgbClr val="14141C">
                  <a:alpha val="22000"/>
                </a:srgbClr>
              </a:solidFill>
              <a:prstDash val="solid"/>
            </a:ln>
          </p:spPr>
        </p:sp>
        <p:sp>
          <p:nvSpPr>
            <p:cNvPr id="84" name="Text 16"/>
            <p:cNvSpPr/>
            <p:nvPr/>
          </p:nvSpPr>
          <p:spPr>
            <a:xfrm>
              <a:off x="2033" y="6487"/>
              <a:ext cx="2538" cy="683"/>
            </a:xfrm>
            <a:prstGeom prst="rect">
              <a:avLst/>
            </a:prstGeom>
            <a:noFill/>
          </p:spPr>
          <p:txBody>
            <a:bodyPr wrap="square" lIns="25400" tIns="25400" rIns="25400" bIns="25400" rtlCol="0" anchor="t">
              <a:noAutofit/>
            </a:bodyPr>
            <a:p>
              <a:pPr marL="0" indent="0" algn="ctr">
                <a:buNone/>
              </a:pPr>
              <a:r>
                <a:rPr lang="zh-CN" altLang="en-US" sz="2000" b="1" dirty="0">
                  <a:solidFill>
                    <a:srgbClr val="C0392B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PingFang SC" pitchFamily="34" charset="-120"/>
                </a:rPr>
                <a:t>自然语言</a:t>
              </a:r>
              <a:endParaRPr lang="zh-CN" altLang="en-US" sz="2000" b="1" dirty="0">
                <a:solidFill>
                  <a:srgbClr val="C0392B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</a:endParaRPr>
            </a:p>
            <a:p>
              <a:pPr marL="0" indent="0" algn="ctr">
                <a:buNone/>
              </a:pPr>
              <a:r>
                <a:rPr lang="zh-CN" altLang="en-US" sz="2000" b="1" dirty="0">
                  <a:solidFill>
                    <a:srgbClr val="C0392B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PingFang SC" pitchFamily="34" charset="-120"/>
                </a:rPr>
                <a:t>操作预览</a:t>
              </a:r>
              <a:endParaRPr lang="zh-CN" altLang="en-US" sz="2000" b="1" dirty="0">
                <a:solidFill>
                  <a:srgbClr val="C0392B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</a:endParaRPr>
            </a:p>
          </p:txBody>
        </p:sp>
      </p:grpSp>
      <p:sp>
        <p:nvSpPr>
          <p:cNvPr id="86" name="Shape 14"/>
          <p:cNvSpPr/>
          <p:nvPr/>
        </p:nvSpPr>
        <p:spPr>
          <a:xfrm>
            <a:off x="1276985" y="7409180"/>
            <a:ext cx="1646555" cy="823595"/>
          </a:xfrm>
          <a:prstGeom prst="rect">
            <a:avLst/>
          </a:prstGeom>
          <a:ln w="9525">
            <a:solidFill>
              <a:srgbClr val="14141C">
                <a:alpha val="22000"/>
              </a:srgbClr>
            </a:solidFill>
            <a:prstDash val="solid"/>
          </a:ln>
        </p:spPr>
      </p:sp>
      <p:sp>
        <p:nvSpPr>
          <p:cNvPr id="87" name="Text 16"/>
          <p:cNvSpPr/>
          <p:nvPr/>
        </p:nvSpPr>
        <p:spPr>
          <a:xfrm>
            <a:off x="1298575" y="7498715"/>
            <a:ext cx="1642110" cy="7524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p>
            <a:pPr marL="0" indent="0" algn="ctr">
              <a:buNone/>
            </a:pPr>
            <a:r>
              <a:rPr lang="zh-CN" altLang="en-US" sz="2000" b="1" dirty="0">
                <a:solidFill>
                  <a:srgbClr val="C0392B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</a:rPr>
              <a:t>运行状态</a:t>
            </a:r>
            <a:endParaRPr lang="zh-CN" altLang="en-US" sz="2000" b="1" dirty="0">
              <a:solidFill>
                <a:srgbClr val="C0392B"/>
              </a:solidFill>
              <a:latin typeface="宋体" panose="02010600030101010101" pitchFamily="2" charset="-122"/>
              <a:ea typeface="宋体" panose="02010600030101010101" pitchFamily="2" charset="-122"/>
              <a:cs typeface="PingFang SC" pitchFamily="34" charset="-120"/>
            </a:endParaRPr>
          </a:p>
          <a:p>
            <a:pPr marL="0" indent="0" algn="ctr">
              <a:buNone/>
            </a:pPr>
            <a:r>
              <a:rPr lang="zh-CN" altLang="en-US" sz="2000" b="1" dirty="0">
                <a:solidFill>
                  <a:srgbClr val="C0392B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</a:rPr>
              <a:t>查询</a:t>
            </a:r>
            <a:endParaRPr lang="zh-CN" altLang="en-US" sz="2000" b="1" dirty="0">
              <a:solidFill>
                <a:srgbClr val="C0392B"/>
              </a:solidFill>
              <a:latin typeface="宋体" panose="02010600030101010101" pitchFamily="2" charset="-122"/>
              <a:ea typeface="宋体" panose="02010600030101010101" pitchFamily="2" charset="-122"/>
              <a:cs typeface="PingFang SC" pitchFamily="34" charset="-120"/>
            </a:endParaRPr>
          </a:p>
        </p:txBody>
      </p:sp>
      <p:grpSp>
        <p:nvGrpSpPr>
          <p:cNvPr id="88" name="组合 87"/>
          <p:cNvGrpSpPr/>
          <p:nvPr/>
        </p:nvGrpSpPr>
        <p:grpSpPr>
          <a:xfrm>
            <a:off x="1276985" y="5041265"/>
            <a:ext cx="1646555" cy="995680"/>
            <a:chOff x="2011" y="6377"/>
            <a:chExt cx="2593" cy="1568"/>
          </a:xfrm>
        </p:grpSpPr>
        <p:sp>
          <p:nvSpPr>
            <p:cNvPr id="89" name="Shape 14"/>
            <p:cNvSpPr/>
            <p:nvPr/>
          </p:nvSpPr>
          <p:spPr>
            <a:xfrm>
              <a:off x="2011" y="6377"/>
              <a:ext cx="2593" cy="1394"/>
            </a:xfrm>
            <a:prstGeom prst="rect">
              <a:avLst/>
            </a:prstGeom>
            <a:ln w="9525">
              <a:solidFill>
                <a:srgbClr val="14141C">
                  <a:alpha val="22000"/>
                </a:srgbClr>
              </a:solidFill>
              <a:prstDash val="solid"/>
            </a:ln>
          </p:spPr>
        </p:sp>
        <p:sp>
          <p:nvSpPr>
            <p:cNvPr id="90" name="Text 16"/>
            <p:cNvSpPr/>
            <p:nvPr/>
          </p:nvSpPr>
          <p:spPr>
            <a:xfrm>
              <a:off x="2011" y="6552"/>
              <a:ext cx="2593" cy="1393"/>
            </a:xfrm>
            <a:prstGeom prst="rect">
              <a:avLst/>
            </a:prstGeom>
            <a:noFill/>
          </p:spPr>
          <p:txBody>
            <a:bodyPr wrap="square" lIns="25400" tIns="25400" rIns="25400" bIns="25400" rtlCol="0" anchor="t">
              <a:noAutofit/>
            </a:bodyPr>
            <a:p>
              <a:pPr marL="0" indent="0" algn="ctr">
                <a:buNone/>
              </a:pPr>
              <a:r>
                <a:rPr lang="zh-CN" altLang="en-US" sz="2000" b="1" dirty="0">
                  <a:solidFill>
                    <a:srgbClr val="C0392B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Agent</a:t>
              </a:r>
              <a:endParaRPr lang="zh-CN" altLang="en-US" sz="2000" b="1" dirty="0">
                <a:solidFill>
                  <a:srgbClr val="C0392B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  <a:p>
              <a:pPr marL="0" indent="0" algn="ctr">
                <a:buNone/>
              </a:pPr>
              <a:r>
                <a:rPr lang="zh-CN" altLang="en-US" sz="2000" b="1" dirty="0">
                  <a:solidFill>
                    <a:srgbClr val="C0392B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任务分派</a:t>
              </a:r>
              <a:endParaRPr lang="zh-CN" altLang="en-US" sz="2000" b="1" dirty="0">
                <a:solidFill>
                  <a:srgbClr val="C0392B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</p:grpSp>
      <p:sp>
        <p:nvSpPr>
          <p:cNvPr id="200" name="文本框 199"/>
          <p:cNvSpPr txBox="1"/>
          <p:nvPr/>
        </p:nvSpPr>
        <p:spPr>
          <a:xfrm>
            <a:off x="3967480" y="6418580"/>
            <a:ext cx="3327400" cy="4870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1219200" y="1590675"/>
            <a:ext cx="16325088" cy="7524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90000" lnSpcReduction="20000"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4800" b="1" kern="0" spc="-48" dirty="0">
                <a:solidFill>
                  <a:srgbClr val="15151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系统总体架构 -- </a:t>
            </a:r>
            <a:r>
              <a:rPr lang="zh-CN" altLang="en-US" sz="4800" b="1" kern="0" spc="-48" dirty="0">
                <a:solidFill>
                  <a:srgbClr val="2B3A8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六</a:t>
            </a:r>
            <a:r>
              <a:rPr lang="en-US" sz="4800" b="1" kern="0" spc="-48" dirty="0">
                <a:solidFill>
                  <a:srgbClr val="2B3A8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层结构</a:t>
            </a:r>
            <a:endParaRPr lang="en-US" sz="4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19200" y="2343150"/>
            <a:ext cx="13735050" cy="5048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90000" lnSpcReduction="20000"/>
          </a:bodyPr>
          <a:lstStyle/>
          <a:p>
            <a:pPr marL="0" algn="l">
              <a:lnSpc>
                <a:spcPct val="155000"/>
              </a:lnSpc>
              <a:buClrTx/>
              <a:buSzTx/>
              <a:buFontTx/>
              <a:buNone/>
            </a:pPr>
            <a:r>
              <a:rPr lang="en-US" sz="2400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中间两层</a:t>
            </a:r>
            <a:r>
              <a:rPr lang="en-US" sz="24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Agent编排</a:t>
            </a:r>
            <a:r>
              <a:rPr lang="en-US" sz="2400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与</a:t>
            </a:r>
            <a:r>
              <a:rPr lang="en-US" sz="24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工具与安全</a:t>
            </a:r>
            <a:r>
              <a:rPr lang="en-US" sz="2400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是本设计相对一般 RAG 系统的关键扩展。</a:t>
            </a:r>
            <a:endParaRPr lang="en-US" sz="2400" dirty="0">
              <a:solidFill>
                <a:srgbClr val="2C2C34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algn="l">
              <a:lnSpc>
                <a:spcPct val="155000"/>
              </a:lnSpc>
              <a:buNone/>
            </a:pPr>
            <a:endParaRPr lang="en-US" sz="2400" dirty="0">
              <a:solidFill>
                <a:srgbClr val="2C2C34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236980" y="3114675"/>
            <a:ext cx="15831820" cy="6835775"/>
          </a:xfrm>
          <a:prstGeom prst="rect">
            <a:avLst/>
          </a:prstGeom>
          <a:ln w="9525">
            <a:solidFill>
              <a:srgbClr val="14141C">
                <a:alpha val="2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28725" y="3124200"/>
            <a:ext cx="15830550" cy="1143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9" name="Shape 7"/>
          <p:cNvSpPr/>
          <p:nvPr/>
        </p:nvSpPr>
        <p:spPr>
          <a:xfrm>
            <a:off x="1228725" y="4257675"/>
            <a:ext cx="15830550" cy="9525"/>
          </a:xfrm>
          <a:prstGeom prst="rect">
            <a:avLst/>
          </a:prstGeom>
          <a:solidFill>
            <a:srgbClr val="14141C">
              <a:alpha val="10000"/>
            </a:srgbClr>
          </a:solidFill>
        </p:spPr>
      </p:sp>
      <p:sp>
        <p:nvSpPr>
          <p:cNvPr id="10" name="Shape 8"/>
          <p:cNvSpPr/>
          <p:nvPr/>
        </p:nvSpPr>
        <p:spPr>
          <a:xfrm>
            <a:off x="1228725" y="3124200"/>
            <a:ext cx="3048000" cy="1133475"/>
          </a:xfrm>
          <a:prstGeom prst="rect">
            <a:avLst/>
          </a:prstGeom>
          <a:solidFill>
            <a:srgbClr val="E8EAF3"/>
          </a:solidFill>
        </p:spPr>
      </p:sp>
      <p:sp>
        <p:nvSpPr>
          <p:cNvPr id="11" name="Shape 9"/>
          <p:cNvSpPr/>
          <p:nvPr/>
        </p:nvSpPr>
        <p:spPr>
          <a:xfrm>
            <a:off x="4267200" y="3124200"/>
            <a:ext cx="9525" cy="1133475"/>
          </a:xfrm>
          <a:prstGeom prst="rect">
            <a:avLst/>
          </a:prstGeom>
          <a:solidFill>
            <a:srgbClr val="14141C">
              <a:alpha val="10000"/>
            </a:srgbClr>
          </a:solidFill>
        </p:spPr>
      </p:sp>
      <p:sp>
        <p:nvSpPr>
          <p:cNvPr id="12" name="Text 10"/>
          <p:cNvSpPr/>
          <p:nvPr/>
        </p:nvSpPr>
        <p:spPr>
          <a:xfrm>
            <a:off x="1581785" y="3296920"/>
            <a:ext cx="2543175" cy="2095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400" b="1" kern="0" spc="168" dirty="0">
                <a:solidFill>
                  <a:srgbClr val="2B3A8A"/>
                </a:solidFill>
                <a:latin typeface="宋体" panose="02010600030101010101" pitchFamily="2" charset="-122"/>
                <a:ea typeface="宋体" panose="02010600030101010101" pitchFamily="2" charset="-122"/>
                <a:cs typeface="JetBrains Mono" pitchFamily="34" charset="-120"/>
              </a:rPr>
              <a:t>LAYER 06</a:t>
            </a:r>
            <a:endParaRPr lang="en-US" sz="1400" b="1" kern="0" spc="168" dirty="0">
              <a:solidFill>
                <a:srgbClr val="2B3A8A"/>
              </a:solidFill>
              <a:latin typeface="宋体" panose="02010600030101010101" pitchFamily="2" charset="-122"/>
              <a:ea typeface="宋体" panose="02010600030101010101" pitchFamily="2" charset="-122"/>
              <a:cs typeface="JetBrains Mono" pitchFamily="34" charset="-12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581785" y="3544570"/>
            <a:ext cx="2543175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5151A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</a:rPr>
              <a:t>交互展示层</a:t>
            </a:r>
            <a:endParaRPr lang="en-US" sz="2400" b="1" dirty="0">
              <a:solidFill>
                <a:srgbClr val="15151A"/>
              </a:solidFill>
              <a:latin typeface="宋体" panose="02010600030101010101" pitchFamily="2" charset="-122"/>
              <a:ea typeface="宋体" panose="02010600030101010101" pitchFamily="2" charset="-122"/>
              <a:cs typeface="PingFang SC" pitchFamily="34" charset="-12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10658475" y="3124200"/>
            <a:ext cx="9525" cy="1133475"/>
          </a:xfrm>
          <a:prstGeom prst="rect">
            <a:avLst/>
          </a:prstGeom>
          <a:solidFill>
            <a:srgbClr val="14141C">
              <a:alpha val="10000"/>
            </a:srgbClr>
          </a:solidFill>
        </p:spPr>
      </p:sp>
      <p:sp>
        <p:nvSpPr>
          <p:cNvPr id="15" name="Text 13"/>
          <p:cNvSpPr/>
          <p:nvPr/>
        </p:nvSpPr>
        <p:spPr>
          <a:xfrm>
            <a:off x="4562475" y="3238500"/>
            <a:ext cx="6001988" cy="7143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网页端对话主入口、来源依据、结构化命令预览、状态摘要展示，并保留 Gradio 兼容界面。</a:t>
            </a:r>
            <a:endParaRPr lang="en-US" dirty="0">
              <a:solidFill>
                <a:srgbClr val="2C2C34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0953750" y="3352800"/>
            <a:ext cx="6011513" cy="7143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1600" dirty="0">
                <a:solidFill>
                  <a:srgbClr val="6B6B75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frontend/ ui/web_api.py · ui/chat_widget.py</a:t>
            </a:r>
            <a:endParaRPr lang="en-US" sz="1600" dirty="0">
              <a:solidFill>
                <a:srgbClr val="6B6B75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228725" y="4267200"/>
            <a:ext cx="15830550" cy="1143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8" name="Shape 16"/>
          <p:cNvSpPr/>
          <p:nvPr/>
        </p:nvSpPr>
        <p:spPr>
          <a:xfrm>
            <a:off x="1228725" y="6534150"/>
            <a:ext cx="15830550" cy="9525"/>
          </a:xfrm>
          <a:prstGeom prst="rect">
            <a:avLst/>
          </a:prstGeom>
          <a:solidFill>
            <a:srgbClr val="14141C">
              <a:alpha val="10000"/>
            </a:srgbClr>
          </a:solidFill>
        </p:spPr>
      </p:sp>
      <p:sp>
        <p:nvSpPr>
          <p:cNvPr id="19" name="Shape 17"/>
          <p:cNvSpPr/>
          <p:nvPr/>
        </p:nvSpPr>
        <p:spPr>
          <a:xfrm>
            <a:off x="1228725" y="4267200"/>
            <a:ext cx="3048000" cy="1133475"/>
          </a:xfrm>
          <a:prstGeom prst="rect">
            <a:avLst/>
          </a:prstGeom>
          <a:solidFill>
            <a:srgbClr val="E8EAF3"/>
          </a:solidFill>
        </p:spPr>
      </p:sp>
      <p:sp>
        <p:nvSpPr>
          <p:cNvPr id="20" name="Shape 18"/>
          <p:cNvSpPr/>
          <p:nvPr/>
        </p:nvSpPr>
        <p:spPr>
          <a:xfrm>
            <a:off x="4267200" y="4267200"/>
            <a:ext cx="9525" cy="1133475"/>
          </a:xfrm>
          <a:prstGeom prst="rect">
            <a:avLst/>
          </a:prstGeom>
          <a:solidFill>
            <a:srgbClr val="14141C">
              <a:alpha val="10000"/>
            </a:srgbClr>
          </a:solidFill>
        </p:spPr>
      </p:sp>
      <p:sp>
        <p:nvSpPr>
          <p:cNvPr id="21" name="Text 19"/>
          <p:cNvSpPr/>
          <p:nvPr/>
        </p:nvSpPr>
        <p:spPr>
          <a:xfrm>
            <a:off x="1581785" y="4439920"/>
            <a:ext cx="2543175" cy="2095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400" b="1" kern="0" spc="168" dirty="0">
                <a:solidFill>
                  <a:srgbClr val="2B3A8A"/>
                </a:solidFill>
                <a:latin typeface="宋体" panose="02010600030101010101" pitchFamily="2" charset="-122"/>
                <a:ea typeface="宋体" panose="02010600030101010101" pitchFamily="2" charset="-122"/>
                <a:cs typeface="JetBrains Mono" pitchFamily="34" charset="-120"/>
              </a:rPr>
              <a:t>LAYER 05</a:t>
            </a:r>
            <a:endParaRPr lang="en-US" sz="1400" b="1" kern="0" spc="168" dirty="0">
              <a:solidFill>
                <a:srgbClr val="2B3A8A"/>
              </a:solidFill>
              <a:latin typeface="宋体" panose="02010600030101010101" pitchFamily="2" charset="-122"/>
              <a:ea typeface="宋体" panose="02010600030101010101" pitchFamily="2" charset="-122"/>
              <a:cs typeface="JetBrains Mono" pitchFamily="34" charset="-12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581785" y="4687570"/>
            <a:ext cx="2543175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5151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DAC-3D 集成层</a:t>
            </a:r>
            <a:endParaRPr lang="en-US" sz="2400" b="1" dirty="0">
              <a:solidFill>
                <a:srgbClr val="15151A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10658475" y="4267200"/>
            <a:ext cx="9525" cy="1133475"/>
          </a:xfrm>
          <a:prstGeom prst="rect">
            <a:avLst/>
          </a:prstGeom>
          <a:solidFill>
            <a:srgbClr val="14141C">
              <a:alpha val="10000"/>
            </a:srgbClr>
          </a:solidFill>
        </p:spPr>
      </p:sp>
      <p:sp>
        <p:nvSpPr>
          <p:cNvPr id="24" name="Text 22"/>
          <p:cNvSpPr/>
          <p:nvPr/>
        </p:nvSpPr>
        <p:spPr>
          <a:xfrm>
            <a:off x="4562475" y="4380865"/>
            <a:ext cx="6001988" cy="7143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统一封装运行时访问与结果解析，隔离设备通信细节。同时支持 mock runtime 与状态文件桥接。</a:t>
            </a:r>
            <a:endParaRPr lang="en-US" dirty="0">
              <a:solidFill>
                <a:srgbClr val="2C2C34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10953750" y="4495800"/>
            <a:ext cx="6011513" cy="7143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1600" dirty="0">
                <a:solidFill>
                  <a:srgbClr val="6B6B75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integration/dac3d_client.py integration/result_parser.py</a:t>
            </a:r>
            <a:endParaRPr lang="en-US" sz="1600" dirty="0">
              <a:solidFill>
                <a:srgbClr val="6B6B75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1228725" y="6543675"/>
            <a:ext cx="15830550" cy="1143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7" name="Shape 25"/>
          <p:cNvSpPr/>
          <p:nvPr/>
        </p:nvSpPr>
        <p:spPr>
          <a:xfrm>
            <a:off x="1228725" y="7677150"/>
            <a:ext cx="15830550" cy="9525"/>
          </a:xfrm>
          <a:prstGeom prst="rect">
            <a:avLst/>
          </a:prstGeom>
          <a:solidFill>
            <a:srgbClr val="14141C">
              <a:alpha val="10000"/>
            </a:srgbClr>
          </a:solidFill>
        </p:spPr>
      </p:sp>
      <p:sp>
        <p:nvSpPr>
          <p:cNvPr id="28" name="Shape 26"/>
          <p:cNvSpPr/>
          <p:nvPr/>
        </p:nvSpPr>
        <p:spPr>
          <a:xfrm>
            <a:off x="1228725" y="6543675"/>
            <a:ext cx="3048000" cy="1133475"/>
          </a:xfrm>
          <a:prstGeom prst="rect">
            <a:avLst/>
          </a:prstGeom>
          <a:solidFill>
            <a:srgbClr val="E8EAF3"/>
          </a:solidFill>
        </p:spPr>
      </p:sp>
      <p:sp>
        <p:nvSpPr>
          <p:cNvPr id="29" name="Shape 27"/>
          <p:cNvSpPr/>
          <p:nvPr/>
        </p:nvSpPr>
        <p:spPr>
          <a:xfrm>
            <a:off x="4267200" y="6543675"/>
            <a:ext cx="9525" cy="1133475"/>
          </a:xfrm>
          <a:prstGeom prst="rect">
            <a:avLst/>
          </a:prstGeom>
          <a:solidFill>
            <a:srgbClr val="14141C">
              <a:alpha val="10000"/>
            </a:srgbClr>
          </a:solidFill>
        </p:spPr>
      </p:sp>
      <p:sp>
        <p:nvSpPr>
          <p:cNvPr id="30" name="Text 28"/>
          <p:cNvSpPr/>
          <p:nvPr/>
        </p:nvSpPr>
        <p:spPr>
          <a:xfrm>
            <a:off x="1581785" y="6716395"/>
            <a:ext cx="2543175" cy="2095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400" b="1" kern="0" spc="168" dirty="0">
                <a:solidFill>
                  <a:srgbClr val="2B3A8A"/>
                </a:solidFill>
                <a:latin typeface="宋体" panose="02010600030101010101" pitchFamily="2" charset="-122"/>
                <a:ea typeface="宋体" panose="02010600030101010101" pitchFamily="2" charset="-122"/>
                <a:cs typeface="JetBrains Mono" pitchFamily="34" charset="-120"/>
              </a:rPr>
              <a:t>LAYER 03</a:t>
            </a:r>
            <a:endParaRPr lang="en-US" sz="1400" b="1" kern="0" spc="168" dirty="0">
              <a:solidFill>
                <a:srgbClr val="2B3A8A"/>
              </a:solidFill>
              <a:latin typeface="宋体" panose="02010600030101010101" pitchFamily="2" charset="-122"/>
              <a:ea typeface="宋体" panose="02010600030101010101" pitchFamily="2" charset="-122"/>
              <a:cs typeface="JetBrains Mono" pitchFamily="34" charset="-12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1581785" y="6964045"/>
            <a:ext cx="2543175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5151A"/>
                </a:solidFill>
                <a:latin typeface="Times New Roman" panose="02020603050405020304" charset="0"/>
                <a:ea typeface="PingFang SC" pitchFamily="34" charset="-122"/>
                <a:cs typeface="Times New Roman" panose="02020603050405020304" charset="0"/>
                <a:sym typeface="+mn-ea"/>
              </a:rPr>
              <a:t>Agent </a:t>
            </a:r>
            <a:r>
              <a:rPr lang="en-US" sz="2400" b="1" dirty="0">
                <a:solidFill>
                  <a:srgbClr val="1515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  <a:sym typeface="+mn-ea"/>
              </a:rPr>
              <a:t>编排层</a:t>
            </a:r>
            <a:endParaRPr lang="en-US" sz="2400" dirty="0"/>
          </a:p>
          <a:p>
            <a:pPr marL="0" indent="0" algn="l">
              <a:buNone/>
            </a:pPr>
            <a:endParaRPr lang="en-US" sz="2400" b="1" dirty="0">
              <a:solidFill>
                <a:srgbClr val="15151A"/>
              </a:solidFill>
              <a:latin typeface="宋体" panose="02010600030101010101" pitchFamily="2" charset="-122"/>
              <a:ea typeface="宋体" panose="02010600030101010101" pitchFamily="2" charset="-122"/>
              <a:cs typeface="PingFang SC" pitchFamily="34" charset="-12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10658475" y="6543675"/>
            <a:ext cx="9525" cy="1133475"/>
          </a:xfrm>
          <a:prstGeom prst="rect">
            <a:avLst/>
          </a:prstGeom>
          <a:solidFill>
            <a:srgbClr val="14141C">
              <a:alpha val="10000"/>
            </a:srgbClr>
          </a:solidFill>
        </p:spPr>
      </p:sp>
      <p:sp>
        <p:nvSpPr>
          <p:cNvPr id="33" name="Text 31"/>
          <p:cNvSpPr/>
          <p:nvPr/>
        </p:nvSpPr>
        <p:spPr>
          <a:xfrm>
            <a:off x="4562475" y="6678295"/>
            <a:ext cx="6001988" cy="7143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统一Agent入口</a:t>
            </a:r>
            <a:r>
              <a:rPr lang="zh-CN" altLang="en-US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lang="en-US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会话状态</a:t>
            </a:r>
            <a:r>
              <a:rPr lang="zh-CN" altLang="en-US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lang="en-US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任务分派（问答/状态/结果/控制/记忆/技能/安全）。</a:t>
            </a:r>
            <a:endParaRPr lang="en-US" dirty="0">
              <a:solidFill>
                <a:srgbClr val="2C2C34"/>
              </a:solidFill>
              <a:latin typeface="宋体" panose="02010600030101010101" pitchFamily="2" charset="-122"/>
              <a:ea typeface="宋体" panose="02010600030101010101" pitchFamily="2" charset="-122"/>
              <a:cs typeface="PingFang SC" pitchFamily="34" charset="-12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10953750" y="6772275"/>
            <a:ext cx="6011513" cy="7143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85000"/>
              </a:lnSpc>
              <a:buNone/>
            </a:pPr>
            <a:r>
              <a:rPr lang="en-US" sz="1600" dirty="0">
                <a:solidFill>
                  <a:srgbClr val="6B6B75"/>
                </a:solidFill>
                <a:latin typeface="Times New Roman" panose="02020603050405020304" charset="0"/>
                <a:ea typeface="JetBrains Mono" pitchFamily="34" charset="-122"/>
                <a:cs typeface="Times New Roman" panose="02020603050405020304" charset="0"/>
                <a:sym typeface="+mn-ea"/>
              </a:rPr>
              <a:t>agent_runtime.py</a:t>
            </a:r>
            <a:endParaRPr lang="en-US" sz="1600" dirty="0">
              <a:solidFill>
                <a:srgbClr val="6B6B75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1228725" y="7686675"/>
            <a:ext cx="15830550" cy="1143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6" name="Shape 34"/>
          <p:cNvSpPr/>
          <p:nvPr/>
        </p:nvSpPr>
        <p:spPr>
          <a:xfrm>
            <a:off x="1228725" y="8820150"/>
            <a:ext cx="15830550" cy="9525"/>
          </a:xfrm>
          <a:prstGeom prst="rect">
            <a:avLst/>
          </a:prstGeom>
          <a:solidFill>
            <a:srgbClr val="14141C">
              <a:alpha val="10000"/>
            </a:srgbClr>
          </a:solidFill>
        </p:spPr>
      </p:sp>
      <p:sp>
        <p:nvSpPr>
          <p:cNvPr id="37" name="Shape 35"/>
          <p:cNvSpPr/>
          <p:nvPr/>
        </p:nvSpPr>
        <p:spPr>
          <a:xfrm>
            <a:off x="1228725" y="7686675"/>
            <a:ext cx="3048000" cy="1133475"/>
          </a:xfrm>
          <a:prstGeom prst="rect">
            <a:avLst/>
          </a:prstGeom>
          <a:solidFill>
            <a:srgbClr val="E8EAF3"/>
          </a:solidFill>
        </p:spPr>
      </p:sp>
      <p:sp>
        <p:nvSpPr>
          <p:cNvPr id="38" name="Shape 36"/>
          <p:cNvSpPr/>
          <p:nvPr/>
        </p:nvSpPr>
        <p:spPr>
          <a:xfrm>
            <a:off x="4267200" y="7686675"/>
            <a:ext cx="9525" cy="1133475"/>
          </a:xfrm>
          <a:prstGeom prst="rect">
            <a:avLst/>
          </a:prstGeom>
          <a:solidFill>
            <a:srgbClr val="14141C">
              <a:alpha val="10000"/>
            </a:srgbClr>
          </a:solidFill>
        </p:spPr>
      </p:sp>
      <p:sp>
        <p:nvSpPr>
          <p:cNvPr id="39" name="Text 37"/>
          <p:cNvSpPr/>
          <p:nvPr/>
        </p:nvSpPr>
        <p:spPr>
          <a:xfrm>
            <a:off x="1581785" y="7859395"/>
            <a:ext cx="2543175" cy="2095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400" b="1" kern="0" spc="168" dirty="0">
                <a:solidFill>
                  <a:srgbClr val="2B3A8A"/>
                </a:solidFill>
                <a:latin typeface="宋体" panose="02010600030101010101" pitchFamily="2" charset="-122"/>
                <a:ea typeface="宋体" panose="02010600030101010101" pitchFamily="2" charset="-122"/>
                <a:cs typeface="JetBrains Mono" pitchFamily="34" charset="-120"/>
              </a:rPr>
              <a:t>LAYER 02</a:t>
            </a:r>
            <a:endParaRPr lang="en-US" sz="1400" b="1" kern="0" spc="168" dirty="0">
              <a:solidFill>
                <a:srgbClr val="2B3A8A"/>
              </a:solidFill>
              <a:latin typeface="宋体" panose="02010600030101010101" pitchFamily="2" charset="-122"/>
              <a:ea typeface="宋体" panose="02010600030101010101" pitchFamily="2" charset="-122"/>
              <a:cs typeface="JetBrains Mono" pitchFamily="34" charset="-12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1581785" y="8107045"/>
            <a:ext cx="2543175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515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  <a:sym typeface="+mn-ea"/>
              </a:rPr>
              <a:t>知识与上下文层</a:t>
            </a:r>
            <a:endParaRPr lang="en-US" sz="2400" dirty="0"/>
          </a:p>
          <a:p>
            <a:pPr marL="0" indent="0" algn="l">
              <a:buNone/>
            </a:pPr>
            <a:endParaRPr lang="en-US" sz="2400" b="1" dirty="0">
              <a:solidFill>
                <a:srgbClr val="15151A"/>
              </a:solidFill>
              <a:latin typeface="宋体" panose="02010600030101010101" pitchFamily="2" charset="-122"/>
              <a:ea typeface="宋体" panose="02010600030101010101" pitchFamily="2" charset="-122"/>
              <a:cs typeface="PingFang SC" pitchFamily="34" charset="-120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10658475" y="7686675"/>
            <a:ext cx="9525" cy="1133475"/>
          </a:xfrm>
          <a:prstGeom prst="rect">
            <a:avLst/>
          </a:prstGeom>
          <a:solidFill>
            <a:srgbClr val="14141C">
              <a:alpha val="10000"/>
            </a:srgbClr>
          </a:solidFill>
        </p:spPr>
      </p:sp>
      <p:sp>
        <p:nvSpPr>
          <p:cNvPr id="42" name="Text 40"/>
          <p:cNvSpPr/>
          <p:nvPr/>
        </p:nvSpPr>
        <p:spPr>
          <a:xfrm>
            <a:off x="4562475" y="7820660"/>
            <a:ext cx="6001988" cy="7143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本地知识库构建、混合检索（稠密 + 词项）、任务相关提示词组织、LLM 适配。</a:t>
            </a:r>
            <a:endParaRPr lang="en-US" dirty="0">
              <a:solidFill>
                <a:srgbClr val="2C2C34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10918825" y="7715250"/>
            <a:ext cx="6011545" cy="92519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1600" dirty="0">
                <a:solidFill>
                  <a:srgbClr val="6B6B75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knowledge_base/build_kb.py rag/retriever.py · prompts.py · llm_client.py</a:t>
            </a:r>
            <a:endParaRPr lang="en-US" sz="1600" dirty="0">
              <a:solidFill>
                <a:srgbClr val="6B6B75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1228725" y="8829675"/>
            <a:ext cx="15830550" cy="1133475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5" name="Shape 43"/>
          <p:cNvSpPr/>
          <p:nvPr/>
        </p:nvSpPr>
        <p:spPr>
          <a:xfrm>
            <a:off x="1228725" y="8829675"/>
            <a:ext cx="3048000" cy="1133475"/>
          </a:xfrm>
          <a:prstGeom prst="rect">
            <a:avLst/>
          </a:prstGeom>
          <a:solidFill>
            <a:srgbClr val="E8EAF3"/>
          </a:solidFill>
        </p:spPr>
      </p:sp>
      <p:sp>
        <p:nvSpPr>
          <p:cNvPr id="46" name="Shape 44"/>
          <p:cNvSpPr/>
          <p:nvPr/>
        </p:nvSpPr>
        <p:spPr>
          <a:xfrm>
            <a:off x="4267200" y="8829675"/>
            <a:ext cx="9525" cy="1133475"/>
          </a:xfrm>
          <a:prstGeom prst="rect">
            <a:avLst/>
          </a:prstGeom>
          <a:solidFill>
            <a:srgbClr val="14141C">
              <a:alpha val="10000"/>
            </a:srgbClr>
          </a:solidFill>
        </p:spPr>
      </p:sp>
      <p:sp>
        <p:nvSpPr>
          <p:cNvPr id="47" name="Text 45"/>
          <p:cNvSpPr/>
          <p:nvPr/>
        </p:nvSpPr>
        <p:spPr>
          <a:xfrm>
            <a:off x="1581785" y="9002395"/>
            <a:ext cx="2543175" cy="2095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400" b="1" kern="0" spc="168" dirty="0">
                <a:solidFill>
                  <a:srgbClr val="2B3A8A"/>
                </a:solidFill>
                <a:latin typeface="宋体" panose="02010600030101010101" pitchFamily="2" charset="-122"/>
                <a:ea typeface="宋体" panose="02010600030101010101" pitchFamily="2" charset="-122"/>
                <a:cs typeface="JetBrains Mono" pitchFamily="34" charset="-120"/>
              </a:rPr>
              <a:t>LAYER 01</a:t>
            </a:r>
            <a:endParaRPr lang="en-US" sz="1400" b="1" kern="0" spc="168" dirty="0">
              <a:solidFill>
                <a:srgbClr val="2B3A8A"/>
              </a:solidFill>
              <a:latin typeface="宋体" panose="02010600030101010101" pitchFamily="2" charset="-122"/>
              <a:ea typeface="宋体" panose="02010600030101010101" pitchFamily="2" charset="-122"/>
              <a:cs typeface="JetBrains Mono" pitchFamily="34" charset="-120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1581785" y="9250045"/>
            <a:ext cx="2543175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5151A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</a:rPr>
              <a:t>配置与入口层</a:t>
            </a:r>
            <a:endParaRPr lang="en-US" sz="2400" b="1" dirty="0">
              <a:solidFill>
                <a:srgbClr val="15151A"/>
              </a:solidFill>
              <a:latin typeface="宋体" panose="02010600030101010101" pitchFamily="2" charset="-122"/>
              <a:ea typeface="宋体" panose="02010600030101010101" pitchFamily="2" charset="-122"/>
              <a:cs typeface="PingFang SC" pitchFamily="34" charset="-120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10658475" y="8829675"/>
            <a:ext cx="9525" cy="1133475"/>
          </a:xfrm>
          <a:prstGeom prst="rect">
            <a:avLst/>
          </a:prstGeom>
          <a:solidFill>
            <a:srgbClr val="14141C">
              <a:alpha val="10000"/>
            </a:srgbClr>
          </a:solidFill>
        </p:spPr>
      </p:sp>
      <p:sp>
        <p:nvSpPr>
          <p:cNvPr id="50" name="Text 48"/>
          <p:cNvSpPr/>
          <p:nvPr/>
        </p:nvSpPr>
        <p:spPr>
          <a:xfrm>
            <a:off x="4562475" y="8978900"/>
            <a:ext cx="6002020" cy="7556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配置装配、依赖注入、请求路由；统一管理 provider、向量库、文档路径、运行时开关。</a:t>
            </a:r>
            <a:endParaRPr lang="en-US" dirty="0">
              <a:solidFill>
                <a:srgbClr val="2C2C34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10953750" y="9058275"/>
            <a:ext cx="6011513" cy="7143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1600" dirty="0">
                <a:solidFill>
                  <a:srgbClr val="6B6B75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app.py · config.py</a:t>
            </a:r>
            <a:endParaRPr lang="en-US" sz="1600" dirty="0">
              <a:solidFill>
                <a:srgbClr val="6B6B75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79" name="Text 0"/>
          <p:cNvSpPr/>
          <p:nvPr/>
        </p:nvSpPr>
        <p:spPr>
          <a:xfrm>
            <a:off x="1245870" y="872490"/>
            <a:ext cx="506730" cy="4508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3200" kern="0" spc="162" dirty="0">
                <a:solidFill>
                  <a:srgbClr val="2B3A8A"/>
                </a:solidFill>
                <a:latin typeface="宋体" panose="02010600030101010101" pitchFamily="2" charset="-122"/>
                <a:ea typeface="宋体" panose="02010600030101010101" pitchFamily="2" charset="-122"/>
                <a:cs typeface="JetBrains Mono" pitchFamily="34" charset="-120"/>
              </a:rPr>
              <a:t>04</a:t>
            </a:r>
            <a:endParaRPr lang="en-US" sz="3200" kern="0" spc="162" dirty="0">
              <a:solidFill>
                <a:srgbClr val="2B3A8A"/>
              </a:solidFill>
              <a:latin typeface="宋体" panose="02010600030101010101" pitchFamily="2" charset="-122"/>
              <a:ea typeface="宋体" panose="02010600030101010101" pitchFamily="2" charset="-122"/>
              <a:cs typeface="JetBrains Mono" pitchFamily="34" charset="-120"/>
            </a:endParaRPr>
          </a:p>
        </p:txBody>
      </p:sp>
      <p:sp>
        <p:nvSpPr>
          <p:cNvPr id="80" name="Text 1"/>
          <p:cNvSpPr/>
          <p:nvPr/>
        </p:nvSpPr>
        <p:spPr>
          <a:xfrm>
            <a:off x="1694815" y="876300"/>
            <a:ext cx="3517265" cy="4978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5151A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  <a:sym typeface="+mn-ea"/>
              </a:rPr>
              <a:t> 关键模块实现</a:t>
            </a:r>
            <a:endParaRPr lang="en-US" sz="3200" b="1" dirty="0">
              <a:solidFill>
                <a:srgbClr val="15151A"/>
              </a:solidFill>
              <a:latin typeface="宋体" panose="02010600030101010101" pitchFamily="2" charset="-122"/>
              <a:ea typeface="宋体" panose="02010600030101010101" pitchFamily="2" charset="-122"/>
              <a:cs typeface="PingFang SC" pitchFamily="34" charset="-120"/>
              <a:sym typeface="+mn-ea"/>
            </a:endParaRPr>
          </a:p>
        </p:txBody>
      </p:sp>
      <p:pic>
        <p:nvPicPr>
          <p:cNvPr id="8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9200" y="533400"/>
            <a:ext cx="533400" cy="342900"/>
          </a:xfrm>
          <a:prstGeom prst="rect">
            <a:avLst/>
          </a:prstGeom>
        </p:spPr>
      </p:pic>
      <p:sp>
        <p:nvSpPr>
          <p:cNvPr id="82" name="Shape 2"/>
          <p:cNvSpPr/>
          <p:nvPr/>
        </p:nvSpPr>
        <p:spPr>
          <a:xfrm>
            <a:off x="4859685" y="1085850"/>
            <a:ext cx="12209115" cy="9525"/>
          </a:xfrm>
          <a:prstGeom prst="rect">
            <a:avLst/>
          </a:prstGeom>
          <a:solidFill>
            <a:srgbClr val="14141C">
              <a:alpha val="10000"/>
            </a:srgbClr>
          </a:solidFill>
        </p:spPr>
      </p:sp>
      <p:sp>
        <p:nvSpPr>
          <p:cNvPr id="2" name="Shape 34"/>
          <p:cNvSpPr/>
          <p:nvPr/>
        </p:nvSpPr>
        <p:spPr>
          <a:xfrm>
            <a:off x="1228725" y="5400675"/>
            <a:ext cx="15830550" cy="9525"/>
          </a:xfrm>
          <a:prstGeom prst="rect">
            <a:avLst/>
          </a:prstGeom>
          <a:solidFill>
            <a:srgbClr val="14141C">
              <a:alpha val="10000"/>
            </a:srgbClr>
          </a:solidFill>
        </p:spPr>
      </p:sp>
      <p:sp>
        <p:nvSpPr>
          <p:cNvPr id="3" name="Shape 42"/>
          <p:cNvSpPr/>
          <p:nvPr/>
        </p:nvSpPr>
        <p:spPr>
          <a:xfrm>
            <a:off x="1228725" y="5410200"/>
            <a:ext cx="15830550" cy="1133475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" name="Shape 43"/>
          <p:cNvSpPr/>
          <p:nvPr/>
        </p:nvSpPr>
        <p:spPr>
          <a:xfrm>
            <a:off x="1228725" y="5410200"/>
            <a:ext cx="3048000" cy="1133475"/>
          </a:xfrm>
          <a:prstGeom prst="rect">
            <a:avLst/>
          </a:prstGeom>
          <a:solidFill>
            <a:srgbClr val="E8EAF3"/>
          </a:solidFill>
        </p:spPr>
      </p:sp>
      <p:sp>
        <p:nvSpPr>
          <p:cNvPr id="56" name="Shape 44"/>
          <p:cNvSpPr/>
          <p:nvPr/>
        </p:nvSpPr>
        <p:spPr>
          <a:xfrm>
            <a:off x="4267200" y="5410200"/>
            <a:ext cx="9525" cy="1133475"/>
          </a:xfrm>
          <a:prstGeom prst="rect">
            <a:avLst/>
          </a:prstGeom>
          <a:solidFill>
            <a:srgbClr val="14141C">
              <a:alpha val="10000"/>
            </a:srgbClr>
          </a:solidFill>
        </p:spPr>
      </p:sp>
      <p:sp>
        <p:nvSpPr>
          <p:cNvPr id="57" name="Text 45"/>
          <p:cNvSpPr/>
          <p:nvPr/>
        </p:nvSpPr>
        <p:spPr>
          <a:xfrm>
            <a:off x="1581785" y="5582920"/>
            <a:ext cx="2543175" cy="2095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p>
            <a:pPr marL="0" indent="0" algn="l">
              <a:buNone/>
            </a:pPr>
            <a:r>
              <a:rPr lang="en-US" sz="1400" b="1" kern="0" spc="168" dirty="0">
                <a:solidFill>
                  <a:srgbClr val="2B3A8A"/>
                </a:solidFill>
                <a:latin typeface="宋体" panose="02010600030101010101" pitchFamily="2" charset="-122"/>
                <a:ea typeface="宋体" panose="02010600030101010101" pitchFamily="2" charset="-122"/>
                <a:cs typeface="JetBrains Mono" pitchFamily="34" charset="-120"/>
              </a:rPr>
              <a:t>LAYER 04</a:t>
            </a:r>
            <a:endParaRPr lang="en-US" sz="1400" b="1" kern="0" spc="168" dirty="0">
              <a:solidFill>
                <a:srgbClr val="2B3A8A"/>
              </a:solidFill>
              <a:latin typeface="宋体" panose="02010600030101010101" pitchFamily="2" charset="-122"/>
              <a:ea typeface="宋体" panose="02010600030101010101" pitchFamily="2" charset="-122"/>
              <a:cs typeface="JetBrains Mono" pitchFamily="34" charset="-120"/>
            </a:endParaRPr>
          </a:p>
        </p:txBody>
      </p:sp>
      <p:sp>
        <p:nvSpPr>
          <p:cNvPr id="58" name="Text 46"/>
          <p:cNvSpPr/>
          <p:nvPr/>
        </p:nvSpPr>
        <p:spPr>
          <a:xfrm>
            <a:off x="1581785" y="5830570"/>
            <a:ext cx="2543175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p>
            <a:pPr marL="0" indent="0" algn="l">
              <a:buNone/>
            </a:pPr>
            <a:r>
              <a:rPr lang="en-US" sz="2400" b="1" dirty="0">
                <a:solidFill>
                  <a:srgbClr val="1515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  <a:sym typeface="+mn-ea"/>
              </a:rPr>
              <a:t>工具与安全层</a:t>
            </a:r>
            <a:endParaRPr lang="en-US" sz="2400" b="1" dirty="0">
              <a:solidFill>
                <a:srgbClr val="15151A"/>
              </a:solidFill>
              <a:latin typeface="宋体" panose="02010600030101010101" pitchFamily="2" charset="-122"/>
              <a:ea typeface="宋体" panose="02010600030101010101" pitchFamily="2" charset="-122"/>
              <a:cs typeface="PingFang SC" pitchFamily="34" charset="-120"/>
            </a:endParaRPr>
          </a:p>
        </p:txBody>
      </p:sp>
      <p:sp>
        <p:nvSpPr>
          <p:cNvPr id="62" name="Shape 35"/>
          <p:cNvSpPr/>
          <p:nvPr/>
        </p:nvSpPr>
        <p:spPr>
          <a:xfrm>
            <a:off x="1246505" y="6543675"/>
            <a:ext cx="3030220" cy="1132840"/>
          </a:xfrm>
          <a:prstGeom prst="rect">
            <a:avLst/>
          </a:prstGeom>
          <a:solidFill>
            <a:srgbClr val="C0392B">
              <a:alpha val="8000"/>
            </a:srgbClr>
          </a:solidFill>
        </p:spPr>
      </p:sp>
      <p:sp>
        <p:nvSpPr>
          <p:cNvPr id="59" name="Shape 47"/>
          <p:cNvSpPr/>
          <p:nvPr/>
        </p:nvSpPr>
        <p:spPr>
          <a:xfrm>
            <a:off x="10658475" y="5410200"/>
            <a:ext cx="9525" cy="1133475"/>
          </a:xfrm>
          <a:prstGeom prst="rect">
            <a:avLst/>
          </a:prstGeom>
          <a:solidFill>
            <a:srgbClr val="14141C">
              <a:alpha val="10000"/>
            </a:srgbClr>
          </a:solidFill>
        </p:spPr>
      </p:sp>
      <p:sp>
        <p:nvSpPr>
          <p:cNvPr id="60" name="Text 48"/>
          <p:cNvSpPr/>
          <p:nvPr/>
        </p:nvSpPr>
        <p:spPr>
          <a:xfrm>
            <a:off x="4562475" y="5559425"/>
            <a:ext cx="6002020" cy="7556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p>
            <a:pPr marL="0" indent="0" algn="l">
              <a:lnSpc>
                <a:spcPct val="155000"/>
              </a:lnSpc>
              <a:buNone/>
            </a:pPr>
            <a:r>
              <a:rPr lang="en-US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配置装配、依赖注入、请求路由；统一管理 provider、向量库、文档路径、运行时开关。</a:t>
            </a:r>
            <a:endParaRPr lang="en-US" dirty="0">
              <a:solidFill>
                <a:srgbClr val="2C2C34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1" name="Text 49"/>
          <p:cNvSpPr/>
          <p:nvPr/>
        </p:nvSpPr>
        <p:spPr>
          <a:xfrm>
            <a:off x="10953750" y="5638800"/>
            <a:ext cx="6011513" cy="7143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p>
            <a:pPr marL="0" indent="0" algn="l">
              <a:lnSpc>
                <a:spcPct val="185000"/>
              </a:lnSpc>
              <a:buNone/>
            </a:pPr>
            <a:r>
              <a:rPr lang="en-US" sz="1600" dirty="0">
                <a:solidFill>
                  <a:srgbClr val="6B6B75"/>
                </a:solidFill>
                <a:latin typeface="Times New Roman" panose="02020603050405020304" charset="0"/>
                <a:ea typeface="JetBrains Mono" pitchFamily="34" charset="-122"/>
                <a:cs typeface="Times New Roman" panose="02020603050405020304" charset="0"/>
                <a:sym typeface="+mn-ea"/>
              </a:rPr>
              <a:t>tool_gateway/safety/policy.py  safety_guard.py</a:t>
            </a:r>
            <a:endParaRPr lang="en-US" sz="1600" dirty="0">
              <a:solidFill>
                <a:srgbClr val="6B6B75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52" name="Shape 26"/>
          <p:cNvSpPr/>
          <p:nvPr/>
        </p:nvSpPr>
        <p:spPr>
          <a:xfrm>
            <a:off x="1228725" y="5400675"/>
            <a:ext cx="3048000" cy="1142365"/>
          </a:xfrm>
          <a:prstGeom prst="rect">
            <a:avLst/>
          </a:prstGeom>
          <a:solidFill>
            <a:srgbClr val="C0392B">
              <a:alpha val="8000"/>
            </a:srgbClr>
          </a:solidFill>
        </p:spPr>
      </p:sp>
      <p:sp>
        <p:nvSpPr>
          <p:cNvPr id="63" name="Shape 25"/>
          <p:cNvSpPr/>
          <p:nvPr/>
        </p:nvSpPr>
        <p:spPr>
          <a:xfrm>
            <a:off x="4267200" y="6524625"/>
            <a:ext cx="15830550" cy="9525"/>
          </a:xfrm>
          <a:prstGeom prst="rect">
            <a:avLst/>
          </a:prstGeom>
          <a:solidFill>
            <a:srgbClr val="14141C">
              <a:alpha val="10000"/>
            </a:srgbClr>
          </a:solidFill>
        </p:spPr>
      </p:sp>
      <p:sp>
        <p:nvSpPr>
          <p:cNvPr id="53" name="Shape 27"/>
          <p:cNvSpPr/>
          <p:nvPr/>
        </p:nvSpPr>
        <p:spPr>
          <a:xfrm>
            <a:off x="4200525" y="5400675"/>
            <a:ext cx="76200" cy="1142365"/>
          </a:xfrm>
          <a:prstGeom prst="rect">
            <a:avLst/>
          </a:prstGeom>
          <a:solidFill>
            <a:srgbClr val="C0392B"/>
          </a:solidFill>
        </p:spPr>
      </p:sp>
      <p:sp>
        <p:nvSpPr>
          <p:cNvPr id="64" name="Shape 36"/>
          <p:cNvSpPr/>
          <p:nvPr/>
        </p:nvSpPr>
        <p:spPr>
          <a:xfrm>
            <a:off x="4200525" y="6543675"/>
            <a:ext cx="76200" cy="1132840"/>
          </a:xfrm>
          <a:prstGeom prst="rect">
            <a:avLst/>
          </a:prstGeom>
          <a:solidFill>
            <a:srgbClr val="C0392B"/>
          </a:solidFill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1219200" y="1473835"/>
            <a:ext cx="16325088" cy="7524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90000" lnSpcReduction="20000"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4800" b="1" kern="0" spc="-48" dirty="0">
                <a:solidFill>
                  <a:srgbClr val="15151A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</a:rPr>
              <a:t>知识库与</a:t>
            </a:r>
            <a:r>
              <a:rPr lang="en-US" sz="4800" b="1" kern="0" spc="-48" dirty="0">
                <a:solidFill>
                  <a:srgbClr val="2B3A8A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</a:rPr>
              <a:t>检索增强问答</a:t>
            </a:r>
            <a:endParaRPr lang="en-US" sz="48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19200" y="2108835"/>
            <a:ext cx="1298575" cy="81724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65000"/>
              </a:lnSpc>
              <a:buNone/>
            </a:pPr>
            <a:r>
              <a:rPr lang="en-US" sz="3200" b="1" dirty="0">
                <a:solidFill>
                  <a:srgbClr val="C0392B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</a:rPr>
              <a:t>问题：</a:t>
            </a:r>
            <a:endParaRPr lang="en-US" sz="3200" b="1" dirty="0">
              <a:solidFill>
                <a:srgbClr val="C0392B"/>
              </a:solidFill>
              <a:latin typeface="宋体" panose="02010600030101010101" pitchFamily="2" charset="-122"/>
              <a:ea typeface="宋体" panose="02010600030101010101" pitchFamily="2" charset="-122"/>
              <a:cs typeface="PingFang SC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219200" y="2879725"/>
            <a:ext cx="8873490" cy="7905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65000"/>
              </a:lnSpc>
              <a:buNone/>
            </a:pPr>
            <a:r>
              <a:rPr lang="en-US" sz="2000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</a:rPr>
              <a:t>专业场景下，若模型仅靠参数化记忆，回答易出现事实漂移、依据不清、难以更新。</a:t>
            </a:r>
            <a:endParaRPr lang="en-US" sz="2000" dirty="0">
              <a:solidFill>
                <a:srgbClr val="2C2C34"/>
              </a:solidFill>
              <a:latin typeface="宋体" panose="02010600030101010101" pitchFamily="2" charset="-122"/>
              <a:ea typeface="宋体" panose="02010600030101010101" pitchFamily="2" charset="-122"/>
              <a:cs typeface="PingFang SC" pitchFamily="34" charset="-12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219200" y="3807460"/>
            <a:ext cx="1573530" cy="838200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lstStyle/>
          <a:p>
            <a:pPr marL="0" algn="l">
              <a:lnSpc>
                <a:spcPct val="165000"/>
              </a:lnSpc>
              <a:buClrTx/>
              <a:buSzTx/>
              <a:buFontTx/>
              <a:buNone/>
            </a:pPr>
            <a:r>
              <a:rPr lang="en-US" sz="3200" b="1" dirty="0">
                <a:solidFill>
                  <a:srgbClr val="C0392B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</a:rPr>
              <a:t>做法：</a:t>
            </a:r>
            <a:endParaRPr lang="en-US" sz="3200" b="1" dirty="0">
              <a:solidFill>
                <a:srgbClr val="C0392B"/>
              </a:solidFill>
              <a:latin typeface="宋体" panose="02010600030101010101" pitchFamily="2" charset="-122"/>
              <a:ea typeface="宋体" panose="02010600030101010101" pitchFamily="2" charset="-122"/>
              <a:cs typeface="PingFang SC" pitchFamily="34" charset="-12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220470" y="4535170"/>
            <a:ext cx="5113020" cy="6191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algn="l">
              <a:lnSpc>
                <a:spcPct val="165000"/>
              </a:lnSpc>
              <a:buClrTx/>
              <a:buSzTx/>
              <a:buFontTx/>
              <a:buNone/>
            </a:pPr>
            <a:r>
              <a:rPr lang="en-US" sz="2000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</a:rPr>
              <a:t>每一次回答都建立在</a:t>
            </a:r>
            <a:r>
              <a:rPr lang="en-US" sz="2000" u="sng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</a:rPr>
              <a:t>当前检索到的资料</a:t>
            </a:r>
            <a:r>
              <a:rPr lang="en-US" sz="2000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</a:rPr>
              <a:t>之上</a:t>
            </a:r>
            <a:endParaRPr lang="en-US" sz="2000" dirty="0">
              <a:solidFill>
                <a:srgbClr val="2C2C34"/>
              </a:solidFill>
              <a:latin typeface="宋体" panose="02010600030101010101" pitchFamily="2" charset="-122"/>
              <a:ea typeface="宋体" panose="02010600030101010101" pitchFamily="2" charset="-122"/>
              <a:cs typeface="PingFang SC" pitchFamily="34" charset="-12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457575" y="4552950"/>
            <a:ext cx="2057400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60000"/>
          </a:bodyPr>
          <a:lstStyle/>
          <a:p>
            <a:pPr marL="0" indent="0" algn="l">
              <a:lnSpc>
                <a:spcPct val="165000"/>
              </a:lnSpc>
              <a:buNone/>
            </a:pPr>
            <a:endParaRPr lang="en-US" sz="1950" u="sng" dirty="0">
              <a:solidFill>
                <a:srgbClr val="C0392B"/>
              </a:solidFill>
              <a:latin typeface="宋体" panose="02010600030101010101" pitchFamily="2" charset="-122"/>
              <a:ea typeface="宋体" panose="02010600030101010101" pitchFamily="2" charset="-122"/>
              <a:cs typeface="PingFang SC" pitchFamily="34" charset="-12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228725" y="5200650"/>
            <a:ext cx="8521065" cy="2318385"/>
          </a:xfrm>
          <a:prstGeom prst="rect">
            <a:avLst/>
          </a:prstGeom>
          <a:ln w="9525">
            <a:solidFill>
              <a:srgbClr val="14141C">
                <a:alpha val="2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34440" y="5210175"/>
            <a:ext cx="2758440" cy="229616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4" name="Shape 12"/>
          <p:cNvSpPr/>
          <p:nvPr/>
        </p:nvSpPr>
        <p:spPr>
          <a:xfrm>
            <a:off x="3993515" y="5210175"/>
            <a:ext cx="76200" cy="2296160"/>
          </a:xfrm>
          <a:prstGeom prst="rect">
            <a:avLst/>
          </a:prstGeom>
          <a:solidFill>
            <a:srgbClr val="14141C">
              <a:alpha val="10000"/>
            </a:srgbClr>
          </a:solidFill>
        </p:spPr>
      </p:sp>
      <p:sp>
        <p:nvSpPr>
          <p:cNvPr id="16" name="Text 14"/>
          <p:cNvSpPr/>
          <p:nvPr/>
        </p:nvSpPr>
        <p:spPr>
          <a:xfrm>
            <a:off x="1673225" y="5409565"/>
            <a:ext cx="1880870" cy="469900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15151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加载 + 清洗</a:t>
            </a:r>
            <a:endParaRPr lang="en-US" sz="2400" b="1" dirty="0">
              <a:solidFill>
                <a:srgbClr val="15151A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505585" y="6029325"/>
            <a:ext cx="2287270" cy="990600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6B6B7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Markdown / TXT / PDF / DOCX，内容探测优先、后缀兜底</a:t>
            </a:r>
            <a:endParaRPr lang="en-US" sz="1600" dirty="0">
              <a:solidFill>
                <a:srgbClr val="6B6B7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065270" y="5210175"/>
            <a:ext cx="2692400" cy="229616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9" name="Shape 17"/>
          <p:cNvSpPr/>
          <p:nvPr/>
        </p:nvSpPr>
        <p:spPr>
          <a:xfrm>
            <a:off x="6757670" y="5210175"/>
            <a:ext cx="76200" cy="2296160"/>
          </a:xfrm>
          <a:prstGeom prst="rect">
            <a:avLst/>
          </a:prstGeom>
          <a:solidFill>
            <a:srgbClr val="14141C">
              <a:alpha val="10000"/>
            </a:srgbClr>
          </a:solidFill>
        </p:spPr>
      </p:sp>
      <p:sp>
        <p:nvSpPr>
          <p:cNvPr id="21" name="Text 19"/>
          <p:cNvSpPr/>
          <p:nvPr/>
        </p:nvSpPr>
        <p:spPr>
          <a:xfrm>
            <a:off x="4996180" y="5454650"/>
            <a:ext cx="758190" cy="494665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lstStyle/>
          <a:p>
            <a:pPr marL="0" algn="l">
              <a:lnSpc>
                <a:spcPct val="125000"/>
              </a:lnSpc>
              <a:buClrTx/>
              <a:buSzTx/>
              <a:buFontTx/>
              <a:buNone/>
            </a:pPr>
            <a:r>
              <a:rPr lang="en-US" sz="2400" b="1" dirty="0">
                <a:solidFill>
                  <a:srgbClr val="15151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分块</a:t>
            </a:r>
            <a:endParaRPr lang="en-US" sz="2400" b="1" dirty="0">
              <a:solidFill>
                <a:srgbClr val="15151A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268470" y="6086475"/>
            <a:ext cx="2356485" cy="990600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6B6B7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按标题与句子边界，保留 source</a:t>
            </a:r>
            <a:r>
              <a:rPr lang="zh-CN" altLang="en-US" sz="1600" dirty="0">
                <a:solidFill>
                  <a:srgbClr val="6B6B7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sz="1600" dirty="0">
                <a:solidFill>
                  <a:srgbClr val="6B6B7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section</a:t>
            </a:r>
            <a:r>
              <a:rPr lang="zh-CN" altLang="en-US" sz="1600" dirty="0">
                <a:solidFill>
                  <a:srgbClr val="6B6B7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sz="1600" dirty="0">
                <a:solidFill>
                  <a:srgbClr val="6B6B7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type 元信息</a:t>
            </a:r>
            <a:endParaRPr lang="en-US" sz="1600" dirty="0">
              <a:solidFill>
                <a:srgbClr val="6B6B7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837680" y="5208270"/>
            <a:ext cx="2910205" cy="2300605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5" name="Text 23"/>
          <p:cNvSpPr/>
          <p:nvPr/>
        </p:nvSpPr>
        <p:spPr>
          <a:xfrm>
            <a:off x="7734935" y="5454650"/>
            <a:ext cx="1115695" cy="494665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15151A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</a:rPr>
              <a:t>向量化</a:t>
            </a:r>
            <a:endParaRPr lang="en-US" sz="2400" b="1" dirty="0">
              <a:solidFill>
                <a:srgbClr val="15151A"/>
              </a:solidFill>
              <a:latin typeface="宋体" panose="02010600030101010101" pitchFamily="2" charset="-122"/>
              <a:ea typeface="宋体" panose="02010600030101010101" pitchFamily="2" charset="-122"/>
              <a:cs typeface="PingFang SC" pitchFamily="34" charset="-12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7033895" y="6086475"/>
            <a:ext cx="2365375" cy="675005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6B6B7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Chroma 持久化；支持上传与重建</a:t>
            </a:r>
            <a:endParaRPr lang="en-US" sz="1600" dirty="0">
              <a:solidFill>
                <a:srgbClr val="6B6B7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990600" y="8403590"/>
            <a:ext cx="9531350" cy="962025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0" name="Shape 28"/>
          <p:cNvSpPr/>
          <p:nvPr/>
        </p:nvSpPr>
        <p:spPr>
          <a:xfrm>
            <a:off x="952500" y="8406765"/>
            <a:ext cx="76200" cy="957580"/>
          </a:xfrm>
          <a:prstGeom prst="rect">
            <a:avLst/>
          </a:prstGeom>
          <a:solidFill>
            <a:srgbClr val="2B3A8A"/>
          </a:solidFill>
        </p:spPr>
      </p:sp>
      <p:sp>
        <p:nvSpPr>
          <p:cNvPr id="33" name="Text 31"/>
          <p:cNvSpPr/>
          <p:nvPr/>
        </p:nvSpPr>
        <p:spPr>
          <a:xfrm>
            <a:off x="1028700" y="8362950"/>
            <a:ext cx="14143990" cy="762000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2000" b="1" dirty="0">
                <a:solidFill>
                  <a:srgbClr val="C0392B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稠密向量 </a:t>
            </a:r>
            <a:r>
              <a:rPr lang="en-US" sz="2000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处理“表述不一致但语义相近”；</a:t>
            </a:r>
            <a:endParaRPr lang="en-US" sz="2000" dirty="0">
              <a:solidFill>
                <a:srgbClr val="2C2C34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0" algn="l">
              <a:lnSpc>
                <a:spcPct val="160000"/>
              </a:lnSpc>
              <a:buNone/>
            </a:pPr>
            <a:r>
              <a:rPr lang="en-US" sz="2000" b="1" dirty="0">
                <a:solidFill>
                  <a:srgbClr val="C0392B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词项统计 </a:t>
            </a:r>
            <a:r>
              <a:rPr lang="en-US" sz="2000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处理"直接命中专业术语"。融合排序后统一组织为带来源标记的上下文块。</a:t>
            </a:r>
            <a:endParaRPr lang="en-US" sz="2000" dirty="0">
              <a:solidFill>
                <a:srgbClr val="2C2C34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Shape 2"/>
          <p:cNvSpPr/>
          <p:nvPr/>
        </p:nvSpPr>
        <p:spPr>
          <a:xfrm>
            <a:off x="4859685" y="1085850"/>
            <a:ext cx="12209115" cy="9525"/>
          </a:xfrm>
          <a:prstGeom prst="rect">
            <a:avLst/>
          </a:prstGeom>
          <a:solidFill>
            <a:srgbClr val="14141C">
              <a:alpha val="10000"/>
            </a:srgbClr>
          </a:solidFill>
        </p:spPr>
      </p:sp>
      <p:sp>
        <p:nvSpPr>
          <p:cNvPr id="43" name="Text 0"/>
          <p:cNvSpPr/>
          <p:nvPr/>
        </p:nvSpPr>
        <p:spPr>
          <a:xfrm>
            <a:off x="1220470" y="837565"/>
            <a:ext cx="506730" cy="4508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p>
            <a:pPr marL="0" indent="0" algn="l">
              <a:buNone/>
            </a:pPr>
            <a:r>
              <a:rPr lang="en-US" sz="3200" kern="0" spc="162" dirty="0">
                <a:solidFill>
                  <a:srgbClr val="2B3A8A"/>
                </a:solidFill>
                <a:latin typeface="宋体" panose="02010600030101010101" pitchFamily="2" charset="-122"/>
                <a:ea typeface="宋体" panose="02010600030101010101" pitchFamily="2" charset="-122"/>
                <a:cs typeface="JetBrains Mono" pitchFamily="34" charset="-120"/>
              </a:rPr>
              <a:t>04</a:t>
            </a:r>
            <a:endParaRPr lang="en-US" sz="3200" kern="0" spc="162" dirty="0">
              <a:solidFill>
                <a:srgbClr val="2B3A8A"/>
              </a:solidFill>
              <a:latin typeface="宋体" panose="02010600030101010101" pitchFamily="2" charset="-122"/>
              <a:ea typeface="宋体" panose="02010600030101010101" pitchFamily="2" charset="-122"/>
              <a:cs typeface="JetBrains Mono" pitchFamily="34" charset="-120"/>
            </a:endParaRPr>
          </a:p>
        </p:txBody>
      </p:sp>
      <p:sp>
        <p:nvSpPr>
          <p:cNvPr id="44" name="Text 1"/>
          <p:cNvSpPr/>
          <p:nvPr/>
        </p:nvSpPr>
        <p:spPr>
          <a:xfrm>
            <a:off x="1669415" y="841375"/>
            <a:ext cx="3517265" cy="4978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p>
            <a:pPr marL="0" indent="0" algn="l">
              <a:buNone/>
            </a:pPr>
            <a:r>
              <a:rPr lang="en-US" sz="3200" b="1" dirty="0">
                <a:solidFill>
                  <a:srgbClr val="15151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关键模块实现</a:t>
            </a:r>
            <a:endParaRPr lang="en-US" sz="3200" b="1" dirty="0">
              <a:solidFill>
                <a:srgbClr val="15151A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03280" y="1548130"/>
            <a:ext cx="6764655" cy="78860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1219200" y="1419225"/>
            <a:ext cx="16325088" cy="7524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80000"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4800" b="1" kern="0" spc="-48" dirty="0">
                <a:solidFill>
                  <a:srgbClr val="15151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意图识别 + </a:t>
            </a:r>
            <a:r>
              <a:rPr lang="en-US" sz="4800" b="1" kern="0" spc="-48" dirty="0">
                <a:solidFill>
                  <a:srgbClr val="2B3A8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结构化命令生成</a:t>
            </a:r>
            <a:endParaRPr lang="en-US" sz="4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19200" y="2343150"/>
            <a:ext cx="13735050" cy="5048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90000" lnSpcReduction="2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400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面对操作请求，系统 </a:t>
            </a:r>
            <a:r>
              <a:rPr lang="en-US" sz="2400" b="1" dirty="0">
                <a:solidFill>
                  <a:srgbClr val="C0392B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不替用户决定关键参数</a:t>
            </a:r>
            <a:r>
              <a:rPr lang="en-US" sz="2400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lang="en-US" sz="2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487680" y="3684270"/>
            <a:ext cx="7928610" cy="3627120"/>
            <a:chOff x="1920" y="5355"/>
            <a:chExt cx="10964" cy="4289"/>
          </a:xfrm>
        </p:grpSpPr>
        <p:sp>
          <p:nvSpPr>
            <p:cNvPr id="8" name="Shape 6"/>
            <p:cNvSpPr/>
            <p:nvPr/>
          </p:nvSpPr>
          <p:spPr>
            <a:xfrm>
              <a:off x="1920" y="5355"/>
              <a:ext cx="10964" cy="87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14141C">
                  <a:alpha val="10000"/>
                </a:srgbClr>
              </a:solidFill>
              <a:prstDash val="solid"/>
            </a:ln>
          </p:spPr>
        </p:sp>
        <p:sp>
          <p:nvSpPr>
            <p:cNvPr id="9" name="Text 7"/>
            <p:cNvSpPr/>
            <p:nvPr/>
          </p:nvSpPr>
          <p:spPr>
            <a:xfrm>
              <a:off x="2265" y="5655"/>
              <a:ext cx="1200" cy="330"/>
            </a:xfrm>
            <a:prstGeom prst="rect">
              <a:avLst/>
            </a:prstGeom>
            <a:noFill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050" kern="0" spc="168" dirty="0">
                  <a:solidFill>
                    <a:srgbClr val="2B3A8A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JetBrains Mono" pitchFamily="34" charset="-120"/>
                </a:rPr>
                <a:t>QUERY</a:t>
              </a:r>
              <a:endParaRPr lang="en-US" sz="1050" kern="0" spc="168" dirty="0">
                <a:solidFill>
                  <a:srgbClr val="2B3A8A"/>
                </a:solidFill>
                <a:latin typeface="宋体" panose="02010600030101010101" pitchFamily="2" charset="-122"/>
                <a:ea typeface="宋体" panose="02010600030101010101" pitchFamily="2" charset="-122"/>
                <a:cs typeface="JetBrains Mono" pitchFamily="34" charset="-120"/>
              </a:endParaRPr>
            </a:p>
          </p:txBody>
        </p:sp>
        <p:sp>
          <p:nvSpPr>
            <p:cNvPr id="10" name="Text 8"/>
            <p:cNvSpPr/>
            <p:nvPr/>
          </p:nvSpPr>
          <p:spPr>
            <a:xfrm>
              <a:off x="3615" y="5580"/>
              <a:ext cx="2220" cy="480"/>
            </a:xfrm>
            <a:prstGeom prst="rect">
              <a:avLst/>
            </a:prstGeom>
            <a:noFill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500" b="1" dirty="0">
                  <a:solidFill>
                    <a:srgbClr val="15151A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PingFang SC" pitchFamily="34" charset="-120"/>
                </a:rPr>
                <a:t>参数问答</a:t>
              </a:r>
              <a:endParaRPr lang="en-US" sz="1500" b="1" dirty="0">
                <a:solidFill>
                  <a:srgbClr val="15151A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</a:endParaRPr>
            </a:p>
          </p:txBody>
        </p:sp>
        <p:sp>
          <p:nvSpPr>
            <p:cNvPr id="11" name="Text 9"/>
            <p:cNvSpPr/>
            <p:nvPr/>
          </p:nvSpPr>
          <p:spPr>
            <a:xfrm>
              <a:off x="5985" y="5595"/>
              <a:ext cx="6750" cy="450"/>
            </a:xfrm>
            <a:prstGeom prst="rect">
              <a:avLst/>
            </a:prstGeom>
            <a:noFill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l">
                <a:lnSpc>
                  <a:spcPct val="140000"/>
                </a:lnSpc>
                <a:buNone/>
              </a:pPr>
              <a:r>
                <a:rPr lang="en-US" sz="1425" dirty="0">
                  <a:solidFill>
                    <a:srgbClr val="2C2C34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PingFang SC" pitchFamily="34" charset="-120"/>
                </a:rPr>
                <a:t>知识检索链路</a:t>
              </a:r>
              <a:endParaRPr lang="en-US" sz="1425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</a:endParaRPr>
            </a:p>
          </p:txBody>
        </p:sp>
        <p:sp>
          <p:nvSpPr>
            <p:cNvPr id="12" name="Shape 10"/>
            <p:cNvSpPr/>
            <p:nvPr/>
          </p:nvSpPr>
          <p:spPr>
            <a:xfrm>
              <a:off x="1920" y="6225"/>
              <a:ext cx="10964" cy="855"/>
            </a:xfrm>
            <a:prstGeom prst="rect">
              <a:avLst/>
            </a:prstGeom>
            <a:solidFill>
              <a:srgbClr val="FFFFFF"/>
            </a:solidFill>
          </p:spPr>
        </p:sp>
        <p:sp>
          <p:nvSpPr>
            <p:cNvPr id="13" name="Shape 11"/>
            <p:cNvSpPr/>
            <p:nvPr/>
          </p:nvSpPr>
          <p:spPr>
            <a:xfrm>
              <a:off x="1920" y="7065"/>
              <a:ext cx="10964" cy="15"/>
            </a:xfrm>
            <a:prstGeom prst="rect">
              <a:avLst/>
            </a:prstGeom>
            <a:solidFill>
              <a:srgbClr val="14141C">
                <a:alpha val="10000"/>
              </a:srgbClr>
            </a:solidFill>
          </p:spPr>
        </p:sp>
        <p:sp>
          <p:nvSpPr>
            <p:cNvPr id="14" name="Shape 12"/>
            <p:cNvSpPr/>
            <p:nvPr/>
          </p:nvSpPr>
          <p:spPr>
            <a:xfrm>
              <a:off x="1920" y="6225"/>
              <a:ext cx="15" cy="855"/>
            </a:xfrm>
            <a:prstGeom prst="rect">
              <a:avLst/>
            </a:prstGeom>
            <a:solidFill>
              <a:srgbClr val="14141C">
                <a:alpha val="10000"/>
              </a:srgbClr>
            </a:solidFill>
          </p:spPr>
        </p:sp>
        <p:sp>
          <p:nvSpPr>
            <p:cNvPr id="15" name="Shape 13"/>
            <p:cNvSpPr/>
            <p:nvPr/>
          </p:nvSpPr>
          <p:spPr>
            <a:xfrm>
              <a:off x="12869" y="6225"/>
              <a:ext cx="15" cy="855"/>
            </a:xfrm>
            <a:prstGeom prst="rect">
              <a:avLst/>
            </a:prstGeom>
            <a:solidFill>
              <a:srgbClr val="14141C">
                <a:alpha val="10000"/>
              </a:srgbClr>
            </a:solidFill>
          </p:spPr>
        </p:sp>
        <p:sp>
          <p:nvSpPr>
            <p:cNvPr id="16" name="Text 14"/>
            <p:cNvSpPr/>
            <p:nvPr/>
          </p:nvSpPr>
          <p:spPr>
            <a:xfrm>
              <a:off x="2265" y="6510"/>
              <a:ext cx="1200" cy="330"/>
            </a:xfrm>
            <a:prstGeom prst="rect">
              <a:avLst/>
            </a:prstGeom>
            <a:noFill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050" kern="0" spc="168" dirty="0">
                  <a:solidFill>
                    <a:srgbClr val="2B3A8A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JetBrains Mono" pitchFamily="34" charset="-120"/>
                </a:rPr>
                <a:t>OPER.</a:t>
              </a:r>
              <a:endParaRPr lang="en-US" sz="1050" kern="0" spc="168" dirty="0">
                <a:solidFill>
                  <a:srgbClr val="2B3A8A"/>
                </a:solidFill>
                <a:latin typeface="宋体" panose="02010600030101010101" pitchFamily="2" charset="-122"/>
                <a:ea typeface="宋体" panose="02010600030101010101" pitchFamily="2" charset="-122"/>
                <a:cs typeface="JetBrains Mono" pitchFamily="34" charset="-120"/>
              </a:endParaRPr>
            </a:p>
          </p:txBody>
        </p:sp>
        <p:sp>
          <p:nvSpPr>
            <p:cNvPr id="17" name="Text 15"/>
            <p:cNvSpPr/>
            <p:nvPr/>
          </p:nvSpPr>
          <p:spPr>
            <a:xfrm>
              <a:off x="3615" y="6435"/>
              <a:ext cx="2220" cy="480"/>
            </a:xfrm>
            <a:prstGeom prst="rect">
              <a:avLst/>
            </a:prstGeom>
            <a:noFill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500" b="1" dirty="0">
                  <a:solidFill>
                    <a:srgbClr val="15151A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PingFang SC" pitchFamily="34" charset="-120"/>
                </a:rPr>
                <a:t>扫描操作</a:t>
              </a:r>
              <a:endParaRPr lang="en-US" sz="1500" b="1" dirty="0">
                <a:solidFill>
                  <a:srgbClr val="15151A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</a:endParaRPr>
            </a:p>
          </p:txBody>
        </p:sp>
        <p:sp>
          <p:nvSpPr>
            <p:cNvPr id="18" name="Text 16"/>
            <p:cNvSpPr/>
            <p:nvPr/>
          </p:nvSpPr>
          <p:spPr>
            <a:xfrm>
              <a:off x="5985" y="6450"/>
              <a:ext cx="6750" cy="450"/>
            </a:xfrm>
            <a:prstGeom prst="rect">
              <a:avLst/>
            </a:prstGeom>
            <a:noFill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l">
                <a:lnSpc>
                  <a:spcPct val="140000"/>
                </a:lnSpc>
                <a:buNone/>
              </a:pPr>
              <a:r>
                <a:rPr lang="en-US" sz="1425" dirty="0">
                  <a:solidFill>
                    <a:srgbClr val="2C2C34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字段抽取 + 命令生成</a:t>
              </a:r>
              <a:endParaRPr lang="en-US" sz="1425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9" name="Shape 17"/>
            <p:cNvSpPr/>
            <p:nvPr/>
          </p:nvSpPr>
          <p:spPr>
            <a:xfrm>
              <a:off x="1920" y="7080"/>
              <a:ext cx="10964" cy="855"/>
            </a:xfrm>
            <a:prstGeom prst="rect">
              <a:avLst/>
            </a:prstGeom>
            <a:solidFill>
              <a:srgbClr val="FFFFFF"/>
            </a:solidFill>
          </p:spPr>
        </p:sp>
        <p:sp>
          <p:nvSpPr>
            <p:cNvPr id="20" name="Shape 18"/>
            <p:cNvSpPr/>
            <p:nvPr/>
          </p:nvSpPr>
          <p:spPr>
            <a:xfrm>
              <a:off x="1920" y="7920"/>
              <a:ext cx="10964" cy="15"/>
            </a:xfrm>
            <a:prstGeom prst="rect">
              <a:avLst/>
            </a:prstGeom>
            <a:solidFill>
              <a:srgbClr val="14141C">
                <a:alpha val="10000"/>
              </a:srgbClr>
            </a:solidFill>
          </p:spPr>
        </p:sp>
        <p:sp>
          <p:nvSpPr>
            <p:cNvPr id="21" name="Shape 19"/>
            <p:cNvSpPr/>
            <p:nvPr/>
          </p:nvSpPr>
          <p:spPr>
            <a:xfrm>
              <a:off x="1920" y="7080"/>
              <a:ext cx="15" cy="855"/>
            </a:xfrm>
            <a:prstGeom prst="rect">
              <a:avLst/>
            </a:prstGeom>
            <a:solidFill>
              <a:srgbClr val="14141C">
                <a:alpha val="10000"/>
              </a:srgbClr>
            </a:solidFill>
          </p:spPr>
        </p:sp>
        <p:sp>
          <p:nvSpPr>
            <p:cNvPr id="22" name="Shape 20"/>
            <p:cNvSpPr/>
            <p:nvPr/>
          </p:nvSpPr>
          <p:spPr>
            <a:xfrm>
              <a:off x="12869" y="7080"/>
              <a:ext cx="15" cy="855"/>
            </a:xfrm>
            <a:prstGeom prst="rect">
              <a:avLst/>
            </a:prstGeom>
            <a:solidFill>
              <a:srgbClr val="14141C">
                <a:alpha val="10000"/>
              </a:srgbClr>
            </a:solidFill>
          </p:spPr>
        </p:sp>
        <p:sp>
          <p:nvSpPr>
            <p:cNvPr id="23" name="Text 21"/>
            <p:cNvSpPr/>
            <p:nvPr/>
          </p:nvSpPr>
          <p:spPr>
            <a:xfrm>
              <a:off x="2265" y="7365"/>
              <a:ext cx="1200" cy="330"/>
            </a:xfrm>
            <a:prstGeom prst="rect">
              <a:avLst/>
            </a:prstGeom>
            <a:noFill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050" kern="0" spc="168" dirty="0">
                  <a:solidFill>
                    <a:srgbClr val="2B3A8A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JetBrains Mono" pitchFamily="34" charset="-120"/>
                </a:rPr>
                <a:t>INTRP</a:t>
              </a:r>
              <a:endParaRPr lang="en-US" sz="1050" kern="0" spc="168" dirty="0">
                <a:solidFill>
                  <a:srgbClr val="2B3A8A"/>
                </a:solidFill>
                <a:latin typeface="宋体" panose="02010600030101010101" pitchFamily="2" charset="-122"/>
                <a:ea typeface="宋体" panose="02010600030101010101" pitchFamily="2" charset="-122"/>
                <a:cs typeface="JetBrains Mono" pitchFamily="34" charset="-120"/>
              </a:endParaRPr>
            </a:p>
          </p:txBody>
        </p:sp>
        <p:sp>
          <p:nvSpPr>
            <p:cNvPr id="24" name="Text 22"/>
            <p:cNvSpPr/>
            <p:nvPr/>
          </p:nvSpPr>
          <p:spPr>
            <a:xfrm>
              <a:off x="3615" y="7290"/>
              <a:ext cx="2220" cy="480"/>
            </a:xfrm>
            <a:prstGeom prst="rect">
              <a:avLst/>
            </a:prstGeom>
            <a:noFill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500" b="1" dirty="0">
                  <a:solidFill>
                    <a:srgbClr val="15151A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PingFang SC" pitchFamily="34" charset="-120"/>
                </a:rPr>
                <a:t>结果解读</a:t>
              </a:r>
              <a:endParaRPr lang="en-US" sz="1500" b="1" dirty="0">
                <a:solidFill>
                  <a:srgbClr val="15151A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</a:endParaRPr>
            </a:p>
          </p:txBody>
        </p:sp>
        <p:sp>
          <p:nvSpPr>
            <p:cNvPr id="25" name="Text 23"/>
            <p:cNvSpPr/>
            <p:nvPr/>
          </p:nvSpPr>
          <p:spPr>
            <a:xfrm>
              <a:off x="5985" y="7305"/>
              <a:ext cx="6750" cy="450"/>
            </a:xfrm>
            <a:prstGeom prst="rect">
              <a:avLst/>
            </a:prstGeom>
            <a:noFill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l">
                <a:lnSpc>
                  <a:spcPct val="140000"/>
                </a:lnSpc>
                <a:buNone/>
              </a:pPr>
              <a:r>
                <a:rPr lang="en-US" sz="1425" dirty="0">
                  <a:solidFill>
                    <a:srgbClr val="2C2C34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解析 + 解释链路</a:t>
              </a:r>
              <a:endParaRPr lang="en-US" sz="1425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26" name="Shape 24"/>
            <p:cNvSpPr/>
            <p:nvPr/>
          </p:nvSpPr>
          <p:spPr>
            <a:xfrm>
              <a:off x="1920" y="7935"/>
              <a:ext cx="10964" cy="855"/>
            </a:xfrm>
            <a:prstGeom prst="rect">
              <a:avLst/>
            </a:prstGeom>
            <a:solidFill>
              <a:srgbClr val="FFFFFF"/>
            </a:solidFill>
          </p:spPr>
        </p:sp>
        <p:sp>
          <p:nvSpPr>
            <p:cNvPr id="27" name="Shape 25"/>
            <p:cNvSpPr/>
            <p:nvPr/>
          </p:nvSpPr>
          <p:spPr>
            <a:xfrm>
              <a:off x="1920" y="8775"/>
              <a:ext cx="10964" cy="15"/>
            </a:xfrm>
            <a:prstGeom prst="rect">
              <a:avLst/>
            </a:prstGeom>
            <a:solidFill>
              <a:srgbClr val="14141C">
                <a:alpha val="10000"/>
              </a:srgbClr>
            </a:solidFill>
          </p:spPr>
        </p:sp>
        <p:sp>
          <p:nvSpPr>
            <p:cNvPr id="28" name="Shape 26"/>
            <p:cNvSpPr/>
            <p:nvPr/>
          </p:nvSpPr>
          <p:spPr>
            <a:xfrm>
              <a:off x="1920" y="7935"/>
              <a:ext cx="15" cy="855"/>
            </a:xfrm>
            <a:prstGeom prst="rect">
              <a:avLst/>
            </a:prstGeom>
            <a:solidFill>
              <a:srgbClr val="14141C">
                <a:alpha val="10000"/>
              </a:srgbClr>
            </a:solidFill>
          </p:spPr>
        </p:sp>
        <p:sp>
          <p:nvSpPr>
            <p:cNvPr id="29" name="Shape 27"/>
            <p:cNvSpPr/>
            <p:nvPr/>
          </p:nvSpPr>
          <p:spPr>
            <a:xfrm>
              <a:off x="12869" y="7935"/>
              <a:ext cx="15" cy="855"/>
            </a:xfrm>
            <a:prstGeom prst="rect">
              <a:avLst/>
            </a:prstGeom>
            <a:solidFill>
              <a:srgbClr val="14141C">
                <a:alpha val="10000"/>
              </a:srgbClr>
            </a:solidFill>
          </p:spPr>
        </p:sp>
        <p:sp>
          <p:nvSpPr>
            <p:cNvPr id="30" name="Text 28"/>
            <p:cNvSpPr/>
            <p:nvPr/>
          </p:nvSpPr>
          <p:spPr>
            <a:xfrm>
              <a:off x="2265" y="8220"/>
              <a:ext cx="1200" cy="330"/>
            </a:xfrm>
            <a:prstGeom prst="rect">
              <a:avLst/>
            </a:prstGeom>
            <a:noFill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050" kern="0" spc="168" dirty="0">
                  <a:solidFill>
                    <a:srgbClr val="2B3A8A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JetBrains Mono" pitchFamily="34" charset="-120"/>
                </a:rPr>
                <a:t>GUIDE</a:t>
              </a:r>
              <a:endParaRPr lang="en-US" sz="1050" kern="0" spc="168" dirty="0">
                <a:solidFill>
                  <a:srgbClr val="2B3A8A"/>
                </a:solidFill>
                <a:latin typeface="宋体" panose="02010600030101010101" pitchFamily="2" charset="-122"/>
                <a:ea typeface="宋体" panose="02010600030101010101" pitchFamily="2" charset="-122"/>
                <a:cs typeface="JetBrains Mono" pitchFamily="34" charset="-120"/>
              </a:endParaRPr>
            </a:p>
          </p:txBody>
        </p:sp>
        <p:sp>
          <p:nvSpPr>
            <p:cNvPr id="31" name="Text 29"/>
            <p:cNvSpPr/>
            <p:nvPr/>
          </p:nvSpPr>
          <p:spPr>
            <a:xfrm>
              <a:off x="3615" y="8145"/>
              <a:ext cx="2220" cy="480"/>
            </a:xfrm>
            <a:prstGeom prst="rect">
              <a:avLst/>
            </a:prstGeom>
            <a:noFill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500" b="1" dirty="0">
                  <a:solidFill>
                    <a:srgbClr val="15151A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PingFang SC" pitchFamily="34" charset="-120"/>
                </a:rPr>
                <a:t>操作建议</a:t>
              </a:r>
              <a:endParaRPr lang="en-US" sz="1500" b="1" dirty="0">
                <a:solidFill>
                  <a:srgbClr val="15151A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</a:endParaRPr>
            </a:p>
          </p:txBody>
        </p:sp>
        <p:sp>
          <p:nvSpPr>
            <p:cNvPr id="32" name="Text 30"/>
            <p:cNvSpPr/>
            <p:nvPr/>
          </p:nvSpPr>
          <p:spPr>
            <a:xfrm>
              <a:off x="5985" y="8160"/>
              <a:ext cx="6750" cy="450"/>
            </a:xfrm>
            <a:prstGeom prst="rect">
              <a:avLst/>
            </a:prstGeom>
            <a:noFill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l">
                <a:lnSpc>
                  <a:spcPct val="140000"/>
                </a:lnSpc>
                <a:buNone/>
              </a:pPr>
              <a:r>
                <a:rPr lang="en-US" sz="1425" dirty="0">
                  <a:solidFill>
                    <a:srgbClr val="2C2C34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PingFang SC" pitchFamily="34" charset="-120"/>
                </a:rPr>
                <a:t>故障与指导检索</a:t>
              </a:r>
              <a:endParaRPr lang="en-US" sz="1425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</a:endParaRPr>
            </a:p>
          </p:txBody>
        </p:sp>
        <p:sp>
          <p:nvSpPr>
            <p:cNvPr id="33" name="Shape 31"/>
            <p:cNvSpPr/>
            <p:nvPr/>
          </p:nvSpPr>
          <p:spPr>
            <a:xfrm>
              <a:off x="1920" y="8790"/>
              <a:ext cx="10964" cy="855"/>
            </a:xfrm>
            <a:prstGeom prst="rect">
              <a:avLst/>
            </a:prstGeom>
            <a:solidFill>
              <a:srgbClr val="FFFFFF"/>
            </a:solidFill>
          </p:spPr>
        </p:sp>
        <p:sp>
          <p:nvSpPr>
            <p:cNvPr id="34" name="Shape 32"/>
            <p:cNvSpPr/>
            <p:nvPr/>
          </p:nvSpPr>
          <p:spPr>
            <a:xfrm>
              <a:off x="1920" y="9630"/>
              <a:ext cx="10964" cy="15"/>
            </a:xfrm>
            <a:prstGeom prst="rect">
              <a:avLst/>
            </a:prstGeom>
            <a:solidFill>
              <a:srgbClr val="14141C">
                <a:alpha val="10000"/>
              </a:srgbClr>
            </a:solidFill>
          </p:spPr>
        </p:sp>
        <p:sp>
          <p:nvSpPr>
            <p:cNvPr id="35" name="Shape 33"/>
            <p:cNvSpPr/>
            <p:nvPr/>
          </p:nvSpPr>
          <p:spPr>
            <a:xfrm>
              <a:off x="1920" y="8790"/>
              <a:ext cx="15" cy="855"/>
            </a:xfrm>
            <a:prstGeom prst="rect">
              <a:avLst/>
            </a:prstGeom>
            <a:solidFill>
              <a:srgbClr val="14141C">
                <a:alpha val="10000"/>
              </a:srgbClr>
            </a:solidFill>
          </p:spPr>
        </p:sp>
        <p:sp>
          <p:nvSpPr>
            <p:cNvPr id="36" name="Shape 34"/>
            <p:cNvSpPr/>
            <p:nvPr/>
          </p:nvSpPr>
          <p:spPr>
            <a:xfrm>
              <a:off x="12869" y="8790"/>
              <a:ext cx="15" cy="855"/>
            </a:xfrm>
            <a:prstGeom prst="rect">
              <a:avLst/>
            </a:prstGeom>
            <a:solidFill>
              <a:srgbClr val="14141C">
                <a:alpha val="10000"/>
              </a:srgbClr>
            </a:solidFill>
          </p:spPr>
        </p:sp>
        <p:sp>
          <p:nvSpPr>
            <p:cNvPr id="37" name="Text 35"/>
            <p:cNvSpPr/>
            <p:nvPr/>
          </p:nvSpPr>
          <p:spPr>
            <a:xfrm>
              <a:off x="2265" y="9075"/>
              <a:ext cx="1200" cy="330"/>
            </a:xfrm>
            <a:prstGeom prst="rect">
              <a:avLst/>
            </a:prstGeom>
            <a:noFill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050" kern="0" spc="168" dirty="0">
                  <a:solidFill>
                    <a:srgbClr val="2B3A8A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JetBrains Mono" pitchFamily="34" charset="-120"/>
                </a:rPr>
                <a:t>STAT.</a:t>
              </a:r>
              <a:endParaRPr lang="en-US" sz="1050" kern="0" spc="168" dirty="0">
                <a:solidFill>
                  <a:srgbClr val="2B3A8A"/>
                </a:solidFill>
                <a:latin typeface="宋体" panose="02010600030101010101" pitchFamily="2" charset="-122"/>
                <a:ea typeface="宋体" panose="02010600030101010101" pitchFamily="2" charset="-122"/>
                <a:cs typeface="JetBrains Mono" pitchFamily="34" charset="-120"/>
              </a:endParaRPr>
            </a:p>
          </p:txBody>
        </p:sp>
        <p:sp>
          <p:nvSpPr>
            <p:cNvPr id="38" name="Text 36"/>
            <p:cNvSpPr/>
            <p:nvPr/>
          </p:nvSpPr>
          <p:spPr>
            <a:xfrm>
              <a:off x="3615" y="9000"/>
              <a:ext cx="2220" cy="480"/>
            </a:xfrm>
            <a:prstGeom prst="rect">
              <a:avLst/>
            </a:prstGeom>
            <a:noFill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500" b="1" dirty="0">
                  <a:solidFill>
                    <a:srgbClr val="15151A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PingFang SC" pitchFamily="34" charset="-120"/>
                </a:rPr>
                <a:t>运行状态</a:t>
              </a:r>
              <a:endParaRPr lang="en-US" sz="1500" b="1" dirty="0">
                <a:solidFill>
                  <a:srgbClr val="15151A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</a:endParaRPr>
            </a:p>
          </p:txBody>
        </p:sp>
        <p:sp>
          <p:nvSpPr>
            <p:cNvPr id="39" name="Text 37"/>
            <p:cNvSpPr/>
            <p:nvPr/>
          </p:nvSpPr>
          <p:spPr>
            <a:xfrm>
              <a:off x="5985" y="9015"/>
              <a:ext cx="6750" cy="450"/>
            </a:xfrm>
            <a:prstGeom prst="rect">
              <a:avLst/>
            </a:prstGeom>
            <a:noFill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l">
                <a:lnSpc>
                  <a:spcPct val="140000"/>
                </a:lnSpc>
                <a:buNone/>
              </a:pPr>
              <a:r>
                <a:rPr lang="en-US" sz="1425" dirty="0">
                  <a:solidFill>
                    <a:srgbClr val="2C2C34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适配层 / 状态文件</a:t>
              </a:r>
              <a:endParaRPr lang="en-US" sz="1425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</p:grpSp>
      <p:sp>
        <p:nvSpPr>
          <p:cNvPr id="48" name="Text 46"/>
          <p:cNvSpPr/>
          <p:nvPr/>
        </p:nvSpPr>
        <p:spPr>
          <a:xfrm>
            <a:off x="1219200" y="7834630"/>
            <a:ext cx="6563995" cy="1236980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2000" dirty="0">
                <a:solidFill>
                  <a:srgbClr val="6B6B7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→ 关键参数缺失时返回 </a:t>
            </a:r>
            <a:r>
              <a:rPr lang="en-US" sz="2000" b="1" dirty="0">
                <a:solidFill>
                  <a:srgbClr val="2B3A8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澄清提示 </a:t>
            </a:r>
            <a:r>
              <a:rPr lang="en-US" sz="2000" dirty="0">
                <a:solidFill>
                  <a:srgbClr val="6B6B7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，而非自动补全。</a:t>
            </a:r>
            <a:br>
              <a:rPr lang="en-US" sz="2000" dirty="0">
                <a:solidFill>
                  <a:srgbClr val="6B6B7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</a:br>
            <a:r>
              <a:rPr lang="en-US" sz="2000" dirty="0">
                <a:solidFill>
                  <a:srgbClr val="6B6B7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→ 同时输出 YAML 预览（人读）与对象（程序处理）。</a:t>
            </a:r>
            <a:endParaRPr lang="en-US" sz="2000" dirty="0">
              <a:solidFill>
                <a:srgbClr val="6B6B7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2" name="Shape 2"/>
          <p:cNvSpPr/>
          <p:nvPr/>
        </p:nvSpPr>
        <p:spPr>
          <a:xfrm>
            <a:off x="4859685" y="1085850"/>
            <a:ext cx="12209115" cy="9525"/>
          </a:xfrm>
          <a:prstGeom prst="rect">
            <a:avLst/>
          </a:prstGeom>
          <a:solidFill>
            <a:srgbClr val="14141C">
              <a:alpha val="10000"/>
            </a:srgbClr>
          </a:solidFill>
        </p:spPr>
      </p:sp>
      <p:sp>
        <p:nvSpPr>
          <p:cNvPr id="53" name="Text 0"/>
          <p:cNvSpPr/>
          <p:nvPr/>
        </p:nvSpPr>
        <p:spPr>
          <a:xfrm>
            <a:off x="1220470" y="837565"/>
            <a:ext cx="506730" cy="4508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p>
            <a:pPr marL="0" indent="0" algn="l">
              <a:buNone/>
            </a:pPr>
            <a:r>
              <a:rPr lang="en-US" sz="3200" kern="0" spc="162" dirty="0">
                <a:solidFill>
                  <a:srgbClr val="2B3A8A"/>
                </a:solidFill>
                <a:latin typeface="宋体" panose="02010600030101010101" pitchFamily="2" charset="-122"/>
                <a:ea typeface="宋体" panose="02010600030101010101" pitchFamily="2" charset="-122"/>
                <a:cs typeface="JetBrains Mono" pitchFamily="34" charset="-120"/>
              </a:rPr>
              <a:t>04</a:t>
            </a:r>
            <a:endParaRPr lang="en-US" sz="3200" kern="0" spc="162" dirty="0">
              <a:solidFill>
                <a:srgbClr val="2B3A8A"/>
              </a:solidFill>
              <a:latin typeface="宋体" panose="02010600030101010101" pitchFamily="2" charset="-122"/>
              <a:ea typeface="宋体" panose="02010600030101010101" pitchFamily="2" charset="-122"/>
              <a:cs typeface="JetBrains Mono" pitchFamily="34" charset="-120"/>
            </a:endParaRPr>
          </a:p>
        </p:txBody>
      </p:sp>
      <p:sp>
        <p:nvSpPr>
          <p:cNvPr id="54" name="Text 1"/>
          <p:cNvSpPr/>
          <p:nvPr/>
        </p:nvSpPr>
        <p:spPr>
          <a:xfrm>
            <a:off x="1669415" y="841375"/>
            <a:ext cx="3517265" cy="4978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p>
            <a:pPr marL="0" indent="0" algn="l">
              <a:buNone/>
            </a:pPr>
            <a:r>
              <a:rPr lang="en-US" sz="3200" b="1" dirty="0">
                <a:solidFill>
                  <a:srgbClr val="15151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关键模块实现</a:t>
            </a:r>
            <a:endParaRPr lang="en-US" sz="3200" b="1" dirty="0">
              <a:solidFill>
                <a:srgbClr val="15151A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30335" y="1786255"/>
            <a:ext cx="7630160" cy="82600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hape 2"/>
          <p:cNvSpPr/>
          <p:nvPr/>
        </p:nvSpPr>
        <p:spPr>
          <a:xfrm>
            <a:off x="4859685" y="1085850"/>
            <a:ext cx="12209115" cy="9525"/>
          </a:xfrm>
          <a:prstGeom prst="rect">
            <a:avLst/>
          </a:prstGeom>
          <a:solidFill>
            <a:srgbClr val="14141C">
              <a:alpha val="10000"/>
            </a:srgbClr>
          </a:solidFill>
        </p:spPr>
      </p:sp>
      <p:sp>
        <p:nvSpPr>
          <p:cNvPr id="53" name="Text 0"/>
          <p:cNvSpPr/>
          <p:nvPr/>
        </p:nvSpPr>
        <p:spPr>
          <a:xfrm>
            <a:off x="1220470" y="837565"/>
            <a:ext cx="506730" cy="4508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p>
            <a:pPr marL="0" indent="0" algn="l">
              <a:buNone/>
            </a:pPr>
            <a:r>
              <a:rPr lang="en-US" sz="3200" kern="0" spc="162" dirty="0">
                <a:solidFill>
                  <a:srgbClr val="2B3A8A"/>
                </a:solidFill>
                <a:latin typeface="宋体" panose="02010600030101010101" pitchFamily="2" charset="-122"/>
                <a:ea typeface="宋体" panose="02010600030101010101" pitchFamily="2" charset="-122"/>
                <a:cs typeface="JetBrains Mono" pitchFamily="34" charset="-120"/>
              </a:rPr>
              <a:t>04</a:t>
            </a:r>
            <a:endParaRPr lang="en-US" sz="3200" kern="0" spc="162" dirty="0">
              <a:solidFill>
                <a:srgbClr val="2B3A8A"/>
              </a:solidFill>
              <a:latin typeface="宋体" panose="02010600030101010101" pitchFamily="2" charset="-122"/>
              <a:ea typeface="宋体" panose="02010600030101010101" pitchFamily="2" charset="-122"/>
              <a:cs typeface="JetBrains Mono" pitchFamily="34" charset="-120"/>
            </a:endParaRPr>
          </a:p>
        </p:txBody>
      </p:sp>
      <p:sp>
        <p:nvSpPr>
          <p:cNvPr id="54" name="Text 1"/>
          <p:cNvSpPr/>
          <p:nvPr/>
        </p:nvSpPr>
        <p:spPr>
          <a:xfrm>
            <a:off x="1669415" y="841375"/>
            <a:ext cx="3517265" cy="4978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p>
            <a:pPr marL="0" indent="0" algn="l">
              <a:buNone/>
            </a:pPr>
            <a:r>
              <a:rPr lang="en-US" sz="3200" b="1" dirty="0">
                <a:solidFill>
                  <a:srgbClr val="15151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关键模块实现</a:t>
            </a:r>
            <a:endParaRPr lang="en-US" sz="3200" b="1" dirty="0">
              <a:solidFill>
                <a:srgbClr val="15151A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4" name="Text 4"/>
          <p:cNvSpPr/>
          <p:nvPr/>
        </p:nvSpPr>
        <p:spPr>
          <a:xfrm>
            <a:off x="1219200" y="2167255"/>
            <a:ext cx="15815310" cy="857250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lstStyle/>
          <a:p>
            <a:pPr marL="0" indent="0" algn="ctr">
              <a:lnSpc>
                <a:spcPct val="155000"/>
              </a:lnSpc>
              <a:buNone/>
            </a:pPr>
            <a:r>
              <a:rPr lang="en-US" sz="3200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所有可能改变DAC-3D状态的操作，</a:t>
            </a:r>
            <a:r>
              <a:rPr lang="en-US" sz="3200" b="1" dirty="0">
                <a:solidFill>
                  <a:srgbClr val="C0392B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都不能让</a:t>
            </a:r>
            <a:r>
              <a:rPr lang="zh-CN" altLang="en-US" sz="3200" b="1" dirty="0">
                <a:solidFill>
                  <a:srgbClr val="C0392B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助手</a:t>
            </a:r>
            <a:r>
              <a:rPr lang="en-US" sz="3200" b="1" dirty="0">
                <a:solidFill>
                  <a:srgbClr val="C0392B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直接执行 </a:t>
            </a:r>
            <a:r>
              <a:rPr lang="en-US" sz="3200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，必须依次经过六个网关</a:t>
            </a:r>
            <a:endParaRPr lang="en-US" sz="3200" dirty="0">
              <a:solidFill>
                <a:srgbClr val="2C2C34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algn="ctr">
              <a:lnSpc>
                <a:spcPct val="155000"/>
              </a:lnSpc>
              <a:buNone/>
            </a:pPr>
            <a:r>
              <a:rPr lang="en-US" sz="3200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任何一步失败，整条链路被拒绝。</a:t>
            </a:r>
            <a:endParaRPr lang="en-US" sz="3200" dirty="0">
              <a:solidFill>
                <a:srgbClr val="2C2C34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219200" y="5038090"/>
            <a:ext cx="2546350" cy="1677035"/>
          </a:xfrm>
          <a:prstGeom prst="rect">
            <a:avLst/>
          </a:prstGeom>
          <a:solidFill>
            <a:srgbClr val="FFFFFF"/>
          </a:solidFill>
          <a:ln w="9525">
            <a:solidFill>
              <a:srgbClr val="C0392B"/>
            </a:solidFill>
            <a:prstDash val="solid"/>
          </a:ln>
        </p:spPr>
      </p:sp>
      <p:sp>
        <p:nvSpPr>
          <p:cNvPr id="40" name="Text 6"/>
          <p:cNvSpPr/>
          <p:nvPr/>
        </p:nvSpPr>
        <p:spPr>
          <a:xfrm>
            <a:off x="1419225" y="5160645"/>
            <a:ext cx="2222500" cy="244475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1200" kern="0" spc="162" dirty="0">
                <a:solidFill>
                  <a:srgbClr val="C0392B"/>
                </a:solidFill>
                <a:latin typeface="宋体" panose="02010600030101010101" pitchFamily="2" charset="-122"/>
                <a:ea typeface="宋体" panose="02010600030101010101" pitchFamily="2" charset="-122"/>
                <a:cs typeface="JetBrains Mono" pitchFamily="34" charset="-120"/>
              </a:rPr>
              <a:t>GATE 01</a:t>
            </a:r>
            <a:endParaRPr lang="en-US" sz="1200" kern="0" spc="162" dirty="0">
              <a:solidFill>
                <a:srgbClr val="C0392B"/>
              </a:solidFill>
              <a:latin typeface="宋体" panose="02010600030101010101" pitchFamily="2" charset="-122"/>
              <a:ea typeface="宋体" panose="02010600030101010101" pitchFamily="2" charset="-122"/>
              <a:cs typeface="JetBrains Mono" pitchFamily="34" charset="-120"/>
            </a:endParaRPr>
          </a:p>
        </p:txBody>
      </p:sp>
      <p:sp>
        <p:nvSpPr>
          <p:cNvPr id="41" name="Text 7"/>
          <p:cNvSpPr/>
          <p:nvPr/>
        </p:nvSpPr>
        <p:spPr>
          <a:xfrm>
            <a:off x="1419225" y="5436235"/>
            <a:ext cx="2222500" cy="354965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15151A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</a:rPr>
              <a:t>工具注册</a:t>
            </a:r>
            <a:endParaRPr lang="en-US" sz="2000" b="1" dirty="0">
              <a:solidFill>
                <a:srgbClr val="15151A"/>
              </a:solidFill>
              <a:latin typeface="宋体" panose="02010600030101010101" pitchFamily="2" charset="-122"/>
              <a:ea typeface="宋体" panose="02010600030101010101" pitchFamily="2" charset="-122"/>
              <a:cs typeface="PingFang SC" pitchFamily="34" charset="-120"/>
            </a:endParaRPr>
          </a:p>
        </p:txBody>
      </p:sp>
      <p:sp>
        <p:nvSpPr>
          <p:cNvPr id="42" name="Text 8"/>
          <p:cNvSpPr/>
          <p:nvPr/>
        </p:nvSpPr>
        <p:spPr>
          <a:xfrm>
            <a:off x="1419225" y="5765165"/>
            <a:ext cx="2222500" cy="562610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dirty="0">
                <a:solidFill>
                  <a:srgbClr val="6B6B75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</a:rPr>
              <a:t>ToolDescriptor + risk + annotations</a:t>
            </a:r>
            <a:endParaRPr lang="en-US" dirty="0">
              <a:solidFill>
                <a:srgbClr val="6B6B75"/>
              </a:solidFill>
              <a:latin typeface="宋体" panose="02010600030101010101" pitchFamily="2" charset="-122"/>
              <a:ea typeface="宋体" panose="02010600030101010101" pitchFamily="2" charset="-122"/>
              <a:cs typeface="PingFang SC" pitchFamily="34" charset="-120"/>
            </a:endParaRPr>
          </a:p>
        </p:txBody>
      </p:sp>
      <p:sp>
        <p:nvSpPr>
          <p:cNvPr id="43" name="Shape 9"/>
          <p:cNvSpPr/>
          <p:nvPr/>
        </p:nvSpPr>
        <p:spPr>
          <a:xfrm>
            <a:off x="3879850" y="5038090"/>
            <a:ext cx="2546350" cy="1677035"/>
          </a:xfrm>
          <a:prstGeom prst="rect">
            <a:avLst/>
          </a:prstGeom>
          <a:solidFill>
            <a:srgbClr val="FFFFFF"/>
          </a:solidFill>
          <a:ln w="9525">
            <a:solidFill>
              <a:srgbClr val="C0392B"/>
            </a:solidFill>
            <a:prstDash val="solid"/>
          </a:ln>
        </p:spPr>
      </p:sp>
      <p:sp>
        <p:nvSpPr>
          <p:cNvPr id="44" name="Text 10"/>
          <p:cNvSpPr/>
          <p:nvPr/>
        </p:nvSpPr>
        <p:spPr>
          <a:xfrm>
            <a:off x="4079875" y="5160645"/>
            <a:ext cx="2222500" cy="244475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1200" kern="0" spc="162" dirty="0">
                <a:solidFill>
                  <a:srgbClr val="C0392B"/>
                </a:solidFill>
                <a:latin typeface="宋体" panose="02010600030101010101" pitchFamily="2" charset="-122"/>
                <a:ea typeface="宋体" panose="02010600030101010101" pitchFamily="2" charset="-122"/>
                <a:cs typeface="JetBrains Mono" pitchFamily="34" charset="-120"/>
              </a:rPr>
              <a:t>GATE 02</a:t>
            </a:r>
            <a:endParaRPr lang="en-US" sz="1200" kern="0" spc="162" dirty="0">
              <a:solidFill>
                <a:srgbClr val="C0392B"/>
              </a:solidFill>
              <a:latin typeface="宋体" panose="02010600030101010101" pitchFamily="2" charset="-122"/>
              <a:ea typeface="宋体" panose="02010600030101010101" pitchFamily="2" charset="-122"/>
              <a:cs typeface="JetBrains Mono" pitchFamily="34" charset="-120"/>
            </a:endParaRPr>
          </a:p>
        </p:txBody>
      </p:sp>
      <p:sp>
        <p:nvSpPr>
          <p:cNvPr id="45" name="Text 11"/>
          <p:cNvSpPr/>
          <p:nvPr/>
        </p:nvSpPr>
        <p:spPr>
          <a:xfrm>
            <a:off x="4079875" y="5436235"/>
            <a:ext cx="2222500" cy="354965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15151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Schema 校验</a:t>
            </a:r>
            <a:endParaRPr lang="en-US" sz="2000" b="1" dirty="0">
              <a:solidFill>
                <a:srgbClr val="15151A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6" name="Text 12"/>
          <p:cNvSpPr/>
          <p:nvPr/>
        </p:nvSpPr>
        <p:spPr>
          <a:xfrm>
            <a:off x="4079875" y="5821680"/>
            <a:ext cx="2222500" cy="306070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400" dirty="0">
                <a:solidFill>
                  <a:srgbClr val="6B6B7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参数类型 / 取值范围 / 必填项</a:t>
            </a:r>
            <a:endParaRPr lang="en-US" sz="1400" dirty="0">
              <a:solidFill>
                <a:srgbClr val="6B6B7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" name="Shape 13"/>
          <p:cNvSpPr/>
          <p:nvPr/>
        </p:nvSpPr>
        <p:spPr>
          <a:xfrm>
            <a:off x="6540500" y="5038090"/>
            <a:ext cx="2546350" cy="1677035"/>
          </a:xfrm>
          <a:prstGeom prst="rect">
            <a:avLst/>
          </a:prstGeom>
          <a:solidFill>
            <a:srgbClr val="FFFFFF"/>
          </a:solidFill>
          <a:ln w="9525">
            <a:solidFill>
              <a:srgbClr val="C0392B"/>
            </a:solidFill>
            <a:prstDash val="solid"/>
          </a:ln>
        </p:spPr>
      </p:sp>
      <p:sp>
        <p:nvSpPr>
          <p:cNvPr id="49" name="Text 14"/>
          <p:cNvSpPr/>
          <p:nvPr/>
        </p:nvSpPr>
        <p:spPr>
          <a:xfrm>
            <a:off x="6740525" y="5160645"/>
            <a:ext cx="2222500" cy="244475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1200" kern="0" spc="162" dirty="0">
                <a:solidFill>
                  <a:srgbClr val="C0392B"/>
                </a:solidFill>
                <a:latin typeface="宋体" panose="02010600030101010101" pitchFamily="2" charset="-122"/>
                <a:ea typeface="宋体" panose="02010600030101010101" pitchFamily="2" charset="-122"/>
                <a:cs typeface="JetBrains Mono" pitchFamily="34" charset="-120"/>
              </a:rPr>
              <a:t>GATE 03</a:t>
            </a:r>
            <a:endParaRPr lang="en-US" sz="1200" kern="0" spc="162" dirty="0">
              <a:solidFill>
                <a:srgbClr val="C0392B"/>
              </a:solidFill>
              <a:latin typeface="宋体" panose="02010600030101010101" pitchFamily="2" charset="-122"/>
              <a:ea typeface="宋体" panose="02010600030101010101" pitchFamily="2" charset="-122"/>
              <a:cs typeface="JetBrains Mono" pitchFamily="34" charset="-120"/>
            </a:endParaRPr>
          </a:p>
        </p:txBody>
      </p:sp>
      <p:sp>
        <p:nvSpPr>
          <p:cNvPr id="50" name="Text 15"/>
          <p:cNvSpPr/>
          <p:nvPr/>
        </p:nvSpPr>
        <p:spPr>
          <a:xfrm>
            <a:off x="6740525" y="5436235"/>
            <a:ext cx="2222500" cy="354965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b="1" dirty="0">
                <a:solidFill>
                  <a:srgbClr val="15151A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</a:rPr>
              <a:t>PathPolicy</a:t>
            </a:r>
            <a:endParaRPr lang="en-US" b="1" dirty="0">
              <a:solidFill>
                <a:srgbClr val="15151A"/>
              </a:solidFill>
              <a:latin typeface="宋体" panose="02010600030101010101" pitchFamily="2" charset="-122"/>
              <a:ea typeface="宋体" panose="02010600030101010101" pitchFamily="2" charset="-122"/>
              <a:cs typeface="PingFang SC" pitchFamily="34" charset="-120"/>
            </a:endParaRPr>
          </a:p>
        </p:txBody>
      </p:sp>
      <p:sp>
        <p:nvSpPr>
          <p:cNvPr id="51" name="Text 16"/>
          <p:cNvSpPr/>
          <p:nvPr/>
        </p:nvSpPr>
        <p:spPr>
          <a:xfrm>
            <a:off x="6740525" y="5821680"/>
            <a:ext cx="2222500" cy="306070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400" dirty="0">
                <a:solidFill>
                  <a:srgbClr val="6B6B7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路径白名单 / 越权阻断</a:t>
            </a:r>
            <a:endParaRPr lang="en-US" sz="1400" dirty="0">
              <a:solidFill>
                <a:srgbClr val="6B6B7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5" name="Shape 17"/>
          <p:cNvSpPr/>
          <p:nvPr/>
        </p:nvSpPr>
        <p:spPr>
          <a:xfrm>
            <a:off x="9201150" y="5038090"/>
            <a:ext cx="2546350" cy="1677035"/>
          </a:xfrm>
          <a:prstGeom prst="rect">
            <a:avLst/>
          </a:prstGeom>
          <a:solidFill>
            <a:srgbClr val="FFFFFF"/>
          </a:solidFill>
          <a:ln w="9525">
            <a:solidFill>
              <a:srgbClr val="C0392B"/>
            </a:solidFill>
            <a:prstDash val="solid"/>
          </a:ln>
        </p:spPr>
      </p:sp>
      <p:sp>
        <p:nvSpPr>
          <p:cNvPr id="56" name="Text 18"/>
          <p:cNvSpPr/>
          <p:nvPr/>
        </p:nvSpPr>
        <p:spPr>
          <a:xfrm>
            <a:off x="9401175" y="5154295"/>
            <a:ext cx="2222500" cy="244475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1200" kern="0" spc="162" dirty="0">
                <a:solidFill>
                  <a:srgbClr val="C0392B"/>
                </a:solidFill>
                <a:latin typeface="宋体" panose="02010600030101010101" pitchFamily="2" charset="-122"/>
                <a:ea typeface="宋体" panose="02010600030101010101" pitchFamily="2" charset="-122"/>
                <a:cs typeface="JetBrains Mono" pitchFamily="34" charset="-120"/>
              </a:rPr>
              <a:t>GATE 04</a:t>
            </a:r>
            <a:endParaRPr lang="en-US" sz="1200" kern="0" spc="162" dirty="0">
              <a:solidFill>
                <a:srgbClr val="C0392B"/>
              </a:solidFill>
              <a:latin typeface="宋体" panose="02010600030101010101" pitchFamily="2" charset="-122"/>
              <a:ea typeface="宋体" panose="02010600030101010101" pitchFamily="2" charset="-122"/>
              <a:cs typeface="JetBrains Mono" pitchFamily="34" charset="-120"/>
            </a:endParaRPr>
          </a:p>
        </p:txBody>
      </p:sp>
      <p:sp>
        <p:nvSpPr>
          <p:cNvPr id="57" name="Text 19"/>
          <p:cNvSpPr/>
          <p:nvPr/>
        </p:nvSpPr>
        <p:spPr>
          <a:xfrm>
            <a:off x="9401175" y="5433060"/>
            <a:ext cx="2222500" cy="354965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15151A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</a:rPr>
              <a:t>风险分类</a:t>
            </a:r>
            <a:endParaRPr lang="en-US" sz="2000" b="1" dirty="0">
              <a:solidFill>
                <a:srgbClr val="15151A"/>
              </a:solidFill>
              <a:latin typeface="宋体" panose="02010600030101010101" pitchFamily="2" charset="-122"/>
              <a:ea typeface="宋体" panose="02010600030101010101" pitchFamily="2" charset="-122"/>
              <a:cs typeface="PingFang SC" pitchFamily="34" charset="-120"/>
            </a:endParaRPr>
          </a:p>
        </p:txBody>
      </p:sp>
      <p:sp>
        <p:nvSpPr>
          <p:cNvPr id="58" name="Text 20"/>
          <p:cNvSpPr/>
          <p:nvPr/>
        </p:nvSpPr>
        <p:spPr>
          <a:xfrm>
            <a:off x="9401175" y="5765165"/>
            <a:ext cx="2222500" cy="562610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dirty="0">
                <a:solidFill>
                  <a:srgbClr val="6B6B7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low / medium / high → 是否需确认</a:t>
            </a:r>
            <a:endParaRPr lang="en-US" dirty="0">
              <a:solidFill>
                <a:srgbClr val="6B6B7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9" name="Shape 21"/>
          <p:cNvSpPr/>
          <p:nvPr/>
        </p:nvSpPr>
        <p:spPr>
          <a:xfrm>
            <a:off x="11861800" y="5038090"/>
            <a:ext cx="2546350" cy="1677035"/>
          </a:xfrm>
          <a:prstGeom prst="rect">
            <a:avLst/>
          </a:prstGeom>
          <a:solidFill>
            <a:srgbClr val="FFFFFF"/>
          </a:solidFill>
          <a:ln w="9525">
            <a:solidFill>
              <a:srgbClr val="C0392B"/>
            </a:solidFill>
            <a:prstDash val="solid"/>
          </a:ln>
        </p:spPr>
      </p:sp>
      <p:sp>
        <p:nvSpPr>
          <p:cNvPr id="60" name="Text 22"/>
          <p:cNvSpPr/>
          <p:nvPr/>
        </p:nvSpPr>
        <p:spPr>
          <a:xfrm>
            <a:off x="12061825" y="5154295"/>
            <a:ext cx="2222500" cy="244475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1200" kern="0" spc="162" dirty="0">
                <a:solidFill>
                  <a:srgbClr val="C0392B"/>
                </a:solidFill>
                <a:latin typeface="宋体" panose="02010600030101010101" pitchFamily="2" charset="-122"/>
                <a:ea typeface="宋体" panose="02010600030101010101" pitchFamily="2" charset="-122"/>
                <a:cs typeface="JetBrains Mono" pitchFamily="34" charset="-120"/>
              </a:rPr>
              <a:t>GATE 05</a:t>
            </a:r>
            <a:endParaRPr lang="en-US" sz="1200" kern="0" spc="162" dirty="0">
              <a:solidFill>
                <a:srgbClr val="C0392B"/>
              </a:solidFill>
              <a:latin typeface="宋体" panose="02010600030101010101" pitchFamily="2" charset="-122"/>
              <a:ea typeface="宋体" panose="02010600030101010101" pitchFamily="2" charset="-122"/>
              <a:cs typeface="JetBrains Mono" pitchFamily="34" charset="-120"/>
            </a:endParaRPr>
          </a:p>
        </p:txBody>
      </p:sp>
      <p:sp>
        <p:nvSpPr>
          <p:cNvPr id="61" name="Text 23"/>
          <p:cNvSpPr/>
          <p:nvPr/>
        </p:nvSpPr>
        <p:spPr>
          <a:xfrm>
            <a:off x="12061825" y="5433060"/>
            <a:ext cx="2222500" cy="354965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b="1" dirty="0">
                <a:solidFill>
                  <a:srgbClr val="15151A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</a:rPr>
              <a:t>Confirm Token</a:t>
            </a:r>
            <a:endParaRPr lang="en-US" b="1" dirty="0">
              <a:solidFill>
                <a:srgbClr val="15151A"/>
              </a:solidFill>
              <a:latin typeface="宋体" panose="02010600030101010101" pitchFamily="2" charset="-122"/>
              <a:ea typeface="宋体" panose="02010600030101010101" pitchFamily="2" charset="-122"/>
              <a:cs typeface="PingFang SC" pitchFamily="34" charset="-120"/>
            </a:endParaRPr>
          </a:p>
        </p:txBody>
      </p:sp>
      <p:sp>
        <p:nvSpPr>
          <p:cNvPr id="62" name="Text 24"/>
          <p:cNvSpPr/>
          <p:nvPr/>
        </p:nvSpPr>
        <p:spPr>
          <a:xfrm>
            <a:off x="12061825" y="5821680"/>
            <a:ext cx="2222500" cy="306070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400" dirty="0">
                <a:solidFill>
                  <a:srgbClr val="6B6B7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显式确认 + 有效期 + 不可复用</a:t>
            </a:r>
            <a:endParaRPr lang="en-US" sz="1400" dirty="0">
              <a:solidFill>
                <a:srgbClr val="6B6B7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3" name="Shape 25"/>
          <p:cNvSpPr/>
          <p:nvPr/>
        </p:nvSpPr>
        <p:spPr>
          <a:xfrm>
            <a:off x="14522450" y="5038090"/>
            <a:ext cx="2546350" cy="1677035"/>
          </a:xfrm>
          <a:prstGeom prst="rect">
            <a:avLst/>
          </a:prstGeom>
          <a:solidFill>
            <a:srgbClr val="FFFFFF"/>
          </a:solidFill>
          <a:ln w="9525">
            <a:solidFill>
              <a:srgbClr val="C0392B"/>
            </a:solidFill>
            <a:prstDash val="solid"/>
          </a:ln>
        </p:spPr>
      </p:sp>
      <p:sp>
        <p:nvSpPr>
          <p:cNvPr id="64" name="Text 26"/>
          <p:cNvSpPr/>
          <p:nvPr/>
        </p:nvSpPr>
        <p:spPr>
          <a:xfrm>
            <a:off x="14722475" y="5154295"/>
            <a:ext cx="2222500" cy="244475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1200" kern="0" spc="162" dirty="0">
                <a:solidFill>
                  <a:srgbClr val="C0392B"/>
                </a:solidFill>
                <a:latin typeface="宋体" panose="02010600030101010101" pitchFamily="2" charset="-122"/>
                <a:ea typeface="宋体" panose="02010600030101010101" pitchFamily="2" charset="-122"/>
                <a:cs typeface="JetBrains Mono" pitchFamily="34" charset="-120"/>
              </a:rPr>
              <a:t>GATE 06</a:t>
            </a:r>
            <a:endParaRPr lang="en-US" sz="1200" kern="0" spc="162" dirty="0">
              <a:solidFill>
                <a:srgbClr val="C0392B"/>
              </a:solidFill>
              <a:latin typeface="宋体" panose="02010600030101010101" pitchFamily="2" charset="-122"/>
              <a:ea typeface="宋体" panose="02010600030101010101" pitchFamily="2" charset="-122"/>
              <a:cs typeface="JetBrains Mono" pitchFamily="34" charset="-120"/>
            </a:endParaRPr>
          </a:p>
        </p:txBody>
      </p:sp>
      <p:sp>
        <p:nvSpPr>
          <p:cNvPr id="65" name="Text 27"/>
          <p:cNvSpPr/>
          <p:nvPr/>
        </p:nvSpPr>
        <p:spPr>
          <a:xfrm>
            <a:off x="14722475" y="5466715"/>
            <a:ext cx="2222500" cy="354965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15151A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</a:rPr>
              <a:t>生命周期审计</a:t>
            </a:r>
            <a:endParaRPr lang="en-US" sz="2000" b="1" dirty="0">
              <a:solidFill>
                <a:srgbClr val="15151A"/>
              </a:solidFill>
              <a:latin typeface="宋体" panose="02010600030101010101" pitchFamily="2" charset="-122"/>
              <a:ea typeface="宋体" panose="02010600030101010101" pitchFamily="2" charset="-122"/>
              <a:cs typeface="PingFang SC" pitchFamily="34" charset="-120"/>
            </a:endParaRPr>
          </a:p>
        </p:txBody>
      </p:sp>
      <p:sp>
        <p:nvSpPr>
          <p:cNvPr id="66" name="Text 28"/>
          <p:cNvSpPr/>
          <p:nvPr/>
        </p:nvSpPr>
        <p:spPr>
          <a:xfrm>
            <a:off x="14598650" y="5765165"/>
            <a:ext cx="2355215" cy="562610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dirty="0">
                <a:solidFill>
                  <a:srgbClr val="6B6B75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</a:rPr>
              <a:t>preview → confirmed → submitted</a:t>
            </a:r>
            <a:endParaRPr lang="en-US" dirty="0">
              <a:solidFill>
                <a:srgbClr val="6B6B75"/>
              </a:solidFill>
              <a:latin typeface="宋体" panose="02010600030101010101" pitchFamily="2" charset="-122"/>
              <a:ea typeface="宋体" panose="02010600030101010101" pitchFamily="2" charset="-122"/>
              <a:cs typeface="PingFang SC" pitchFamily="34" charset="-120"/>
            </a:endParaRPr>
          </a:p>
        </p:txBody>
      </p:sp>
      <p:sp>
        <p:nvSpPr>
          <p:cNvPr id="85" name="Shape 47"/>
          <p:cNvSpPr/>
          <p:nvPr/>
        </p:nvSpPr>
        <p:spPr>
          <a:xfrm>
            <a:off x="5257800" y="7067550"/>
            <a:ext cx="7772400" cy="184277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86" name="Shape 48"/>
          <p:cNvSpPr/>
          <p:nvPr/>
        </p:nvSpPr>
        <p:spPr>
          <a:xfrm>
            <a:off x="5257800" y="8888730"/>
            <a:ext cx="7772400" cy="9525"/>
          </a:xfrm>
          <a:prstGeom prst="rect">
            <a:avLst/>
          </a:prstGeom>
          <a:solidFill>
            <a:srgbClr val="14141C">
              <a:alpha val="10000"/>
            </a:srgbClr>
          </a:solidFill>
        </p:spPr>
      </p:sp>
      <p:sp>
        <p:nvSpPr>
          <p:cNvPr id="87" name="Shape 49"/>
          <p:cNvSpPr/>
          <p:nvPr/>
        </p:nvSpPr>
        <p:spPr>
          <a:xfrm>
            <a:off x="5257800" y="7067550"/>
            <a:ext cx="7772400" cy="9525"/>
          </a:xfrm>
          <a:prstGeom prst="rect">
            <a:avLst/>
          </a:prstGeom>
          <a:solidFill>
            <a:srgbClr val="14141C">
              <a:alpha val="10000"/>
            </a:srgbClr>
          </a:solidFill>
        </p:spPr>
      </p:sp>
      <p:sp>
        <p:nvSpPr>
          <p:cNvPr id="88" name="Shape 50"/>
          <p:cNvSpPr/>
          <p:nvPr/>
        </p:nvSpPr>
        <p:spPr>
          <a:xfrm>
            <a:off x="5219700" y="7067550"/>
            <a:ext cx="76200" cy="1830705"/>
          </a:xfrm>
          <a:prstGeom prst="rect">
            <a:avLst/>
          </a:prstGeom>
          <a:solidFill>
            <a:srgbClr val="C0392B"/>
          </a:solidFill>
        </p:spPr>
      </p:sp>
      <p:sp>
        <p:nvSpPr>
          <p:cNvPr id="89" name="Shape 51"/>
          <p:cNvSpPr/>
          <p:nvPr/>
        </p:nvSpPr>
        <p:spPr>
          <a:xfrm>
            <a:off x="13020675" y="7067550"/>
            <a:ext cx="9525" cy="1390650"/>
          </a:xfrm>
          <a:prstGeom prst="rect">
            <a:avLst/>
          </a:prstGeom>
          <a:solidFill>
            <a:srgbClr val="14141C">
              <a:alpha val="10000"/>
            </a:srgbClr>
          </a:solidFill>
        </p:spPr>
      </p:sp>
      <p:sp>
        <p:nvSpPr>
          <p:cNvPr id="90" name="Text 52"/>
          <p:cNvSpPr/>
          <p:nvPr/>
        </p:nvSpPr>
        <p:spPr>
          <a:xfrm>
            <a:off x="5562600" y="7286625"/>
            <a:ext cx="7407116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1600" kern="0" spc="189" dirty="0">
                <a:solidFill>
                  <a:srgbClr val="C0392B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</a:rPr>
              <a:t>DESIGN PRINCIPLE</a:t>
            </a:r>
            <a:endParaRPr lang="en-US" sz="1600" kern="0" spc="189" dirty="0">
              <a:solidFill>
                <a:srgbClr val="C0392B"/>
              </a:solidFill>
              <a:latin typeface="宋体" panose="02010600030101010101" pitchFamily="2" charset="-122"/>
              <a:ea typeface="宋体" panose="02010600030101010101" pitchFamily="2" charset="-122"/>
              <a:cs typeface="PingFang SC" pitchFamily="34" charset="-120"/>
            </a:endParaRPr>
          </a:p>
        </p:txBody>
      </p:sp>
      <p:sp>
        <p:nvSpPr>
          <p:cNvPr id="91" name="Text 53"/>
          <p:cNvSpPr/>
          <p:nvPr/>
        </p:nvSpPr>
        <p:spPr>
          <a:xfrm>
            <a:off x="5562600" y="7591425"/>
            <a:ext cx="7407116" cy="685800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lstStyle/>
          <a:p>
            <a:pPr marL="0" indent="0" algn="l">
              <a:lnSpc>
                <a:spcPct val="165000"/>
              </a:lnSpc>
              <a:buNone/>
            </a:pPr>
            <a:r>
              <a:rPr lang="en-US" sz="2400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即使</a:t>
            </a:r>
            <a:r>
              <a:rPr lang="en-US" sz="2400" b="1" dirty="0">
                <a:solidFill>
                  <a:srgbClr val="C0392B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模型输出 / 检索资料 / 长期记忆 / 技能说明</a:t>
            </a:r>
            <a:r>
              <a:rPr lang="en-US" sz="2400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中包含错误指令，也 </a:t>
            </a:r>
            <a:r>
              <a:rPr lang="en-US" sz="2400" u="sng" dirty="0">
                <a:solidFill>
                  <a:srgbClr val="C0392B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难以越过代码层面设置的安全边界 </a:t>
            </a:r>
            <a:r>
              <a:rPr lang="en-US" sz="2400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lang="en-US" sz="2400" dirty="0">
              <a:solidFill>
                <a:srgbClr val="2C2C34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1219200" y="1419225"/>
            <a:ext cx="16325088" cy="7524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80000"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4800" b="1" kern="0" spc="-48" dirty="0">
                <a:solidFill>
                  <a:srgbClr val="15151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前后端实现 · </a:t>
            </a:r>
            <a:r>
              <a:rPr lang="en-US" sz="4800" b="1" kern="0" spc="-48" dirty="0">
                <a:solidFill>
                  <a:srgbClr val="2B3A8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FastAPI + React + SSE</a:t>
            </a:r>
            <a:endParaRPr lang="en-US" sz="4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219200" y="2343150"/>
            <a:ext cx="8978801" cy="6096000"/>
          </a:xfrm>
          <a:prstGeom prst="rect">
            <a:avLst/>
          </a:prstGeom>
          <a:ln w="9525">
            <a:solidFill>
              <a:srgbClr val="14141C">
                <a:alpha val="22000"/>
              </a:srgbClr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10655300" y="2343150"/>
            <a:ext cx="6413500" cy="3237865"/>
          </a:xfrm>
          <a:prstGeom prst="rect">
            <a:avLst/>
          </a:prstGeom>
          <a:ln w="9525">
            <a:solidFill>
              <a:srgbClr val="14141C">
                <a:alpha val="1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893326" y="2422525"/>
            <a:ext cx="6115470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2400" kern="0" spc="189" dirty="0">
                <a:solidFill>
                  <a:srgbClr val="2B3A8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API · </a:t>
            </a:r>
            <a:r>
              <a:rPr lang="zh-CN" altLang="en-US" sz="2400" kern="0" spc="189" dirty="0">
                <a:solidFill>
                  <a:srgbClr val="2B3A8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八</a:t>
            </a:r>
            <a:r>
              <a:rPr lang="en-US" sz="2400" kern="0" spc="189" dirty="0">
                <a:solidFill>
                  <a:srgbClr val="2B3A8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类接口</a:t>
            </a:r>
            <a:endParaRPr lang="en-US" sz="2400" kern="0" spc="189" dirty="0">
              <a:solidFill>
                <a:srgbClr val="2B3A8A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0893425" y="2651125"/>
            <a:ext cx="6096000" cy="2728595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1600" dirty="0">
                <a:solidFill>
                  <a:srgbClr val="2C2C34"/>
                </a:solidFill>
                <a:latin typeface="Times New Roman" panose="02020603050405020304" charset="0"/>
                <a:ea typeface="JetBrains Mono" pitchFamily="34" charset="-122"/>
                <a:cs typeface="Times New Roman" panose="02020603050405020304" charset="0"/>
                <a:sym typeface="+mn-ea"/>
              </a:rPr>
              <a:t>POST  /api/chat  同步聊天         GET   /api/chat/stream  SSE 流式输出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l">
              <a:lnSpc>
                <a:spcPct val="190000"/>
              </a:lnSpc>
              <a:buNone/>
            </a:pPr>
            <a:r>
              <a:rPr lang="en-US" sz="1600" dirty="0">
                <a:solidFill>
                  <a:srgbClr val="2C2C34"/>
                </a:solidFill>
                <a:latin typeface="Times New Roman" panose="02020603050405020304" charset="0"/>
                <a:ea typeface="JetBrains Mono" pitchFamily="34" charset="-122"/>
                <a:cs typeface="Times New Roman" panose="02020603050405020304" charset="0"/>
                <a:sym typeface="+mn-ea"/>
              </a:rPr>
              <a:t>GET   /api/traces  Trace 读取                 POST  /api/eval/run   评测运行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l">
              <a:lnSpc>
                <a:spcPct val="190000"/>
              </a:lnSpc>
              <a:buNone/>
            </a:pPr>
            <a:r>
              <a:rPr lang="en-US" sz="1600" dirty="0">
                <a:solidFill>
                  <a:srgbClr val="2C2C34"/>
                </a:solidFill>
                <a:latin typeface="Times New Roman" panose="02020603050405020304" charset="0"/>
                <a:ea typeface="JetBrains Mono" pitchFamily="34" charset="-122"/>
                <a:cs typeface="Times New Roman" panose="02020603050405020304" charset="0"/>
                <a:sym typeface="+mn-ea"/>
              </a:rPr>
              <a:t>GET   /api/runtime    运行时摘要     </a:t>
            </a:r>
            <a:endParaRPr lang="en-US" sz="1600" dirty="0">
              <a:solidFill>
                <a:srgbClr val="2C2C34"/>
              </a:solidFill>
              <a:latin typeface="Times New Roman" panose="02020603050405020304" charset="0"/>
              <a:ea typeface="JetBrains Mono" pitchFamily="34" charset="-122"/>
              <a:cs typeface="Times New Roman" panose="02020603050405020304" charset="0"/>
              <a:sym typeface="+mn-ea"/>
            </a:endParaRPr>
          </a:p>
          <a:p>
            <a:pPr marL="0" indent="0" algn="l">
              <a:lnSpc>
                <a:spcPct val="190000"/>
              </a:lnSpc>
              <a:buNone/>
            </a:pPr>
            <a:r>
              <a:rPr lang="en-US" sz="1600" dirty="0">
                <a:solidFill>
                  <a:srgbClr val="2C2C34"/>
                </a:solidFill>
                <a:latin typeface="Times New Roman" panose="02020603050405020304" charset="0"/>
                <a:ea typeface="JetBrains Mono" pitchFamily="34" charset="-122"/>
                <a:cs typeface="Times New Roman" panose="02020603050405020304" charset="0"/>
                <a:sym typeface="+mn-ea"/>
              </a:rPr>
              <a:t>GET   /api/knowledge-base/...    知识库摘要 / 重建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l">
              <a:lnSpc>
                <a:spcPct val="190000"/>
              </a:lnSpc>
              <a:buNone/>
            </a:pPr>
            <a:r>
              <a:rPr lang="en-US" sz="1600" dirty="0">
                <a:solidFill>
                  <a:srgbClr val="2C2C34"/>
                </a:solidFill>
                <a:latin typeface="Times New Roman" panose="02020603050405020304" charset="0"/>
                <a:ea typeface="JetBrains Mono" pitchFamily="34" charset="-122"/>
                <a:cs typeface="Times New Roman" panose="02020603050405020304" charset="0"/>
                <a:sym typeface="+mn-ea"/>
              </a:rPr>
              <a:t>POST  /api/commands/approve      命令审批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l">
              <a:lnSpc>
                <a:spcPct val="190000"/>
              </a:lnSpc>
              <a:buNone/>
            </a:pPr>
            <a:r>
              <a:rPr lang="en-US" sz="1600" dirty="0">
                <a:solidFill>
                  <a:srgbClr val="2C2C34"/>
                </a:solidFill>
                <a:latin typeface="Times New Roman" panose="02020603050405020304" charset="0"/>
                <a:ea typeface="JetBrains Mono" pitchFamily="34" charset="-122"/>
                <a:cs typeface="Times New Roman" panose="02020603050405020304" charset="0"/>
                <a:sym typeface="+mn-ea"/>
              </a:rPr>
              <a:t>POST  /api/memory/patches/...    记忆补丁审核</a:t>
            </a:r>
            <a:endParaRPr lang="en-US" sz="1600" dirty="0">
              <a:solidFill>
                <a:srgbClr val="2C2C34"/>
              </a:solidFill>
              <a:latin typeface="Times New Roman" panose="02020603050405020304" charset="0"/>
              <a:ea typeface="JetBrains Mono" pitchFamily="34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10655300" y="5668645"/>
            <a:ext cx="6413500" cy="2770505"/>
          </a:xfrm>
          <a:prstGeom prst="rect">
            <a:avLst/>
          </a:prstGeom>
          <a:ln w="9525">
            <a:solidFill>
              <a:srgbClr val="14141C">
                <a:alpha val="1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893326" y="5868670"/>
            <a:ext cx="6115470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kern="0" spc="189" dirty="0">
                <a:solidFill>
                  <a:srgbClr val="2B3A8A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</a:rPr>
              <a:t>前端策略</a:t>
            </a:r>
            <a:endParaRPr lang="en-US" sz="2400" kern="0" spc="189" dirty="0">
              <a:solidFill>
                <a:srgbClr val="2B3A8A"/>
              </a:solidFill>
              <a:latin typeface="宋体" panose="02010600030101010101" pitchFamily="2" charset="-122"/>
              <a:ea typeface="宋体" panose="02010600030101010101" pitchFamily="2" charset="-122"/>
              <a:cs typeface="PingFang SC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0956290" y="6339840"/>
            <a:ext cx="5950585" cy="1972310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lstStyle/>
          <a:p>
            <a:pPr marL="146685" indent="-146685" algn="l">
              <a:lnSpc>
                <a:spcPct val="165000"/>
              </a:lnSpc>
              <a:buSzPct val="100000"/>
              <a:buChar char="•"/>
              <a:tabLst>
                <a:tab pos="146685" algn="l"/>
              </a:tabLst>
            </a:pPr>
            <a:r>
              <a:rPr lang="en-US" sz="2000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React + Vite + TypeScript</a:t>
            </a:r>
            <a:endParaRPr lang="en-US" sz="2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46685" indent="-146685" algn="l">
              <a:lnSpc>
                <a:spcPct val="165000"/>
              </a:lnSpc>
              <a:buSzPct val="100000"/>
              <a:buChar char="•"/>
              <a:tabLst>
                <a:tab pos="146685" algn="l"/>
              </a:tabLst>
            </a:pPr>
            <a:r>
              <a:rPr lang="en-US" sz="2000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SSE 流式输出（按块逐步显示）</a:t>
            </a:r>
            <a:endParaRPr lang="en-US" sz="2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46685" indent="-146685" algn="l">
              <a:lnSpc>
                <a:spcPct val="165000"/>
              </a:lnSpc>
              <a:buSzPct val="100000"/>
              <a:buChar char="•"/>
              <a:tabLst>
                <a:tab pos="146685" algn="l"/>
              </a:tabLst>
            </a:pPr>
            <a:r>
              <a:rPr lang="en-US" sz="2000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聊天主区 + 来源 / 命令 / 状态独立展示</a:t>
            </a:r>
            <a:endParaRPr lang="en-US" sz="2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46685" indent="-146685" algn="l">
              <a:lnSpc>
                <a:spcPct val="165000"/>
              </a:lnSpc>
              <a:buSzPct val="100000"/>
              <a:buChar char="•"/>
              <a:tabLst>
                <a:tab pos="146685" algn="l"/>
              </a:tabLst>
            </a:pPr>
            <a:r>
              <a:rPr lang="en-US" sz="2000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保留 Gradio 兼容界面（调试用）</a:t>
            </a:r>
            <a:endParaRPr lang="en-US" sz="2000" dirty="0">
              <a:solidFill>
                <a:srgbClr val="2C2C34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446270" y="8728710"/>
            <a:ext cx="9871075" cy="7048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2400" b="1" dirty="0">
                <a:solidFill>
                  <a:srgbClr val="2B3A8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独立性： </a:t>
            </a:r>
            <a:r>
              <a:rPr lang="en-US" sz="2400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助手可脱离 DAC-3D 单独启动测试，也可由主系统跳转调用</a:t>
            </a:r>
            <a:r>
              <a:rPr lang="zh-CN" altLang="en-US" sz="2400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lang="zh-CN" altLang="en-US" sz="2400" dirty="0">
              <a:solidFill>
                <a:srgbClr val="2C2C34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2" name="图片 -21474826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9200" y="2277745"/>
            <a:ext cx="8994140" cy="616394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Shape 2"/>
          <p:cNvSpPr/>
          <p:nvPr/>
        </p:nvSpPr>
        <p:spPr>
          <a:xfrm>
            <a:off x="4859685" y="1085850"/>
            <a:ext cx="12209115" cy="9525"/>
          </a:xfrm>
          <a:prstGeom prst="rect">
            <a:avLst/>
          </a:prstGeom>
          <a:solidFill>
            <a:srgbClr val="14141C">
              <a:alpha val="10000"/>
            </a:srgbClr>
          </a:solidFill>
        </p:spPr>
      </p:sp>
      <p:sp>
        <p:nvSpPr>
          <p:cNvPr id="21" name="Text 0"/>
          <p:cNvSpPr/>
          <p:nvPr/>
        </p:nvSpPr>
        <p:spPr>
          <a:xfrm>
            <a:off x="1220470" y="837565"/>
            <a:ext cx="506730" cy="4508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p>
            <a:pPr marL="0" indent="0" algn="l">
              <a:buNone/>
            </a:pPr>
            <a:r>
              <a:rPr lang="en-US" sz="3200" kern="0" spc="162" dirty="0">
                <a:solidFill>
                  <a:srgbClr val="2B3A8A"/>
                </a:solidFill>
                <a:latin typeface="宋体" panose="02010600030101010101" pitchFamily="2" charset="-122"/>
                <a:ea typeface="宋体" panose="02010600030101010101" pitchFamily="2" charset="-122"/>
                <a:cs typeface="JetBrains Mono" pitchFamily="34" charset="-120"/>
              </a:rPr>
              <a:t>04</a:t>
            </a:r>
            <a:endParaRPr lang="en-US" sz="3200" kern="0" spc="162" dirty="0">
              <a:solidFill>
                <a:srgbClr val="2B3A8A"/>
              </a:solidFill>
              <a:latin typeface="宋体" panose="02010600030101010101" pitchFamily="2" charset="-122"/>
              <a:ea typeface="宋体" panose="02010600030101010101" pitchFamily="2" charset="-122"/>
              <a:cs typeface="JetBrains Mono" pitchFamily="34" charset="-120"/>
            </a:endParaRPr>
          </a:p>
        </p:txBody>
      </p:sp>
      <p:sp>
        <p:nvSpPr>
          <p:cNvPr id="22" name="Text 1"/>
          <p:cNvSpPr/>
          <p:nvPr/>
        </p:nvSpPr>
        <p:spPr>
          <a:xfrm>
            <a:off x="1669415" y="841375"/>
            <a:ext cx="3517265" cy="4978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p>
            <a:pPr marL="0" indent="0" algn="l">
              <a:buNone/>
            </a:pPr>
            <a:r>
              <a:rPr lang="en-US" sz="3200" b="1" dirty="0">
                <a:solidFill>
                  <a:srgbClr val="15151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关键模块实现</a:t>
            </a:r>
            <a:endParaRPr lang="en-US" sz="3200" b="1" dirty="0">
              <a:solidFill>
                <a:srgbClr val="15151A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1219200" y="1419225"/>
            <a:ext cx="16325088" cy="7524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80000"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4800" b="1" kern="0" spc="-48" dirty="0">
                <a:solidFill>
                  <a:srgbClr val="15151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系统测试 · </a:t>
            </a:r>
            <a:r>
              <a:rPr lang="en-US" sz="4800" b="1" kern="0" spc="-48" dirty="0">
                <a:solidFill>
                  <a:srgbClr val="2B3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  <a:sym typeface="+mn-ea"/>
              </a:rPr>
              <a:t>四条验证链路</a:t>
            </a:r>
            <a:endParaRPr lang="en-US" sz="4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3" name="Shape 2"/>
          <p:cNvSpPr/>
          <p:nvPr/>
        </p:nvSpPr>
        <p:spPr>
          <a:xfrm>
            <a:off x="4859685" y="1085850"/>
            <a:ext cx="12209115" cy="9525"/>
          </a:xfrm>
          <a:prstGeom prst="rect">
            <a:avLst/>
          </a:prstGeom>
          <a:solidFill>
            <a:srgbClr val="14141C">
              <a:alpha val="10000"/>
            </a:srgbClr>
          </a:solidFill>
        </p:spPr>
      </p:sp>
      <p:sp>
        <p:nvSpPr>
          <p:cNvPr id="84" name="Text 0"/>
          <p:cNvSpPr/>
          <p:nvPr/>
        </p:nvSpPr>
        <p:spPr>
          <a:xfrm>
            <a:off x="1220470" y="837565"/>
            <a:ext cx="506730" cy="4508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p>
            <a:pPr marL="0" indent="0" algn="l">
              <a:buNone/>
            </a:pPr>
            <a:r>
              <a:rPr lang="en-US" sz="3200" kern="0" spc="162" dirty="0">
                <a:solidFill>
                  <a:srgbClr val="2B3A8A"/>
                </a:solidFill>
                <a:latin typeface="宋体" panose="02010600030101010101" pitchFamily="2" charset="-122"/>
                <a:ea typeface="宋体" panose="02010600030101010101" pitchFamily="2" charset="-122"/>
                <a:cs typeface="JetBrains Mono" pitchFamily="34" charset="-120"/>
              </a:rPr>
              <a:t>04</a:t>
            </a:r>
            <a:endParaRPr lang="en-US" sz="3200" kern="0" spc="162" dirty="0">
              <a:solidFill>
                <a:srgbClr val="2B3A8A"/>
              </a:solidFill>
              <a:latin typeface="宋体" panose="02010600030101010101" pitchFamily="2" charset="-122"/>
              <a:ea typeface="宋体" panose="02010600030101010101" pitchFamily="2" charset="-122"/>
              <a:cs typeface="JetBrains Mono" pitchFamily="34" charset="-120"/>
            </a:endParaRPr>
          </a:p>
        </p:txBody>
      </p:sp>
      <p:sp>
        <p:nvSpPr>
          <p:cNvPr id="85" name="Text 1"/>
          <p:cNvSpPr/>
          <p:nvPr/>
        </p:nvSpPr>
        <p:spPr>
          <a:xfrm>
            <a:off x="1669415" y="841375"/>
            <a:ext cx="3517265" cy="4978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p>
            <a:pPr marL="0" indent="0" algn="l">
              <a:buNone/>
            </a:pPr>
            <a:r>
              <a:rPr lang="en-US" sz="3200" b="1" dirty="0">
                <a:solidFill>
                  <a:srgbClr val="15151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关键模块实现</a:t>
            </a:r>
            <a:endParaRPr lang="en-US" sz="3200" b="1" dirty="0">
              <a:solidFill>
                <a:srgbClr val="15151A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2" name="Shape 21"/>
          <p:cNvSpPr/>
          <p:nvPr/>
        </p:nvSpPr>
        <p:spPr>
          <a:xfrm>
            <a:off x="910590" y="5295900"/>
            <a:ext cx="9376410" cy="3092450"/>
          </a:xfrm>
          <a:prstGeom prst="rect">
            <a:avLst/>
          </a:prstGeom>
          <a:ln w="9525">
            <a:solidFill>
              <a:srgbClr val="14141C">
                <a:alpha val="10000"/>
              </a:srgbClr>
            </a:solidFill>
            <a:prstDash val="solid"/>
          </a:ln>
        </p:spPr>
      </p:sp>
      <p:sp>
        <p:nvSpPr>
          <p:cNvPr id="3" name="Text 22"/>
          <p:cNvSpPr/>
          <p:nvPr/>
        </p:nvSpPr>
        <p:spPr>
          <a:xfrm>
            <a:off x="1156335" y="5476875"/>
            <a:ext cx="9150350" cy="2571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p>
            <a:pPr marL="0" indent="0" algn="l">
              <a:buNone/>
            </a:pPr>
            <a:r>
              <a:rPr lang="en-US" sz="1600" kern="0" spc="189" dirty="0">
                <a:solidFill>
                  <a:srgbClr val="2B3A8A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</a:rPr>
              <a:t>性能指标（部分）</a:t>
            </a:r>
            <a:endParaRPr lang="en-US" sz="1600" kern="0" spc="189" dirty="0">
              <a:solidFill>
                <a:srgbClr val="2B3A8A"/>
              </a:solidFill>
              <a:latin typeface="宋体" panose="02010600030101010101" pitchFamily="2" charset="-122"/>
              <a:ea typeface="宋体" panose="02010600030101010101" pitchFamily="2" charset="-122"/>
              <a:cs typeface="PingFang SC" pitchFamily="34" charset="-120"/>
            </a:endParaRPr>
          </a:p>
        </p:txBody>
      </p:sp>
      <p:sp>
        <p:nvSpPr>
          <p:cNvPr id="4" name="Shape 23"/>
          <p:cNvSpPr/>
          <p:nvPr/>
        </p:nvSpPr>
        <p:spPr>
          <a:xfrm>
            <a:off x="1369695" y="6115050"/>
            <a:ext cx="2665095" cy="76200"/>
          </a:xfrm>
          <a:prstGeom prst="rect">
            <a:avLst/>
          </a:prstGeom>
          <a:solidFill>
            <a:srgbClr val="15151A"/>
          </a:solidFill>
        </p:spPr>
      </p:sp>
      <p:sp>
        <p:nvSpPr>
          <p:cNvPr id="9" name="Text 24"/>
          <p:cNvSpPr/>
          <p:nvPr/>
        </p:nvSpPr>
        <p:spPr>
          <a:xfrm>
            <a:off x="1489075" y="5819775"/>
            <a:ext cx="2508885" cy="2895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p>
            <a:pPr marL="0" indent="0" algn="l">
              <a:buNone/>
            </a:pPr>
            <a:r>
              <a:rPr lang="en-US" b="1" kern="0" spc="51" dirty="0">
                <a:solidFill>
                  <a:srgbClr val="15151A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</a:rPr>
              <a:t>测试项</a:t>
            </a:r>
            <a:endParaRPr lang="en-US" b="1" kern="0" spc="51" dirty="0">
              <a:solidFill>
                <a:srgbClr val="15151A"/>
              </a:solidFill>
              <a:latin typeface="宋体" panose="02010600030101010101" pitchFamily="2" charset="-122"/>
              <a:ea typeface="宋体" panose="02010600030101010101" pitchFamily="2" charset="-122"/>
              <a:cs typeface="PingFang SC" pitchFamily="34" charset="-120"/>
            </a:endParaRPr>
          </a:p>
        </p:txBody>
      </p:sp>
      <p:sp>
        <p:nvSpPr>
          <p:cNvPr id="13" name="Shape 25"/>
          <p:cNvSpPr/>
          <p:nvPr/>
        </p:nvSpPr>
        <p:spPr>
          <a:xfrm>
            <a:off x="3985260" y="6115050"/>
            <a:ext cx="1510030" cy="76200"/>
          </a:xfrm>
          <a:prstGeom prst="rect">
            <a:avLst/>
          </a:prstGeom>
          <a:solidFill>
            <a:srgbClr val="15151A"/>
          </a:solidFill>
        </p:spPr>
      </p:sp>
      <p:sp>
        <p:nvSpPr>
          <p:cNvPr id="17" name="Text 26"/>
          <p:cNvSpPr/>
          <p:nvPr/>
        </p:nvSpPr>
        <p:spPr>
          <a:xfrm>
            <a:off x="4104640" y="5819775"/>
            <a:ext cx="1352550" cy="2895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p>
            <a:pPr marL="0" indent="0" algn="l">
              <a:buNone/>
            </a:pPr>
            <a:r>
              <a:rPr lang="en-US" b="1" kern="0" spc="51" dirty="0">
                <a:solidFill>
                  <a:srgbClr val="15151A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</a:rPr>
              <a:t>平均</a:t>
            </a:r>
            <a:endParaRPr lang="en-US" b="1" kern="0" spc="51" dirty="0">
              <a:solidFill>
                <a:srgbClr val="15151A"/>
              </a:solidFill>
              <a:latin typeface="宋体" panose="02010600030101010101" pitchFamily="2" charset="-122"/>
              <a:ea typeface="宋体" panose="02010600030101010101" pitchFamily="2" charset="-122"/>
              <a:cs typeface="PingFang SC" pitchFamily="34" charset="-120"/>
            </a:endParaRPr>
          </a:p>
        </p:txBody>
      </p:sp>
      <p:sp>
        <p:nvSpPr>
          <p:cNvPr id="21" name="Shape 27"/>
          <p:cNvSpPr/>
          <p:nvPr/>
        </p:nvSpPr>
        <p:spPr>
          <a:xfrm>
            <a:off x="5445760" y="6115050"/>
            <a:ext cx="1510030" cy="76200"/>
          </a:xfrm>
          <a:prstGeom prst="rect">
            <a:avLst/>
          </a:prstGeom>
          <a:solidFill>
            <a:srgbClr val="15151A"/>
          </a:solidFill>
        </p:spPr>
      </p:sp>
      <p:sp>
        <p:nvSpPr>
          <p:cNvPr id="86" name="Text 28"/>
          <p:cNvSpPr/>
          <p:nvPr/>
        </p:nvSpPr>
        <p:spPr>
          <a:xfrm>
            <a:off x="5565140" y="5819775"/>
            <a:ext cx="1352550" cy="289560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p>
            <a:pPr marL="0" indent="0" algn="l">
              <a:buNone/>
            </a:pPr>
            <a:r>
              <a:rPr lang="en-US" b="1" kern="0" spc="51" dirty="0">
                <a:solidFill>
                  <a:srgbClr val="15151A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</a:rPr>
              <a:t>P95</a:t>
            </a:r>
            <a:endParaRPr lang="en-US" b="1" kern="0" spc="51" dirty="0">
              <a:solidFill>
                <a:srgbClr val="15151A"/>
              </a:solidFill>
              <a:latin typeface="宋体" panose="02010600030101010101" pitchFamily="2" charset="-122"/>
              <a:ea typeface="宋体" panose="02010600030101010101" pitchFamily="2" charset="-122"/>
              <a:cs typeface="PingFang SC" pitchFamily="34" charset="-120"/>
            </a:endParaRPr>
          </a:p>
        </p:txBody>
      </p:sp>
      <p:sp>
        <p:nvSpPr>
          <p:cNvPr id="87" name="Shape 29"/>
          <p:cNvSpPr/>
          <p:nvPr/>
        </p:nvSpPr>
        <p:spPr>
          <a:xfrm>
            <a:off x="6851015" y="6115050"/>
            <a:ext cx="3197860" cy="76200"/>
          </a:xfrm>
          <a:prstGeom prst="rect">
            <a:avLst/>
          </a:prstGeom>
          <a:solidFill>
            <a:srgbClr val="15151A"/>
          </a:solidFill>
        </p:spPr>
      </p:sp>
      <p:sp>
        <p:nvSpPr>
          <p:cNvPr id="88" name="Text 30"/>
          <p:cNvSpPr/>
          <p:nvPr/>
        </p:nvSpPr>
        <p:spPr>
          <a:xfrm>
            <a:off x="6969760" y="5819775"/>
            <a:ext cx="3057525" cy="2895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p>
            <a:pPr marL="0" indent="0" algn="l">
              <a:buNone/>
            </a:pPr>
            <a:r>
              <a:rPr lang="en-US" b="1" kern="0" spc="51" dirty="0">
                <a:solidFill>
                  <a:srgbClr val="15151A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</a:rPr>
              <a:t>备注</a:t>
            </a:r>
            <a:endParaRPr lang="en-US" b="1" kern="0" spc="51" dirty="0">
              <a:solidFill>
                <a:srgbClr val="15151A"/>
              </a:solidFill>
              <a:latin typeface="宋体" panose="02010600030101010101" pitchFamily="2" charset="-122"/>
              <a:ea typeface="宋体" panose="02010600030101010101" pitchFamily="2" charset="-122"/>
              <a:cs typeface="PingFang SC" pitchFamily="34" charset="-120"/>
            </a:endParaRPr>
          </a:p>
        </p:txBody>
      </p:sp>
      <p:sp>
        <p:nvSpPr>
          <p:cNvPr id="89" name="Shape 31"/>
          <p:cNvSpPr/>
          <p:nvPr/>
        </p:nvSpPr>
        <p:spPr>
          <a:xfrm>
            <a:off x="1369695" y="6558280"/>
            <a:ext cx="2665095" cy="76200"/>
          </a:xfrm>
          <a:prstGeom prst="rect">
            <a:avLst/>
          </a:prstGeom>
          <a:solidFill>
            <a:srgbClr val="14141C">
              <a:alpha val="10000"/>
            </a:srgbClr>
          </a:solidFill>
        </p:spPr>
      </p:sp>
      <p:sp>
        <p:nvSpPr>
          <p:cNvPr id="90" name="Text 32"/>
          <p:cNvSpPr/>
          <p:nvPr/>
        </p:nvSpPr>
        <p:spPr>
          <a:xfrm>
            <a:off x="1489075" y="6210300"/>
            <a:ext cx="2508885" cy="349250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</a:rPr>
              <a:t>健康检查</a:t>
            </a:r>
            <a:endParaRPr lang="en-US" dirty="0">
              <a:solidFill>
                <a:srgbClr val="2C2C34"/>
              </a:solidFill>
              <a:latin typeface="宋体" panose="02010600030101010101" pitchFamily="2" charset="-122"/>
              <a:ea typeface="宋体" panose="02010600030101010101" pitchFamily="2" charset="-122"/>
              <a:cs typeface="PingFang SC" pitchFamily="34" charset="-120"/>
            </a:endParaRPr>
          </a:p>
        </p:txBody>
      </p:sp>
      <p:sp>
        <p:nvSpPr>
          <p:cNvPr id="91" name="Shape 33"/>
          <p:cNvSpPr/>
          <p:nvPr/>
        </p:nvSpPr>
        <p:spPr>
          <a:xfrm>
            <a:off x="3985260" y="6558280"/>
            <a:ext cx="1510030" cy="76200"/>
          </a:xfrm>
          <a:prstGeom prst="rect">
            <a:avLst/>
          </a:prstGeom>
          <a:solidFill>
            <a:srgbClr val="14141C">
              <a:alpha val="10000"/>
            </a:srgbClr>
          </a:solidFill>
        </p:spPr>
      </p:sp>
      <p:sp>
        <p:nvSpPr>
          <p:cNvPr id="92" name="Text 34"/>
          <p:cNvSpPr/>
          <p:nvPr/>
        </p:nvSpPr>
        <p:spPr>
          <a:xfrm>
            <a:off x="4104640" y="6210300"/>
            <a:ext cx="1352550" cy="3492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p>
            <a:pPr marL="0" indent="0" algn="l">
              <a:buNone/>
            </a:pPr>
            <a:r>
              <a:rPr lang="en-US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JetBrains Mono" pitchFamily="34" charset="-120"/>
              </a:rPr>
              <a:t>15.9 ms</a:t>
            </a:r>
            <a:endParaRPr lang="en-US" dirty="0">
              <a:solidFill>
                <a:srgbClr val="2C2C34"/>
              </a:solidFill>
              <a:latin typeface="宋体" panose="02010600030101010101" pitchFamily="2" charset="-122"/>
              <a:ea typeface="宋体" panose="02010600030101010101" pitchFamily="2" charset="-122"/>
              <a:cs typeface="JetBrains Mono" pitchFamily="34" charset="-120"/>
            </a:endParaRPr>
          </a:p>
        </p:txBody>
      </p:sp>
      <p:sp>
        <p:nvSpPr>
          <p:cNvPr id="93" name="Shape 35"/>
          <p:cNvSpPr/>
          <p:nvPr/>
        </p:nvSpPr>
        <p:spPr>
          <a:xfrm>
            <a:off x="5445760" y="6558280"/>
            <a:ext cx="1510030" cy="76200"/>
          </a:xfrm>
          <a:prstGeom prst="rect">
            <a:avLst/>
          </a:prstGeom>
          <a:solidFill>
            <a:srgbClr val="14141C">
              <a:alpha val="10000"/>
            </a:srgbClr>
          </a:solidFill>
        </p:spPr>
      </p:sp>
      <p:sp>
        <p:nvSpPr>
          <p:cNvPr id="94" name="Text 36"/>
          <p:cNvSpPr/>
          <p:nvPr/>
        </p:nvSpPr>
        <p:spPr>
          <a:xfrm>
            <a:off x="5565140" y="6210300"/>
            <a:ext cx="1352550" cy="3492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p>
            <a:pPr marL="0" indent="0" algn="l">
              <a:buNone/>
            </a:pPr>
            <a:r>
              <a:rPr lang="en-US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JetBrains Mono" pitchFamily="34" charset="-120"/>
              </a:rPr>
              <a:t>28.1 ms</a:t>
            </a:r>
            <a:endParaRPr lang="en-US" dirty="0">
              <a:solidFill>
                <a:srgbClr val="2C2C34"/>
              </a:solidFill>
              <a:latin typeface="宋体" panose="02010600030101010101" pitchFamily="2" charset="-122"/>
              <a:ea typeface="宋体" panose="02010600030101010101" pitchFamily="2" charset="-122"/>
              <a:cs typeface="JetBrains Mono" pitchFamily="34" charset="-120"/>
            </a:endParaRPr>
          </a:p>
        </p:txBody>
      </p:sp>
      <p:sp>
        <p:nvSpPr>
          <p:cNvPr id="95" name="Shape 37"/>
          <p:cNvSpPr/>
          <p:nvPr/>
        </p:nvSpPr>
        <p:spPr>
          <a:xfrm>
            <a:off x="6851015" y="6558280"/>
            <a:ext cx="3197860" cy="76200"/>
          </a:xfrm>
          <a:prstGeom prst="rect">
            <a:avLst/>
          </a:prstGeom>
          <a:solidFill>
            <a:srgbClr val="14141C">
              <a:alpha val="10000"/>
            </a:srgbClr>
          </a:solidFill>
        </p:spPr>
      </p:sp>
      <p:sp>
        <p:nvSpPr>
          <p:cNvPr id="96" name="Text 38"/>
          <p:cNvSpPr/>
          <p:nvPr/>
        </p:nvSpPr>
        <p:spPr>
          <a:xfrm>
            <a:off x="6969760" y="6210300"/>
            <a:ext cx="3057525" cy="3492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</a:rPr>
              <a:t>本地确定性逻辑</a:t>
            </a:r>
            <a:endParaRPr lang="en-US" sz="1600" dirty="0">
              <a:solidFill>
                <a:srgbClr val="2C2C34"/>
              </a:solidFill>
              <a:latin typeface="宋体" panose="02010600030101010101" pitchFamily="2" charset="-122"/>
              <a:ea typeface="宋体" panose="02010600030101010101" pitchFamily="2" charset="-122"/>
              <a:cs typeface="PingFang SC" pitchFamily="34" charset="-120"/>
            </a:endParaRPr>
          </a:p>
        </p:txBody>
      </p:sp>
      <p:sp>
        <p:nvSpPr>
          <p:cNvPr id="97" name="Shape 39"/>
          <p:cNvSpPr/>
          <p:nvPr/>
        </p:nvSpPr>
        <p:spPr>
          <a:xfrm>
            <a:off x="1369695" y="6986905"/>
            <a:ext cx="2665095" cy="76200"/>
          </a:xfrm>
          <a:prstGeom prst="rect">
            <a:avLst/>
          </a:prstGeom>
          <a:solidFill>
            <a:srgbClr val="14141C">
              <a:alpha val="10000"/>
            </a:srgbClr>
          </a:solidFill>
        </p:spPr>
      </p:sp>
      <p:sp>
        <p:nvSpPr>
          <p:cNvPr id="98" name="Text 40"/>
          <p:cNvSpPr/>
          <p:nvPr/>
        </p:nvSpPr>
        <p:spPr>
          <a:xfrm>
            <a:off x="1489075" y="6644005"/>
            <a:ext cx="2508885" cy="343535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</a:rPr>
              <a:t>状态查询</a:t>
            </a:r>
            <a:endParaRPr lang="en-US" sz="1600" dirty="0">
              <a:solidFill>
                <a:srgbClr val="2C2C34"/>
              </a:solidFill>
              <a:latin typeface="宋体" panose="02010600030101010101" pitchFamily="2" charset="-122"/>
              <a:ea typeface="宋体" panose="02010600030101010101" pitchFamily="2" charset="-122"/>
              <a:cs typeface="PingFang SC" pitchFamily="34" charset="-120"/>
            </a:endParaRPr>
          </a:p>
        </p:txBody>
      </p:sp>
      <p:sp>
        <p:nvSpPr>
          <p:cNvPr id="99" name="Shape 41"/>
          <p:cNvSpPr/>
          <p:nvPr/>
        </p:nvSpPr>
        <p:spPr>
          <a:xfrm>
            <a:off x="3985260" y="6986905"/>
            <a:ext cx="1510030" cy="76200"/>
          </a:xfrm>
          <a:prstGeom prst="rect">
            <a:avLst/>
          </a:prstGeom>
          <a:solidFill>
            <a:srgbClr val="14141C">
              <a:alpha val="10000"/>
            </a:srgbClr>
          </a:solidFill>
        </p:spPr>
      </p:sp>
      <p:sp>
        <p:nvSpPr>
          <p:cNvPr id="100" name="Text 42"/>
          <p:cNvSpPr/>
          <p:nvPr/>
        </p:nvSpPr>
        <p:spPr>
          <a:xfrm>
            <a:off x="4104640" y="6644005"/>
            <a:ext cx="1352550" cy="34353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p>
            <a:pPr marL="0" indent="0" algn="l">
              <a:buNone/>
            </a:pPr>
            <a:r>
              <a:rPr lang="en-US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JetBrains Mono" pitchFamily="34" charset="-120"/>
              </a:rPr>
              <a:t>61.2 ms</a:t>
            </a:r>
            <a:endParaRPr lang="en-US" dirty="0">
              <a:solidFill>
                <a:srgbClr val="2C2C34"/>
              </a:solidFill>
              <a:latin typeface="宋体" panose="02010600030101010101" pitchFamily="2" charset="-122"/>
              <a:ea typeface="宋体" panose="02010600030101010101" pitchFamily="2" charset="-122"/>
              <a:cs typeface="JetBrains Mono" pitchFamily="34" charset="-120"/>
            </a:endParaRPr>
          </a:p>
        </p:txBody>
      </p:sp>
      <p:sp>
        <p:nvSpPr>
          <p:cNvPr id="101" name="Shape 43"/>
          <p:cNvSpPr/>
          <p:nvPr/>
        </p:nvSpPr>
        <p:spPr>
          <a:xfrm>
            <a:off x="5445760" y="6986905"/>
            <a:ext cx="1510030" cy="76200"/>
          </a:xfrm>
          <a:prstGeom prst="rect">
            <a:avLst/>
          </a:prstGeom>
          <a:solidFill>
            <a:srgbClr val="14141C">
              <a:alpha val="10000"/>
            </a:srgbClr>
          </a:solidFill>
        </p:spPr>
      </p:sp>
      <p:sp>
        <p:nvSpPr>
          <p:cNvPr id="102" name="Text 44"/>
          <p:cNvSpPr/>
          <p:nvPr/>
        </p:nvSpPr>
        <p:spPr>
          <a:xfrm>
            <a:off x="5565140" y="6644005"/>
            <a:ext cx="1352550" cy="34353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p>
            <a:pPr marL="0" indent="0" algn="l">
              <a:buNone/>
            </a:pPr>
            <a:r>
              <a:rPr lang="en-US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JetBrains Mono" pitchFamily="34" charset="-120"/>
              </a:rPr>
              <a:t>72.1 ms</a:t>
            </a:r>
            <a:endParaRPr lang="en-US" dirty="0">
              <a:solidFill>
                <a:srgbClr val="2C2C34"/>
              </a:solidFill>
              <a:latin typeface="宋体" panose="02010600030101010101" pitchFamily="2" charset="-122"/>
              <a:ea typeface="宋体" panose="02010600030101010101" pitchFamily="2" charset="-122"/>
              <a:cs typeface="JetBrains Mono" pitchFamily="34" charset="-120"/>
            </a:endParaRPr>
          </a:p>
        </p:txBody>
      </p:sp>
      <p:sp>
        <p:nvSpPr>
          <p:cNvPr id="103" name="Shape 45"/>
          <p:cNvSpPr/>
          <p:nvPr/>
        </p:nvSpPr>
        <p:spPr>
          <a:xfrm>
            <a:off x="6851015" y="6986905"/>
            <a:ext cx="3197860" cy="76200"/>
          </a:xfrm>
          <a:prstGeom prst="rect">
            <a:avLst/>
          </a:prstGeom>
          <a:solidFill>
            <a:srgbClr val="14141C">
              <a:alpha val="10000"/>
            </a:srgbClr>
          </a:solidFill>
        </p:spPr>
      </p:sp>
      <p:sp>
        <p:nvSpPr>
          <p:cNvPr id="104" name="Text 46"/>
          <p:cNvSpPr/>
          <p:nvPr/>
        </p:nvSpPr>
        <p:spPr>
          <a:xfrm>
            <a:off x="6969760" y="6644005"/>
            <a:ext cx="3057525" cy="34353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</a:rPr>
              <a:t>含状态文件桥接</a:t>
            </a:r>
            <a:endParaRPr lang="en-US" sz="1600" dirty="0">
              <a:solidFill>
                <a:srgbClr val="2C2C34"/>
              </a:solidFill>
              <a:latin typeface="宋体" panose="02010600030101010101" pitchFamily="2" charset="-122"/>
              <a:ea typeface="宋体" panose="02010600030101010101" pitchFamily="2" charset="-122"/>
              <a:cs typeface="PingFang SC" pitchFamily="34" charset="-120"/>
            </a:endParaRPr>
          </a:p>
        </p:txBody>
      </p:sp>
      <p:sp>
        <p:nvSpPr>
          <p:cNvPr id="105" name="Shape 47"/>
          <p:cNvSpPr/>
          <p:nvPr/>
        </p:nvSpPr>
        <p:spPr>
          <a:xfrm>
            <a:off x="1369695" y="7415530"/>
            <a:ext cx="2665095" cy="76200"/>
          </a:xfrm>
          <a:prstGeom prst="rect">
            <a:avLst/>
          </a:prstGeom>
          <a:solidFill>
            <a:srgbClr val="14141C">
              <a:alpha val="10000"/>
            </a:srgbClr>
          </a:solidFill>
        </p:spPr>
      </p:sp>
      <p:sp>
        <p:nvSpPr>
          <p:cNvPr id="106" name="Text 48"/>
          <p:cNvSpPr/>
          <p:nvPr/>
        </p:nvSpPr>
        <p:spPr>
          <a:xfrm>
            <a:off x="1489075" y="7072630"/>
            <a:ext cx="2508885" cy="343535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</a:rPr>
              <a:t>知识库检索</a:t>
            </a:r>
            <a:endParaRPr lang="en-US" sz="1600" dirty="0">
              <a:solidFill>
                <a:srgbClr val="2C2C34"/>
              </a:solidFill>
              <a:latin typeface="宋体" panose="02010600030101010101" pitchFamily="2" charset="-122"/>
              <a:ea typeface="宋体" panose="02010600030101010101" pitchFamily="2" charset="-122"/>
              <a:cs typeface="PingFang SC" pitchFamily="34" charset="-120"/>
            </a:endParaRPr>
          </a:p>
        </p:txBody>
      </p:sp>
      <p:sp>
        <p:nvSpPr>
          <p:cNvPr id="107" name="Shape 49"/>
          <p:cNvSpPr/>
          <p:nvPr/>
        </p:nvSpPr>
        <p:spPr>
          <a:xfrm>
            <a:off x="3985260" y="7415530"/>
            <a:ext cx="1510030" cy="76200"/>
          </a:xfrm>
          <a:prstGeom prst="rect">
            <a:avLst/>
          </a:prstGeom>
          <a:solidFill>
            <a:srgbClr val="14141C">
              <a:alpha val="10000"/>
            </a:srgbClr>
          </a:solidFill>
        </p:spPr>
      </p:sp>
      <p:sp>
        <p:nvSpPr>
          <p:cNvPr id="108" name="Text 50"/>
          <p:cNvSpPr/>
          <p:nvPr/>
        </p:nvSpPr>
        <p:spPr>
          <a:xfrm>
            <a:off x="4104640" y="7072630"/>
            <a:ext cx="1352550" cy="34353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p>
            <a:pPr marL="0" indent="0" algn="l">
              <a:buNone/>
            </a:pPr>
            <a:r>
              <a:rPr lang="en-US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JetBrains Mono" pitchFamily="34" charset="-120"/>
              </a:rPr>
              <a:t>25.6 ms</a:t>
            </a:r>
            <a:endParaRPr lang="en-US" dirty="0">
              <a:solidFill>
                <a:srgbClr val="2C2C34"/>
              </a:solidFill>
              <a:latin typeface="宋体" panose="02010600030101010101" pitchFamily="2" charset="-122"/>
              <a:ea typeface="宋体" panose="02010600030101010101" pitchFamily="2" charset="-122"/>
              <a:cs typeface="JetBrains Mono" pitchFamily="34" charset="-120"/>
            </a:endParaRPr>
          </a:p>
        </p:txBody>
      </p:sp>
      <p:sp>
        <p:nvSpPr>
          <p:cNvPr id="109" name="Shape 51"/>
          <p:cNvSpPr/>
          <p:nvPr/>
        </p:nvSpPr>
        <p:spPr>
          <a:xfrm>
            <a:off x="5445760" y="7415530"/>
            <a:ext cx="1510030" cy="76200"/>
          </a:xfrm>
          <a:prstGeom prst="rect">
            <a:avLst/>
          </a:prstGeom>
          <a:solidFill>
            <a:srgbClr val="14141C">
              <a:alpha val="10000"/>
            </a:srgbClr>
          </a:solidFill>
        </p:spPr>
      </p:sp>
      <p:sp>
        <p:nvSpPr>
          <p:cNvPr id="110" name="Text 52"/>
          <p:cNvSpPr/>
          <p:nvPr/>
        </p:nvSpPr>
        <p:spPr>
          <a:xfrm>
            <a:off x="5565140" y="7072630"/>
            <a:ext cx="1352550" cy="34353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p>
            <a:pPr marL="0" indent="0" algn="l">
              <a:buNone/>
            </a:pPr>
            <a:r>
              <a:rPr lang="en-US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JetBrains Mono" pitchFamily="34" charset="-120"/>
              </a:rPr>
              <a:t>34.0 ms</a:t>
            </a:r>
            <a:endParaRPr lang="en-US" dirty="0">
              <a:solidFill>
                <a:srgbClr val="2C2C34"/>
              </a:solidFill>
              <a:latin typeface="宋体" panose="02010600030101010101" pitchFamily="2" charset="-122"/>
              <a:ea typeface="宋体" panose="02010600030101010101" pitchFamily="2" charset="-122"/>
              <a:cs typeface="JetBrains Mono" pitchFamily="34" charset="-120"/>
            </a:endParaRPr>
          </a:p>
        </p:txBody>
      </p:sp>
      <p:sp>
        <p:nvSpPr>
          <p:cNvPr id="111" name="Shape 53"/>
          <p:cNvSpPr/>
          <p:nvPr/>
        </p:nvSpPr>
        <p:spPr>
          <a:xfrm>
            <a:off x="6851015" y="7415530"/>
            <a:ext cx="3197860" cy="76200"/>
          </a:xfrm>
          <a:prstGeom prst="rect">
            <a:avLst/>
          </a:prstGeom>
          <a:solidFill>
            <a:srgbClr val="14141C">
              <a:alpha val="10000"/>
            </a:srgbClr>
          </a:solidFill>
        </p:spPr>
      </p:sp>
      <p:sp>
        <p:nvSpPr>
          <p:cNvPr id="112" name="Text 54"/>
          <p:cNvSpPr/>
          <p:nvPr/>
        </p:nvSpPr>
        <p:spPr>
          <a:xfrm>
            <a:off x="6969760" y="7072630"/>
            <a:ext cx="3057525" cy="34353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</a:rPr>
              <a:t>混合检索</a:t>
            </a:r>
            <a:endParaRPr lang="en-US" sz="1600" dirty="0">
              <a:solidFill>
                <a:srgbClr val="2C2C34"/>
              </a:solidFill>
              <a:latin typeface="宋体" panose="02010600030101010101" pitchFamily="2" charset="-122"/>
              <a:ea typeface="宋体" panose="02010600030101010101" pitchFamily="2" charset="-122"/>
              <a:cs typeface="PingFang SC" pitchFamily="34" charset="-120"/>
            </a:endParaRPr>
          </a:p>
        </p:txBody>
      </p:sp>
      <p:sp>
        <p:nvSpPr>
          <p:cNvPr id="113" name="Shape 55"/>
          <p:cNvSpPr/>
          <p:nvPr/>
        </p:nvSpPr>
        <p:spPr>
          <a:xfrm>
            <a:off x="1369695" y="7844155"/>
            <a:ext cx="2665095" cy="76200"/>
          </a:xfrm>
          <a:prstGeom prst="rect">
            <a:avLst/>
          </a:prstGeom>
          <a:solidFill>
            <a:srgbClr val="14141C">
              <a:alpha val="10000"/>
            </a:srgbClr>
          </a:solidFill>
        </p:spPr>
      </p:sp>
      <p:sp>
        <p:nvSpPr>
          <p:cNvPr id="114" name="Text 56"/>
          <p:cNvSpPr/>
          <p:nvPr/>
        </p:nvSpPr>
        <p:spPr>
          <a:xfrm>
            <a:off x="1489075" y="7501255"/>
            <a:ext cx="2508885" cy="343535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</a:rPr>
              <a:t>流式问答首块</a:t>
            </a:r>
            <a:endParaRPr lang="en-US" sz="1600" dirty="0">
              <a:solidFill>
                <a:srgbClr val="2C2C34"/>
              </a:solidFill>
              <a:latin typeface="宋体" panose="02010600030101010101" pitchFamily="2" charset="-122"/>
              <a:ea typeface="宋体" panose="02010600030101010101" pitchFamily="2" charset="-122"/>
              <a:cs typeface="PingFang SC" pitchFamily="34" charset="-120"/>
            </a:endParaRPr>
          </a:p>
        </p:txBody>
      </p:sp>
      <p:sp>
        <p:nvSpPr>
          <p:cNvPr id="115" name="Shape 57"/>
          <p:cNvSpPr/>
          <p:nvPr/>
        </p:nvSpPr>
        <p:spPr>
          <a:xfrm>
            <a:off x="3985260" y="7844155"/>
            <a:ext cx="1510030" cy="76200"/>
          </a:xfrm>
          <a:prstGeom prst="rect">
            <a:avLst/>
          </a:prstGeom>
          <a:solidFill>
            <a:srgbClr val="14141C">
              <a:alpha val="10000"/>
            </a:srgbClr>
          </a:solidFill>
        </p:spPr>
      </p:sp>
      <p:sp>
        <p:nvSpPr>
          <p:cNvPr id="116" name="Text 58"/>
          <p:cNvSpPr/>
          <p:nvPr/>
        </p:nvSpPr>
        <p:spPr>
          <a:xfrm>
            <a:off x="4104640" y="7501255"/>
            <a:ext cx="1352550" cy="34353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p>
            <a:pPr marL="0" indent="0" algn="l">
              <a:buNone/>
            </a:pPr>
            <a:r>
              <a:rPr lang="en-US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JetBrains Mono" pitchFamily="34" charset="-120"/>
              </a:rPr>
              <a:t>3.27 s</a:t>
            </a:r>
            <a:endParaRPr lang="en-US" dirty="0">
              <a:solidFill>
                <a:srgbClr val="2C2C34"/>
              </a:solidFill>
              <a:latin typeface="宋体" panose="02010600030101010101" pitchFamily="2" charset="-122"/>
              <a:ea typeface="宋体" panose="02010600030101010101" pitchFamily="2" charset="-122"/>
              <a:cs typeface="JetBrains Mono" pitchFamily="34" charset="-120"/>
            </a:endParaRPr>
          </a:p>
        </p:txBody>
      </p:sp>
      <p:sp>
        <p:nvSpPr>
          <p:cNvPr id="117" name="Shape 59"/>
          <p:cNvSpPr/>
          <p:nvPr/>
        </p:nvSpPr>
        <p:spPr>
          <a:xfrm>
            <a:off x="5445760" y="7844155"/>
            <a:ext cx="1510030" cy="76200"/>
          </a:xfrm>
          <a:prstGeom prst="rect">
            <a:avLst/>
          </a:prstGeom>
          <a:solidFill>
            <a:srgbClr val="14141C">
              <a:alpha val="10000"/>
            </a:srgbClr>
          </a:solidFill>
        </p:spPr>
      </p:sp>
      <p:sp>
        <p:nvSpPr>
          <p:cNvPr id="118" name="Text 60"/>
          <p:cNvSpPr/>
          <p:nvPr/>
        </p:nvSpPr>
        <p:spPr>
          <a:xfrm>
            <a:off x="5565140" y="7501255"/>
            <a:ext cx="1352550" cy="34353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p>
            <a:pPr marL="0" indent="0" algn="l">
              <a:buNone/>
            </a:pPr>
            <a:r>
              <a:rPr lang="en-US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JetBrains Mono" pitchFamily="34" charset="-120"/>
              </a:rPr>
              <a:t>4.74 s</a:t>
            </a:r>
            <a:endParaRPr lang="en-US" dirty="0">
              <a:solidFill>
                <a:srgbClr val="2C2C34"/>
              </a:solidFill>
              <a:latin typeface="宋体" panose="02010600030101010101" pitchFamily="2" charset="-122"/>
              <a:ea typeface="宋体" panose="02010600030101010101" pitchFamily="2" charset="-122"/>
              <a:cs typeface="JetBrains Mono" pitchFamily="34" charset="-120"/>
            </a:endParaRPr>
          </a:p>
        </p:txBody>
      </p:sp>
      <p:sp>
        <p:nvSpPr>
          <p:cNvPr id="119" name="Shape 61"/>
          <p:cNvSpPr/>
          <p:nvPr/>
        </p:nvSpPr>
        <p:spPr>
          <a:xfrm>
            <a:off x="6851015" y="7844155"/>
            <a:ext cx="3197860" cy="76200"/>
          </a:xfrm>
          <a:prstGeom prst="rect">
            <a:avLst/>
          </a:prstGeom>
          <a:solidFill>
            <a:srgbClr val="14141C">
              <a:alpha val="10000"/>
            </a:srgbClr>
          </a:solidFill>
        </p:spPr>
      </p:sp>
      <p:sp>
        <p:nvSpPr>
          <p:cNvPr id="120" name="Text 62"/>
          <p:cNvSpPr/>
          <p:nvPr/>
        </p:nvSpPr>
        <p:spPr>
          <a:xfrm>
            <a:off x="6969760" y="7501255"/>
            <a:ext cx="3057525" cy="34353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C0392B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</a:rPr>
              <a:t>主要受外部模型影响</a:t>
            </a:r>
            <a:endParaRPr lang="en-US" sz="1600" b="1" dirty="0">
              <a:solidFill>
                <a:srgbClr val="C0392B"/>
              </a:solidFill>
              <a:latin typeface="宋体" panose="02010600030101010101" pitchFamily="2" charset="-122"/>
              <a:ea typeface="宋体" panose="02010600030101010101" pitchFamily="2" charset="-122"/>
              <a:cs typeface="PingFang SC" pitchFamily="34" charset="-120"/>
            </a:endParaRPr>
          </a:p>
        </p:txBody>
      </p:sp>
      <p:sp>
        <p:nvSpPr>
          <p:cNvPr id="121" name="Shape 63"/>
          <p:cNvSpPr/>
          <p:nvPr/>
        </p:nvSpPr>
        <p:spPr>
          <a:xfrm>
            <a:off x="10591651" y="5295900"/>
            <a:ext cx="6477000" cy="180975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22" name="Shape 64"/>
          <p:cNvSpPr/>
          <p:nvPr/>
        </p:nvSpPr>
        <p:spPr>
          <a:xfrm>
            <a:off x="10591651" y="7096125"/>
            <a:ext cx="6477000" cy="9525"/>
          </a:xfrm>
          <a:prstGeom prst="rect">
            <a:avLst/>
          </a:prstGeom>
          <a:solidFill>
            <a:srgbClr val="14141C">
              <a:alpha val="10000"/>
            </a:srgbClr>
          </a:solidFill>
        </p:spPr>
      </p:sp>
      <p:sp>
        <p:nvSpPr>
          <p:cNvPr id="124" name="Shape 66"/>
          <p:cNvSpPr/>
          <p:nvPr/>
        </p:nvSpPr>
        <p:spPr>
          <a:xfrm>
            <a:off x="10591651" y="5295900"/>
            <a:ext cx="38100" cy="1809750"/>
          </a:xfrm>
          <a:prstGeom prst="rect">
            <a:avLst/>
          </a:prstGeom>
          <a:solidFill>
            <a:srgbClr val="B88746"/>
          </a:solidFill>
        </p:spPr>
      </p:sp>
      <p:sp>
        <p:nvSpPr>
          <p:cNvPr id="125" name="Shape 67"/>
          <p:cNvSpPr/>
          <p:nvPr/>
        </p:nvSpPr>
        <p:spPr>
          <a:xfrm>
            <a:off x="17059126" y="5295900"/>
            <a:ext cx="9525" cy="1809750"/>
          </a:xfrm>
          <a:prstGeom prst="rect">
            <a:avLst/>
          </a:prstGeom>
          <a:solidFill>
            <a:srgbClr val="14141C">
              <a:alpha val="10000"/>
            </a:srgbClr>
          </a:solidFill>
        </p:spPr>
      </p:sp>
      <p:sp>
        <p:nvSpPr>
          <p:cNvPr id="126" name="Text 68"/>
          <p:cNvSpPr/>
          <p:nvPr/>
        </p:nvSpPr>
        <p:spPr>
          <a:xfrm>
            <a:off x="10877401" y="5495925"/>
            <a:ext cx="6112097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p>
            <a:pPr marL="0" indent="0" algn="l">
              <a:buNone/>
            </a:pPr>
            <a:r>
              <a:rPr lang="en-US" sz="2000" kern="0" spc="189" dirty="0">
                <a:solidFill>
                  <a:srgbClr val="B88746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</a:rPr>
              <a:t>已识别的失败边界</a:t>
            </a:r>
            <a:endParaRPr lang="en-US" sz="2000" kern="0" spc="189" dirty="0">
              <a:solidFill>
                <a:srgbClr val="B88746"/>
              </a:solidFill>
              <a:latin typeface="宋体" panose="02010600030101010101" pitchFamily="2" charset="-122"/>
              <a:ea typeface="宋体" panose="02010600030101010101" pitchFamily="2" charset="-122"/>
              <a:cs typeface="PingFang SC" pitchFamily="34" charset="-120"/>
            </a:endParaRPr>
          </a:p>
        </p:txBody>
      </p:sp>
      <p:sp>
        <p:nvSpPr>
          <p:cNvPr id="127" name="Text 69"/>
          <p:cNvSpPr/>
          <p:nvPr/>
        </p:nvSpPr>
        <p:spPr>
          <a:xfrm>
            <a:off x="10966936" y="5762625"/>
            <a:ext cx="6016276" cy="304800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p>
            <a:pPr marL="0" indent="0" algn="l">
              <a:lnSpc>
                <a:spcPct val="160000"/>
              </a:lnSpc>
              <a:buSzPct val="100000"/>
              <a:buNone/>
            </a:pPr>
            <a:r>
              <a:rPr lang="en-US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</a:rPr>
              <a:t>结果解释结构化输出</a:t>
            </a:r>
            <a:r>
              <a:rPr lang="en-US" b="1" dirty="0">
                <a:solidFill>
                  <a:srgbClr val="C0392B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</a:rPr>
              <a:t>稳定性不足</a:t>
            </a:r>
            <a:endParaRPr lang="en-US" b="1" dirty="0">
              <a:solidFill>
                <a:srgbClr val="C0392B"/>
              </a:solidFill>
              <a:latin typeface="宋体" panose="02010600030101010101" pitchFamily="2" charset="-122"/>
              <a:ea typeface="宋体" panose="02010600030101010101" pitchFamily="2" charset="-122"/>
              <a:cs typeface="PingFang SC" pitchFamily="34" charset="-120"/>
            </a:endParaRPr>
          </a:p>
        </p:txBody>
      </p:sp>
      <p:sp>
        <p:nvSpPr>
          <p:cNvPr id="128" name="Text 70"/>
          <p:cNvSpPr/>
          <p:nvPr/>
        </p:nvSpPr>
        <p:spPr>
          <a:xfrm>
            <a:off x="10966936" y="6029325"/>
            <a:ext cx="6016276" cy="304800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p>
            <a:pPr marL="0" indent="0" algn="l">
              <a:lnSpc>
                <a:spcPct val="160000"/>
              </a:lnSpc>
              <a:buSzPct val="100000"/>
              <a:buNone/>
            </a:pPr>
            <a:r>
              <a:rPr lang="en-US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RAG </a:t>
            </a:r>
            <a:r>
              <a:rPr lang="en-US" b="1" dirty="0">
                <a:solidFill>
                  <a:srgbClr val="C0392B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来源约束</a:t>
            </a:r>
            <a:r>
              <a:rPr lang="en-US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需强化</a:t>
            </a:r>
            <a:endParaRPr lang="en-US" dirty="0">
              <a:solidFill>
                <a:srgbClr val="2C2C34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9" name="Text 71"/>
          <p:cNvSpPr/>
          <p:nvPr/>
        </p:nvSpPr>
        <p:spPr>
          <a:xfrm>
            <a:off x="10966936" y="6296025"/>
            <a:ext cx="6016276" cy="304800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p>
            <a:pPr marL="0" indent="0" algn="l">
              <a:lnSpc>
                <a:spcPct val="160000"/>
              </a:lnSpc>
              <a:buSzPct val="100000"/>
              <a:buNone/>
            </a:pPr>
            <a:r>
              <a:rPr lang="en-US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真实 DAC-3D 设备闭环</a:t>
            </a:r>
            <a:r>
              <a:rPr lang="en-US" b="1" dirty="0">
                <a:solidFill>
                  <a:srgbClr val="C0392B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未覆盖</a:t>
            </a:r>
            <a:endParaRPr lang="en-US" b="1" dirty="0">
              <a:solidFill>
                <a:srgbClr val="C0392B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1" name="Text 4"/>
          <p:cNvSpPr/>
          <p:nvPr/>
        </p:nvSpPr>
        <p:spPr>
          <a:xfrm>
            <a:off x="1129665" y="2228850"/>
            <a:ext cx="14269085" cy="428625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p>
            <a:pPr marL="0" indent="0" algn="l">
              <a:lnSpc>
                <a:spcPct val="155000"/>
              </a:lnSpc>
              <a:buNone/>
            </a:pPr>
            <a:r>
              <a:rPr lang="en-US" sz="2400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本地环境   真实模型接入   同步保留日志 / 截图 / Trace / 性能数据</a:t>
            </a:r>
            <a:endParaRPr lang="en-US" sz="2400" dirty="0">
              <a:solidFill>
                <a:srgbClr val="2C2C34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2" name="Shape 5"/>
          <p:cNvSpPr/>
          <p:nvPr/>
        </p:nvSpPr>
        <p:spPr>
          <a:xfrm>
            <a:off x="1071880" y="2847975"/>
            <a:ext cx="3952240" cy="2039620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C">
                <a:alpha val="10000"/>
              </a:srgbClr>
            </a:solidFill>
            <a:prstDash val="solid"/>
          </a:ln>
        </p:spPr>
      </p:sp>
      <p:sp>
        <p:nvSpPr>
          <p:cNvPr id="133" name="Text 6"/>
          <p:cNvSpPr/>
          <p:nvPr/>
        </p:nvSpPr>
        <p:spPr>
          <a:xfrm>
            <a:off x="1324610" y="3086100"/>
            <a:ext cx="3561715" cy="711200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p>
            <a:pPr marL="0" indent="0" algn="l">
              <a:lnSpc>
                <a:spcPct val="100000"/>
              </a:lnSpc>
              <a:buNone/>
            </a:pPr>
            <a:r>
              <a:rPr lang="en-US" sz="4000" b="1" kern="0" spc="-96" dirty="0">
                <a:solidFill>
                  <a:srgbClr val="2B3A8A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</a:rPr>
              <a:t>46 </a:t>
            </a:r>
            <a:r>
              <a:rPr lang="en-US" b="1" kern="0" spc="-96" dirty="0">
                <a:solidFill>
                  <a:srgbClr val="9A9AA3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</a:rPr>
              <a:t>/65</a:t>
            </a:r>
            <a:endParaRPr lang="en-US" b="1" kern="0" spc="-96" dirty="0">
              <a:solidFill>
                <a:srgbClr val="9A9AA3"/>
              </a:solidFill>
              <a:latin typeface="宋体" panose="02010600030101010101" pitchFamily="2" charset="-122"/>
              <a:ea typeface="宋体" panose="02010600030101010101" pitchFamily="2" charset="-122"/>
              <a:cs typeface="PingFang SC" pitchFamily="34" charset="-120"/>
            </a:endParaRPr>
          </a:p>
        </p:txBody>
      </p:sp>
      <p:sp>
        <p:nvSpPr>
          <p:cNvPr id="134" name="Text 7"/>
          <p:cNvSpPr/>
          <p:nvPr/>
        </p:nvSpPr>
        <p:spPr>
          <a:xfrm>
            <a:off x="1324610" y="3752850"/>
            <a:ext cx="3561715" cy="219075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p>
            <a:pPr marL="0" indent="0" algn="l">
              <a:buNone/>
            </a:pPr>
            <a:r>
              <a:rPr lang="en-US" sz="1000" kern="0" spc="176" dirty="0">
                <a:solidFill>
                  <a:srgbClr val="6B6B75"/>
                </a:solidFill>
                <a:latin typeface="宋体" panose="02010600030101010101" pitchFamily="2" charset="-122"/>
                <a:ea typeface="宋体" panose="02010600030101010101" pitchFamily="2" charset="-122"/>
                <a:cs typeface="JetBrains Mono" pitchFamily="34" charset="-120"/>
              </a:rPr>
              <a:t>FUNCTIONAL</a:t>
            </a:r>
            <a:endParaRPr lang="en-US" sz="1000" kern="0" spc="176" dirty="0">
              <a:solidFill>
                <a:srgbClr val="6B6B75"/>
              </a:solidFill>
              <a:latin typeface="宋体" panose="02010600030101010101" pitchFamily="2" charset="-122"/>
              <a:ea typeface="宋体" panose="02010600030101010101" pitchFamily="2" charset="-122"/>
              <a:cs typeface="JetBrains Mono" pitchFamily="34" charset="-120"/>
            </a:endParaRPr>
          </a:p>
        </p:txBody>
      </p:sp>
      <p:sp>
        <p:nvSpPr>
          <p:cNvPr id="135" name="Text 8"/>
          <p:cNvSpPr/>
          <p:nvPr/>
        </p:nvSpPr>
        <p:spPr>
          <a:xfrm>
            <a:off x="1324610" y="4029075"/>
            <a:ext cx="3561715" cy="56451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p>
            <a:pPr marL="0" indent="0" algn="l">
              <a:buNone/>
            </a:pPr>
            <a:r>
              <a:rPr lang="en-US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8 警告 / 11 失败 主因：结果解释结构化字段</a:t>
            </a:r>
            <a:endParaRPr lang="en-US" dirty="0">
              <a:solidFill>
                <a:srgbClr val="2C2C34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6" name="Shape 9"/>
          <p:cNvSpPr/>
          <p:nvPr/>
        </p:nvSpPr>
        <p:spPr>
          <a:xfrm>
            <a:off x="5086985" y="2847975"/>
            <a:ext cx="3952240" cy="2039620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C">
                <a:alpha val="10000"/>
              </a:srgbClr>
            </a:solidFill>
            <a:prstDash val="solid"/>
          </a:ln>
        </p:spPr>
      </p:sp>
      <p:sp>
        <p:nvSpPr>
          <p:cNvPr id="137" name="Text 10"/>
          <p:cNvSpPr/>
          <p:nvPr/>
        </p:nvSpPr>
        <p:spPr>
          <a:xfrm>
            <a:off x="5339715" y="3086100"/>
            <a:ext cx="3561715" cy="711200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p>
            <a:pPr marL="0" indent="0" algn="l">
              <a:lnSpc>
                <a:spcPct val="100000"/>
              </a:lnSpc>
              <a:buNone/>
            </a:pPr>
            <a:r>
              <a:rPr lang="en-US" sz="4000" b="1" kern="0" spc="-96" dirty="0">
                <a:solidFill>
                  <a:srgbClr val="2B3A8A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</a:rPr>
              <a:t>20</a:t>
            </a:r>
            <a:endParaRPr lang="en-US" sz="4000" b="1" kern="0" spc="-96" dirty="0">
              <a:solidFill>
                <a:srgbClr val="2B3A8A"/>
              </a:solidFill>
              <a:latin typeface="宋体" panose="02010600030101010101" pitchFamily="2" charset="-122"/>
              <a:ea typeface="宋体" panose="02010600030101010101" pitchFamily="2" charset="-122"/>
              <a:cs typeface="PingFang SC" pitchFamily="34" charset="-120"/>
            </a:endParaRPr>
          </a:p>
        </p:txBody>
      </p:sp>
      <p:sp>
        <p:nvSpPr>
          <p:cNvPr id="138" name="Text 11"/>
          <p:cNvSpPr/>
          <p:nvPr/>
        </p:nvSpPr>
        <p:spPr>
          <a:xfrm>
            <a:off x="5339715" y="3752850"/>
            <a:ext cx="3561715" cy="219075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p>
            <a:pPr marL="0" indent="0" algn="l">
              <a:buNone/>
            </a:pPr>
            <a:r>
              <a:rPr lang="en-US" sz="1000" kern="0" spc="176" dirty="0">
                <a:solidFill>
                  <a:srgbClr val="6B6B75"/>
                </a:solidFill>
                <a:latin typeface="宋体" panose="02010600030101010101" pitchFamily="2" charset="-122"/>
                <a:ea typeface="宋体" panose="02010600030101010101" pitchFamily="2" charset="-122"/>
                <a:cs typeface="JetBrains Mono" pitchFamily="34" charset="-120"/>
              </a:rPr>
              <a:t>AGENT</a:t>
            </a:r>
            <a:r>
              <a:rPr lang="zh-CN" altLang="en-US" sz="1000" kern="0" spc="176" dirty="0">
                <a:solidFill>
                  <a:srgbClr val="6B6B75"/>
                </a:solidFill>
                <a:latin typeface="宋体" panose="02010600030101010101" pitchFamily="2" charset="-122"/>
                <a:ea typeface="宋体" panose="02010600030101010101" pitchFamily="2" charset="-122"/>
                <a:cs typeface="JetBrains Mono" pitchFamily="34" charset="-120"/>
              </a:rPr>
              <a:t>回归</a:t>
            </a:r>
            <a:endParaRPr lang="zh-CN" altLang="en-US" sz="1000" kern="0" spc="176" dirty="0">
              <a:solidFill>
                <a:srgbClr val="6B6B75"/>
              </a:solidFill>
              <a:latin typeface="宋体" panose="02010600030101010101" pitchFamily="2" charset="-122"/>
              <a:ea typeface="宋体" panose="02010600030101010101" pitchFamily="2" charset="-122"/>
              <a:cs typeface="JetBrains Mono" pitchFamily="34" charset="-120"/>
            </a:endParaRPr>
          </a:p>
        </p:txBody>
      </p:sp>
      <p:sp>
        <p:nvSpPr>
          <p:cNvPr id="139" name="Text 12"/>
          <p:cNvSpPr/>
          <p:nvPr/>
        </p:nvSpPr>
        <p:spPr>
          <a:xfrm>
            <a:off x="5339715" y="4029075"/>
            <a:ext cx="3561715" cy="56451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p>
            <a:pPr marL="0" indent="0" algn="l">
              <a:buNone/>
            </a:pPr>
            <a:r>
              <a:rPr lang="en-US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状态查询</a:t>
            </a:r>
            <a:r>
              <a:rPr lang="zh-CN" altLang="en-US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命令预览</a:t>
            </a:r>
            <a:r>
              <a:rPr lang="zh-CN" altLang="en-US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批准提交</a:t>
            </a:r>
            <a:r>
              <a:rPr lang="zh-CN" altLang="en-US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记忆候选</a:t>
            </a:r>
            <a:endParaRPr lang="en-US" dirty="0">
              <a:solidFill>
                <a:srgbClr val="2C2C34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0" name="Shape 13"/>
          <p:cNvSpPr/>
          <p:nvPr/>
        </p:nvSpPr>
        <p:spPr>
          <a:xfrm>
            <a:off x="9101455" y="2847975"/>
            <a:ext cx="3952240" cy="2039620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C">
                <a:alpha val="10000"/>
              </a:srgbClr>
            </a:solidFill>
            <a:prstDash val="solid"/>
          </a:ln>
        </p:spPr>
      </p:sp>
      <p:sp>
        <p:nvSpPr>
          <p:cNvPr id="141" name="Text 14"/>
          <p:cNvSpPr/>
          <p:nvPr/>
        </p:nvSpPr>
        <p:spPr>
          <a:xfrm>
            <a:off x="9354185" y="3086100"/>
            <a:ext cx="3561715" cy="711200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p>
            <a:pPr marL="0" indent="0" algn="l">
              <a:lnSpc>
                <a:spcPct val="100000"/>
              </a:lnSpc>
              <a:buNone/>
            </a:pPr>
            <a:r>
              <a:rPr lang="en-US" sz="4000" b="1" kern="0" spc="-96" dirty="0">
                <a:solidFill>
                  <a:srgbClr val="2B3A8A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</a:rPr>
              <a:t>20</a:t>
            </a:r>
            <a:endParaRPr lang="en-US" sz="4000" b="1" kern="0" spc="-96" dirty="0">
              <a:solidFill>
                <a:srgbClr val="2B3A8A"/>
              </a:solidFill>
              <a:latin typeface="宋体" panose="02010600030101010101" pitchFamily="2" charset="-122"/>
              <a:ea typeface="宋体" panose="02010600030101010101" pitchFamily="2" charset="-122"/>
              <a:cs typeface="PingFang SC" pitchFamily="34" charset="-120"/>
            </a:endParaRPr>
          </a:p>
        </p:txBody>
      </p:sp>
      <p:sp>
        <p:nvSpPr>
          <p:cNvPr id="142" name="Text 15"/>
          <p:cNvSpPr/>
          <p:nvPr/>
        </p:nvSpPr>
        <p:spPr>
          <a:xfrm>
            <a:off x="9354185" y="3752850"/>
            <a:ext cx="3561715" cy="219075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p>
            <a:pPr marL="0" indent="0" algn="l">
              <a:buNone/>
            </a:pPr>
            <a:r>
              <a:rPr lang="zh-CN" altLang="en-US" sz="1000" kern="0" spc="176" dirty="0">
                <a:solidFill>
                  <a:srgbClr val="6B6B75"/>
                </a:solidFill>
                <a:latin typeface="宋体" panose="02010600030101010101" pitchFamily="2" charset="-122"/>
                <a:ea typeface="宋体" panose="02010600030101010101" pitchFamily="2" charset="-122"/>
                <a:cs typeface="JetBrains Mono" pitchFamily="34" charset="-120"/>
              </a:rPr>
              <a:t>安全</a:t>
            </a:r>
            <a:r>
              <a:rPr lang="zh-CN" altLang="en-US" sz="1000" kern="0" spc="176" dirty="0">
                <a:solidFill>
                  <a:srgbClr val="6B6B75"/>
                </a:solidFill>
                <a:latin typeface="宋体" panose="02010600030101010101" pitchFamily="2" charset="-122"/>
                <a:ea typeface="宋体" panose="02010600030101010101" pitchFamily="2" charset="-122"/>
                <a:cs typeface="JetBrains Mono" pitchFamily="34" charset="-120"/>
              </a:rPr>
              <a:t>红队</a:t>
            </a:r>
            <a:endParaRPr lang="zh-CN" altLang="en-US" sz="1000" kern="0" spc="176" dirty="0">
              <a:solidFill>
                <a:srgbClr val="6B6B75"/>
              </a:solidFill>
              <a:latin typeface="宋体" panose="02010600030101010101" pitchFamily="2" charset="-122"/>
              <a:ea typeface="宋体" panose="02010600030101010101" pitchFamily="2" charset="-122"/>
              <a:cs typeface="JetBrains Mono" pitchFamily="34" charset="-120"/>
            </a:endParaRPr>
          </a:p>
        </p:txBody>
      </p:sp>
      <p:sp>
        <p:nvSpPr>
          <p:cNvPr id="143" name="Text 16"/>
          <p:cNvSpPr/>
          <p:nvPr/>
        </p:nvSpPr>
        <p:spPr>
          <a:xfrm>
            <a:off x="9354185" y="4029075"/>
            <a:ext cx="3561715" cy="302895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p>
            <a:pPr marL="0" indent="0" algn="l">
              <a:buNone/>
            </a:pPr>
            <a:r>
              <a:rPr lang="en-US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绕过确认</a:t>
            </a:r>
            <a:r>
              <a:rPr lang="zh-CN" altLang="en-US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越权路径</a:t>
            </a:r>
            <a:r>
              <a:rPr lang="zh-CN" altLang="en-US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Prompt Injection</a:t>
            </a:r>
            <a:endParaRPr lang="en-US" dirty="0">
              <a:solidFill>
                <a:srgbClr val="2C2C34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4" name="Shape 17"/>
          <p:cNvSpPr/>
          <p:nvPr/>
        </p:nvSpPr>
        <p:spPr>
          <a:xfrm>
            <a:off x="13116560" y="2847975"/>
            <a:ext cx="3952240" cy="2039620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C">
                <a:alpha val="10000"/>
              </a:srgbClr>
            </a:solidFill>
            <a:prstDash val="solid"/>
          </a:ln>
        </p:spPr>
      </p:sp>
      <p:sp>
        <p:nvSpPr>
          <p:cNvPr id="145" name="Text 18"/>
          <p:cNvSpPr/>
          <p:nvPr/>
        </p:nvSpPr>
        <p:spPr>
          <a:xfrm>
            <a:off x="13369290" y="3086100"/>
            <a:ext cx="3561715" cy="711200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p>
            <a:pPr marL="0" indent="0" algn="l">
              <a:lnSpc>
                <a:spcPct val="100000"/>
              </a:lnSpc>
              <a:buNone/>
            </a:pPr>
            <a:r>
              <a:rPr lang="en-US" sz="4000" b="1" kern="0" spc="-96" dirty="0">
                <a:solidFill>
                  <a:srgbClr val="2B3A8A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</a:rPr>
              <a:t>82.0</a:t>
            </a:r>
            <a:r>
              <a:rPr lang="zh-CN" altLang="en-US" sz="4000" b="1" kern="0" spc="-96" dirty="0">
                <a:solidFill>
                  <a:srgbClr val="2B3A8A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</a:rPr>
              <a:t>分</a:t>
            </a:r>
            <a:endParaRPr lang="zh-CN" altLang="en-US" sz="4000" b="1" kern="0" spc="-96" dirty="0">
              <a:solidFill>
                <a:srgbClr val="2B3A8A"/>
              </a:solidFill>
              <a:latin typeface="宋体" panose="02010600030101010101" pitchFamily="2" charset="-122"/>
              <a:ea typeface="宋体" panose="02010600030101010101" pitchFamily="2" charset="-122"/>
              <a:cs typeface="PingFang SC" pitchFamily="34" charset="-120"/>
            </a:endParaRPr>
          </a:p>
        </p:txBody>
      </p:sp>
      <p:sp>
        <p:nvSpPr>
          <p:cNvPr id="146" name="Text 19"/>
          <p:cNvSpPr/>
          <p:nvPr/>
        </p:nvSpPr>
        <p:spPr>
          <a:xfrm>
            <a:off x="13369290" y="3752850"/>
            <a:ext cx="3561715" cy="219075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p>
            <a:pPr marL="0" indent="0" algn="l">
              <a:buNone/>
            </a:pPr>
            <a:endParaRPr lang="en-US" sz="1000" kern="0" spc="176" dirty="0">
              <a:solidFill>
                <a:srgbClr val="6B6B75"/>
              </a:solidFill>
              <a:latin typeface="宋体" panose="02010600030101010101" pitchFamily="2" charset="-122"/>
              <a:ea typeface="宋体" panose="02010600030101010101" pitchFamily="2" charset="-122"/>
              <a:cs typeface="JetBrains Mono" pitchFamily="34" charset="-120"/>
            </a:endParaRPr>
          </a:p>
        </p:txBody>
      </p:sp>
      <p:sp>
        <p:nvSpPr>
          <p:cNvPr id="147" name="Text 20"/>
          <p:cNvSpPr/>
          <p:nvPr/>
        </p:nvSpPr>
        <p:spPr>
          <a:xfrm>
            <a:off x="13369290" y="4029075"/>
            <a:ext cx="3561715" cy="302895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p>
            <a:pPr marL="0" indent="0" algn="l">
              <a:buNone/>
            </a:pPr>
            <a:r>
              <a:rPr lang="en-US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 名参与者 · 优秀区间</a:t>
            </a:r>
            <a:endParaRPr lang="en-US" dirty="0">
              <a:solidFill>
                <a:srgbClr val="2C2C34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8" name="Shape 65"/>
          <p:cNvSpPr/>
          <p:nvPr/>
        </p:nvSpPr>
        <p:spPr>
          <a:xfrm>
            <a:off x="10340340" y="4972050"/>
            <a:ext cx="6728460" cy="76200"/>
          </a:xfrm>
          <a:prstGeom prst="rect">
            <a:avLst/>
          </a:prstGeom>
          <a:solidFill>
            <a:srgbClr val="14141C">
              <a:alpha val="10000"/>
            </a:srgbClr>
          </a:solidFill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1219200" y="1569720"/>
            <a:ext cx="2500015" cy="7524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90000" lnSpcReduction="20000"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4800" b="1" kern="0" spc="-48" dirty="0">
                <a:solidFill>
                  <a:srgbClr val="15151A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</a:rPr>
              <a:t>现场</a:t>
            </a:r>
            <a:r>
              <a:rPr lang="en-US" sz="4800" b="1" kern="0" spc="-48" dirty="0">
                <a:solidFill>
                  <a:srgbClr val="2B3A8A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</a:rPr>
              <a:t>演示</a:t>
            </a:r>
            <a:endParaRPr lang="en-US" sz="48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8725" y="3248025"/>
            <a:ext cx="9262021" cy="9262021"/>
          </a:xfrm>
          <a:prstGeom prst="rect">
            <a:avLst/>
          </a:prstGeom>
        </p:spPr>
      </p:pic>
      <p:sp>
        <p:nvSpPr>
          <p:cNvPr id="83" name="Shape 2"/>
          <p:cNvSpPr/>
          <p:nvPr/>
        </p:nvSpPr>
        <p:spPr>
          <a:xfrm>
            <a:off x="4859685" y="1085850"/>
            <a:ext cx="12209115" cy="9525"/>
          </a:xfrm>
          <a:prstGeom prst="rect">
            <a:avLst/>
          </a:prstGeom>
          <a:solidFill>
            <a:srgbClr val="14141C">
              <a:alpha val="10000"/>
            </a:srgbClr>
          </a:solidFill>
        </p:spPr>
      </p:sp>
      <p:sp>
        <p:nvSpPr>
          <p:cNvPr id="84" name="Text 0"/>
          <p:cNvSpPr/>
          <p:nvPr/>
        </p:nvSpPr>
        <p:spPr>
          <a:xfrm>
            <a:off x="1220470" y="837565"/>
            <a:ext cx="506730" cy="4508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p>
            <a:pPr marL="0" indent="0" algn="l">
              <a:buNone/>
            </a:pPr>
            <a:r>
              <a:rPr lang="en-US" sz="3200" kern="0" spc="162" dirty="0">
                <a:solidFill>
                  <a:srgbClr val="2B3A8A"/>
                </a:solidFill>
                <a:latin typeface="宋体" panose="02010600030101010101" pitchFamily="2" charset="-122"/>
                <a:ea typeface="宋体" panose="02010600030101010101" pitchFamily="2" charset="-122"/>
                <a:cs typeface="JetBrains Mono" pitchFamily="34" charset="-120"/>
              </a:rPr>
              <a:t>04</a:t>
            </a:r>
            <a:endParaRPr lang="en-US" sz="3200" kern="0" spc="162" dirty="0">
              <a:solidFill>
                <a:srgbClr val="2B3A8A"/>
              </a:solidFill>
              <a:latin typeface="宋体" panose="02010600030101010101" pitchFamily="2" charset="-122"/>
              <a:ea typeface="宋体" panose="02010600030101010101" pitchFamily="2" charset="-122"/>
              <a:cs typeface="JetBrains Mono" pitchFamily="34" charset="-120"/>
            </a:endParaRPr>
          </a:p>
        </p:txBody>
      </p:sp>
      <p:sp>
        <p:nvSpPr>
          <p:cNvPr id="85" name="Text 1"/>
          <p:cNvSpPr/>
          <p:nvPr/>
        </p:nvSpPr>
        <p:spPr>
          <a:xfrm>
            <a:off x="1669415" y="841375"/>
            <a:ext cx="3517265" cy="4978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p>
            <a:pPr marL="0" indent="0" algn="l">
              <a:buNone/>
            </a:pPr>
            <a:r>
              <a:rPr lang="en-US" sz="3200" b="1" dirty="0">
                <a:solidFill>
                  <a:srgbClr val="15151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sz="3200" b="1" dirty="0">
                <a:solidFill>
                  <a:srgbClr val="15151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测试与现场演示</a:t>
            </a:r>
            <a:endParaRPr lang="en-US" sz="3200" b="1" dirty="0">
              <a:solidFill>
                <a:srgbClr val="15151A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2" name="Shape 8"/>
          <p:cNvSpPr/>
          <p:nvPr/>
        </p:nvSpPr>
        <p:spPr>
          <a:xfrm>
            <a:off x="1219200" y="2714625"/>
            <a:ext cx="7820025" cy="1419225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C">
                <a:alpha val="10000"/>
              </a:srgbClr>
            </a:solidFill>
            <a:prstDash val="solid"/>
          </a:ln>
        </p:spPr>
      </p:sp>
      <p:sp>
        <p:nvSpPr>
          <p:cNvPr id="3" name="Text 9"/>
          <p:cNvSpPr/>
          <p:nvPr/>
        </p:nvSpPr>
        <p:spPr>
          <a:xfrm>
            <a:off x="1438275" y="2943225"/>
            <a:ext cx="1051560" cy="209550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p>
            <a:pPr marL="0" indent="0" algn="l">
              <a:buNone/>
            </a:pPr>
            <a:r>
              <a:rPr lang="en-US" sz="1200" kern="0" spc="189" dirty="0">
                <a:solidFill>
                  <a:srgbClr val="2B3A8A"/>
                </a:solidFill>
                <a:latin typeface="宋体" panose="02010600030101010101" pitchFamily="2" charset="-122"/>
                <a:ea typeface="宋体" panose="02010600030101010101" pitchFamily="2" charset="-122"/>
                <a:cs typeface="JetBrains Mono" pitchFamily="34" charset="-120"/>
              </a:rPr>
              <a:t>DEMO 01</a:t>
            </a:r>
            <a:endParaRPr lang="en-US" sz="1200" kern="0" spc="189" dirty="0">
              <a:solidFill>
                <a:srgbClr val="2B3A8A"/>
              </a:solidFill>
              <a:latin typeface="宋体" panose="02010600030101010101" pitchFamily="2" charset="-122"/>
              <a:ea typeface="宋体" panose="02010600030101010101" pitchFamily="2" charset="-122"/>
              <a:cs typeface="JetBrains Mono" pitchFamily="34" charset="-120"/>
            </a:endParaRPr>
          </a:p>
        </p:txBody>
      </p:sp>
      <p:sp>
        <p:nvSpPr>
          <p:cNvPr id="4" name="Text 10"/>
          <p:cNvSpPr/>
          <p:nvPr/>
        </p:nvSpPr>
        <p:spPr>
          <a:xfrm>
            <a:off x="2280920" y="2876550"/>
            <a:ext cx="4839970" cy="304800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p>
            <a:pPr marL="0" indent="0" algn="l">
              <a:buNone/>
            </a:pPr>
            <a:r>
              <a:rPr lang="en-US" sz="2000" b="1" dirty="0">
                <a:solidFill>
                  <a:srgbClr val="15151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知识问答 / 操作指导</a:t>
            </a:r>
            <a:endParaRPr lang="en-US" sz="2000" b="1" dirty="0">
              <a:solidFill>
                <a:srgbClr val="15151A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Shape 11"/>
          <p:cNvSpPr/>
          <p:nvPr/>
        </p:nvSpPr>
        <p:spPr>
          <a:xfrm>
            <a:off x="1438275" y="3276600"/>
            <a:ext cx="7381875" cy="361950"/>
          </a:xfrm>
          <a:prstGeom prst="rect">
            <a:avLst/>
          </a:prstGeom>
          <a:solidFill>
            <a:srgbClr val="E8EAF3"/>
          </a:solidFill>
        </p:spPr>
      </p:sp>
      <p:sp>
        <p:nvSpPr>
          <p:cNvPr id="7" name="Text 12"/>
          <p:cNvSpPr/>
          <p:nvPr/>
        </p:nvSpPr>
        <p:spPr>
          <a:xfrm>
            <a:off x="1552575" y="3352800"/>
            <a:ext cx="7374731" cy="247650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p>
            <a:pPr marL="0" indent="0" algn="l">
              <a:buNone/>
            </a:pPr>
            <a:r>
              <a:rPr lang="en-US" sz="1600" dirty="0">
                <a:solidFill>
                  <a:srgbClr val="2B3A8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&gt; 样品表面反光很强怎么办？</a:t>
            </a:r>
            <a:endParaRPr lang="en-US" sz="1600" dirty="0">
              <a:solidFill>
                <a:srgbClr val="2B3A8A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" name="Text 13"/>
          <p:cNvSpPr/>
          <p:nvPr/>
        </p:nvSpPr>
        <p:spPr>
          <a:xfrm>
            <a:off x="1438275" y="3733800"/>
            <a:ext cx="7603331" cy="266700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6B6B7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助手会根据 DAC-3D 文档和检测经验给出处理建议，而不是随便聊天。</a:t>
            </a:r>
            <a:endParaRPr lang="en-US" sz="1400" dirty="0">
              <a:solidFill>
                <a:srgbClr val="6B6B7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Shape 14"/>
          <p:cNvSpPr/>
          <p:nvPr/>
        </p:nvSpPr>
        <p:spPr>
          <a:xfrm>
            <a:off x="9248775" y="2714625"/>
            <a:ext cx="7820025" cy="1419225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C">
                <a:alpha val="10000"/>
              </a:srgbClr>
            </a:solidFill>
            <a:prstDash val="solid"/>
          </a:ln>
        </p:spPr>
      </p:sp>
      <p:sp>
        <p:nvSpPr>
          <p:cNvPr id="42" name="Text 15"/>
          <p:cNvSpPr/>
          <p:nvPr/>
        </p:nvSpPr>
        <p:spPr>
          <a:xfrm>
            <a:off x="9467850" y="2943225"/>
            <a:ext cx="804416" cy="209550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p>
            <a:pPr marL="0" indent="0" algn="l">
              <a:buNone/>
            </a:pPr>
            <a:r>
              <a:rPr lang="en-US" sz="1200" kern="0" spc="189" dirty="0">
                <a:solidFill>
                  <a:srgbClr val="2B3A8A"/>
                </a:solidFill>
                <a:latin typeface="宋体" panose="02010600030101010101" pitchFamily="2" charset="-122"/>
                <a:ea typeface="宋体" panose="02010600030101010101" pitchFamily="2" charset="-122"/>
                <a:cs typeface="JetBrains Mono" pitchFamily="34" charset="-120"/>
              </a:rPr>
              <a:t>DEMO 02</a:t>
            </a:r>
            <a:endParaRPr lang="en-US" sz="1200" kern="0" spc="189" dirty="0">
              <a:solidFill>
                <a:srgbClr val="2B3A8A"/>
              </a:solidFill>
              <a:latin typeface="宋体" panose="02010600030101010101" pitchFamily="2" charset="-122"/>
              <a:ea typeface="宋体" panose="02010600030101010101" pitchFamily="2" charset="-122"/>
              <a:cs typeface="JetBrains Mono" pitchFamily="34" charset="-120"/>
            </a:endParaRPr>
          </a:p>
        </p:txBody>
      </p:sp>
      <p:sp>
        <p:nvSpPr>
          <p:cNvPr id="43" name="Text 16"/>
          <p:cNvSpPr/>
          <p:nvPr/>
        </p:nvSpPr>
        <p:spPr>
          <a:xfrm>
            <a:off x="10310495" y="2876550"/>
            <a:ext cx="3534410" cy="3048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p>
            <a:pPr marL="0" indent="0" algn="l">
              <a:buNone/>
            </a:pPr>
            <a:r>
              <a:rPr lang="en-US" sz="2000" b="1" dirty="0">
                <a:solidFill>
                  <a:srgbClr val="15151A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</a:rPr>
              <a:t>状态查询</a:t>
            </a:r>
            <a:endParaRPr lang="en-US" sz="2000" b="1" dirty="0">
              <a:solidFill>
                <a:srgbClr val="15151A"/>
              </a:solidFill>
              <a:latin typeface="宋体" panose="02010600030101010101" pitchFamily="2" charset="-122"/>
              <a:ea typeface="宋体" panose="02010600030101010101" pitchFamily="2" charset="-122"/>
              <a:cs typeface="PingFang SC" pitchFamily="34" charset="-120"/>
            </a:endParaRPr>
          </a:p>
        </p:txBody>
      </p:sp>
      <p:sp>
        <p:nvSpPr>
          <p:cNvPr id="44" name="Shape 17"/>
          <p:cNvSpPr/>
          <p:nvPr/>
        </p:nvSpPr>
        <p:spPr>
          <a:xfrm>
            <a:off x="9467850" y="3276600"/>
            <a:ext cx="7381875" cy="361950"/>
          </a:xfrm>
          <a:prstGeom prst="rect">
            <a:avLst/>
          </a:prstGeom>
          <a:solidFill>
            <a:srgbClr val="E8EAF3"/>
          </a:solidFill>
        </p:spPr>
      </p:sp>
      <p:sp>
        <p:nvSpPr>
          <p:cNvPr id="45" name="Text 18"/>
          <p:cNvSpPr/>
          <p:nvPr/>
        </p:nvSpPr>
        <p:spPr>
          <a:xfrm>
            <a:off x="9582150" y="3352800"/>
            <a:ext cx="7374731" cy="247650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p>
            <a:pPr marL="0" indent="0" algn="l">
              <a:buNone/>
            </a:pPr>
            <a:r>
              <a:rPr lang="en-US" sz="1600" dirty="0">
                <a:solidFill>
                  <a:srgbClr val="2B3A8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&gt; 当前检测状态是什么？</a:t>
            </a:r>
            <a:endParaRPr lang="en-US" sz="1600" dirty="0">
              <a:solidFill>
                <a:srgbClr val="2B3A8A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6" name="Text 19"/>
          <p:cNvSpPr/>
          <p:nvPr/>
        </p:nvSpPr>
        <p:spPr>
          <a:xfrm>
            <a:off x="9467850" y="3733800"/>
            <a:ext cx="7603331" cy="276225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6B6B7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从 runtime bridge / status_file 读取 ,</a:t>
            </a:r>
            <a:r>
              <a:rPr lang="en-US" sz="1400" b="1" dirty="0">
                <a:solidFill>
                  <a:srgbClr val="C0392B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不是模型猜的</a:t>
            </a:r>
            <a:endParaRPr lang="en-US" sz="1400" b="1" dirty="0">
              <a:solidFill>
                <a:srgbClr val="C0392B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" name="Shape 20"/>
          <p:cNvSpPr/>
          <p:nvPr/>
        </p:nvSpPr>
        <p:spPr>
          <a:xfrm>
            <a:off x="1219200" y="4343400"/>
            <a:ext cx="7820025" cy="1743075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C">
                <a:alpha val="10000"/>
              </a:srgbClr>
            </a:solidFill>
            <a:prstDash val="solid"/>
          </a:ln>
        </p:spPr>
      </p:sp>
      <p:sp>
        <p:nvSpPr>
          <p:cNvPr id="48" name="Text 21"/>
          <p:cNvSpPr/>
          <p:nvPr/>
        </p:nvSpPr>
        <p:spPr>
          <a:xfrm>
            <a:off x="1438275" y="4572000"/>
            <a:ext cx="804416" cy="209550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p>
            <a:pPr marL="0" indent="0" algn="l">
              <a:buNone/>
            </a:pPr>
            <a:r>
              <a:rPr lang="en-US" sz="1200" kern="0" spc="189" dirty="0">
                <a:solidFill>
                  <a:srgbClr val="2B3A8A"/>
                </a:solidFill>
                <a:latin typeface="宋体" panose="02010600030101010101" pitchFamily="2" charset="-122"/>
                <a:ea typeface="宋体" panose="02010600030101010101" pitchFamily="2" charset="-122"/>
                <a:cs typeface="JetBrains Mono" pitchFamily="34" charset="-120"/>
              </a:rPr>
              <a:t>DEMO 03</a:t>
            </a:r>
            <a:endParaRPr lang="en-US" sz="1200" kern="0" spc="189" dirty="0">
              <a:solidFill>
                <a:srgbClr val="2B3A8A"/>
              </a:solidFill>
              <a:latin typeface="宋体" panose="02010600030101010101" pitchFamily="2" charset="-122"/>
              <a:ea typeface="宋体" panose="02010600030101010101" pitchFamily="2" charset="-122"/>
              <a:cs typeface="JetBrains Mono" pitchFamily="34" charset="-120"/>
            </a:endParaRPr>
          </a:p>
        </p:txBody>
      </p:sp>
      <p:sp>
        <p:nvSpPr>
          <p:cNvPr id="49" name="Text 22"/>
          <p:cNvSpPr/>
          <p:nvPr/>
        </p:nvSpPr>
        <p:spPr>
          <a:xfrm>
            <a:off x="2280920" y="4505325"/>
            <a:ext cx="4519930" cy="3048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p>
            <a:pPr marL="0" indent="0" algn="l">
              <a:buNone/>
            </a:pPr>
            <a:r>
              <a:rPr lang="en-US" sz="2000" b="1" dirty="0">
                <a:solidFill>
                  <a:srgbClr val="15151A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</a:rPr>
              <a:t>自然语言命令预览</a:t>
            </a:r>
            <a:endParaRPr lang="en-US" sz="2000" b="1" dirty="0">
              <a:solidFill>
                <a:srgbClr val="15151A"/>
              </a:solidFill>
              <a:latin typeface="宋体" panose="02010600030101010101" pitchFamily="2" charset="-122"/>
              <a:ea typeface="宋体" panose="02010600030101010101" pitchFamily="2" charset="-122"/>
              <a:cs typeface="PingFang SC" pitchFamily="34" charset="-120"/>
            </a:endParaRPr>
          </a:p>
        </p:txBody>
      </p:sp>
      <p:sp>
        <p:nvSpPr>
          <p:cNvPr id="50" name="Shape 23"/>
          <p:cNvSpPr/>
          <p:nvPr/>
        </p:nvSpPr>
        <p:spPr>
          <a:xfrm>
            <a:off x="1438275" y="4905375"/>
            <a:ext cx="7381875" cy="361950"/>
          </a:xfrm>
          <a:prstGeom prst="rect">
            <a:avLst/>
          </a:prstGeom>
          <a:solidFill>
            <a:srgbClr val="E8EAF3"/>
          </a:solidFill>
        </p:spPr>
      </p:sp>
      <p:sp>
        <p:nvSpPr>
          <p:cNvPr id="51" name="Text 24"/>
          <p:cNvSpPr/>
          <p:nvPr/>
        </p:nvSpPr>
        <p:spPr>
          <a:xfrm>
            <a:off x="1552575" y="4981575"/>
            <a:ext cx="7374731" cy="247650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p>
            <a:pPr marL="0" indent="0" algn="l">
              <a:buNone/>
            </a:pPr>
            <a:r>
              <a:rPr lang="en-US" sz="1600" dirty="0">
                <a:solidFill>
                  <a:srgbClr val="2B3A8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&gt; 扫描 10mm x 10mm 区域</a:t>
            </a:r>
            <a:endParaRPr lang="en-US" sz="1600" dirty="0">
              <a:solidFill>
                <a:srgbClr val="2B3A8A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2" name="Text 25"/>
          <p:cNvSpPr/>
          <p:nvPr/>
        </p:nvSpPr>
        <p:spPr>
          <a:xfrm>
            <a:off x="1438275" y="5362575"/>
            <a:ext cx="7603331" cy="266700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6B6B7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一句话转换成结构化命令预览，</a:t>
            </a:r>
            <a:endParaRPr lang="en-US" sz="1400" dirty="0">
              <a:solidFill>
                <a:srgbClr val="6B6B7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3" name="Shape 26"/>
          <p:cNvSpPr/>
          <p:nvPr/>
        </p:nvSpPr>
        <p:spPr>
          <a:xfrm>
            <a:off x="9248775" y="4343400"/>
            <a:ext cx="7820025" cy="1743075"/>
          </a:xfrm>
          <a:prstGeom prst="rect">
            <a:avLst/>
          </a:prstGeom>
          <a:solidFill>
            <a:srgbClr val="FFFFFF"/>
          </a:solidFill>
          <a:ln w="9525">
            <a:solidFill>
              <a:srgbClr val="C0392B"/>
            </a:solidFill>
            <a:prstDash val="solid"/>
          </a:ln>
        </p:spPr>
      </p:sp>
      <p:sp>
        <p:nvSpPr>
          <p:cNvPr id="54" name="Text 27"/>
          <p:cNvSpPr/>
          <p:nvPr/>
        </p:nvSpPr>
        <p:spPr>
          <a:xfrm>
            <a:off x="9467850" y="4572000"/>
            <a:ext cx="804416" cy="209550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p>
            <a:pPr marL="0" indent="0" algn="l">
              <a:buNone/>
            </a:pPr>
            <a:r>
              <a:rPr lang="en-US" sz="1200" kern="0" spc="189" dirty="0">
                <a:solidFill>
                  <a:srgbClr val="C0392B"/>
                </a:solidFill>
                <a:latin typeface="宋体" panose="02010600030101010101" pitchFamily="2" charset="-122"/>
                <a:ea typeface="宋体" panose="02010600030101010101" pitchFamily="2" charset="-122"/>
                <a:cs typeface="JetBrains Mono" pitchFamily="34" charset="-120"/>
              </a:rPr>
              <a:t>DEMO 04</a:t>
            </a:r>
            <a:endParaRPr lang="en-US" sz="1200" kern="0" spc="189" dirty="0">
              <a:solidFill>
                <a:srgbClr val="C0392B"/>
              </a:solidFill>
              <a:latin typeface="宋体" panose="02010600030101010101" pitchFamily="2" charset="-122"/>
              <a:ea typeface="宋体" panose="02010600030101010101" pitchFamily="2" charset="-122"/>
              <a:cs typeface="JetBrains Mono" pitchFamily="34" charset="-120"/>
            </a:endParaRPr>
          </a:p>
        </p:txBody>
      </p:sp>
      <p:sp>
        <p:nvSpPr>
          <p:cNvPr id="55" name="Text 28"/>
          <p:cNvSpPr/>
          <p:nvPr/>
        </p:nvSpPr>
        <p:spPr>
          <a:xfrm>
            <a:off x="10310495" y="4505325"/>
            <a:ext cx="3893820" cy="304800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p>
            <a:pPr marL="0" indent="0" algn="l">
              <a:buNone/>
            </a:pPr>
            <a:r>
              <a:rPr lang="en-US" sz="2000" b="1" dirty="0">
                <a:solidFill>
                  <a:srgbClr val="15151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安全审批 </a:t>
            </a:r>
            <a:r>
              <a:rPr lang="en-US" sz="1400" b="1" dirty="0">
                <a:solidFill>
                  <a:srgbClr val="C0392B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· 重点</a:t>
            </a:r>
            <a:endParaRPr lang="en-US" sz="1400" b="1" dirty="0">
              <a:solidFill>
                <a:srgbClr val="C0392B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6" name="Shape 29"/>
          <p:cNvSpPr/>
          <p:nvPr/>
        </p:nvSpPr>
        <p:spPr>
          <a:xfrm>
            <a:off x="9467850" y="4905375"/>
            <a:ext cx="7381875" cy="723900"/>
          </a:xfrm>
          <a:prstGeom prst="rect">
            <a:avLst/>
          </a:prstGeom>
          <a:solidFill>
            <a:srgbClr val="C0392B">
              <a:alpha val="6000"/>
            </a:srgbClr>
          </a:solidFill>
        </p:spPr>
      </p:sp>
      <p:sp>
        <p:nvSpPr>
          <p:cNvPr id="57" name="Text 30"/>
          <p:cNvSpPr/>
          <p:nvPr/>
        </p:nvSpPr>
        <p:spPr>
          <a:xfrm>
            <a:off x="9582150" y="4981575"/>
            <a:ext cx="7374731" cy="609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p>
            <a:pPr marL="0" indent="0" algn="l">
              <a:lnSpc>
                <a:spcPct val="160000"/>
              </a:lnSpc>
              <a:buNone/>
            </a:pPr>
            <a:r>
              <a:rPr lang="en-US" sz="1400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JetBrains Mono" pitchFamily="34" charset="-120"/>
              </a:rPr>
              <a:t>needs_confirmation: </a:t>
            </a:r>
            <a:r>
              <a:rPr lang="en-US" sz="1400" b="1" dirty="0">
                <a:solidFill>
                  <a:srgbClr val="C0392B"/>
                </a:solidFill>
                <a:latin typeface="宋体" panose="02010600030101010101" pitchFamily="2" charset="-122"/>
                <a:ea typeface="宋体" panose="02010600030101010101" pitchFamily="2" charset="-122"/>
                <a:cs typeface="JetBrains Mono" pitchFamily="34" charset="-120"/>
              </a:rPr>
              <a:t>true    </a:t>
            </a:r>
            <a:r>
              <a:rPr lang="en-US" sz="1400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JetBrains Mono" pitchFamily="34" charset="-120"/>
              </a:rPr>
              <a:t>preview_id · confirmation_token lifecycle_state: awaiting_confirmation</a:t>
            </a:r>
            <a:endParaRPr lang="en-US" sz="1400" dirty="0">
              <a:solidFill>
                <a:srgbClr val="2C2C34"/>
              </a:solidFill>
              <a:latin typeface="宋体" panose="02010600030101010101" pitchFamily="2" charset="-122"/>
              <a:ea typeface="宋体" panose="02010600030101010101" pitchFamily="2" charset="-122"/>
              <a:cs typeface="JetBrains Mono" pitchFamily="34" charset="-120"/>
            </a:endParaRPr>
          </a:p>
        </p:txBody>
      </p:sp>
      <p:sp>
        <p:nvSpPr>
          <p:cNvPr id="58" name="Text 31"/>
          <p:cNvSpPr/>
          <p:nvPr/>
        </p:nvSpPr>
        <p:spPr>
          <a:xfrm>
            <a:off x="9467850" y="5724525"/>
            <a:ext cx="7603331" cy="238125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p>
            <a:pPr marL="0" indent="0" algn="l">
              <a:lnSpc>
                <a:spcPct val="145000"/>
              </a:lnSpc>
              <a:buNone/>
            </a:pPr>
            <a:r>
              <a:rPr lang="en-US" sz="1200" b="1" dirty="0">
                <a:solidFill>
                  <a:srgbClr val="C0392B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LLM 不能直接写 command.json </a:t>
            </a:r>
            <a:r>
              <a:rPr lang="en-US" sz="1200" dirty="0">
                <a:solidFill>
                  <a:srgbClr val="6B6B7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· 全路径可审计</a:t>
            </a:r>
            <a:endParaRPr lang="en-US" sz="1200" dirty="0">
              <a:solidFill>
                <a:srgbClr val="6B6B7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9" name="Shape 32"/>
          <p:cNvSpPr/>
          <p:nvPr/>
        </p:nvSpPr>
        <p:spPr>
          <a:xfrm>
            <a:off x="1219200" y="6296025"/>
            <a:ext cx="7820025" cy="1809750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C">
                <a:alpha val="10000"/>
              </a:srgbClr>
            </a:solidFill>
            <a:prstDash val="solid"/>
          </a:ln>
        </p:spPr>
      </p:sp>
      <p:sp>
        <p:nvSpPr>
          <p:cNvPr id="60" name="Text 33"/>
          <p:cNvSpPr/>
          <p:nvPr/>
        </p:nvSpPr>
        <p:spPr>
          <a:xfrm>
            <a:off x="1438275" y="6524625"/>
            <a:ext cx="804416" cy="209550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p>
            <a:pPr marL="0" indent="0" algn="l">
              <a:buNone/>
            </a:pPr>
            <a:r>
              <a:rPr lang="en-US" sz="1200" kern="0" spc="189" dirty="0">
                <a:solidFill>
                  <a:srgbClr val="2B3A8A"/>
                </a:solidFill>
                <a:latin typeface="宋体" panose="02010600030101010101" pitchFamily="2" charset="-122"/>
                <a:ea typeface="宋体" panose="02010600030101010101" pitchFamily="2" charset="-122"/>
                <a:cs typeface="JetBrains Mono" pitchFamily="34" charset="-120"/>
              </a:rPr>
              <a:t>DEMO 05</a:t>
            </a:r>
            <a:endParaRPr lang="en-US" sz="1200" kern="0" spc="189" dirty="0">
              <a:solidFill>
                <a:srgbClr val="2B3A8A"/>
              </a:solidFill>
              <a:latin typeface="宋体" panose="02010600030101010101" pitchFamily="2" charset="-122"/>
              <a:ea typeface="宋体" panose="02010600030101010101" pitchFamily="2" charset="-122"/>
              <a:cs typeface="JetBrains Mono" pitchFamily="34" charset="-120"/>
            </a:endParaRPr>
          </a:p>
        </p:txBody>
      </p:sp>
      <p:sp>
        <p:nvSpPr>
          <p:cNvPr id="61" name="Text 34"/>
          <p:cNvSpPr/>
          <p:nvPr/>
        </p:nvSpPr>
        <p:spPr>
          <a:xfrm>
            <a:off x="2280920" y="6457950"/>
            <a:ext cx="4591050" cy="3048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p>
            <a:pPr marL="0" indent="0" algn="l">
              <a:buNone/>
            </a:pPr>
            <a:r>
              <a:rPr lang="en-US" sz="2000" b="1" dirty="0">
                <a:solidFill>
                  <a:srgbClr val="15151A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</a:rPr>
              <a:t>结果解释</a:t>
            </a:r>
            <a:endParaRPr lang="en-US" sz="2000" b="1" dirty="0">
              <a:solidFill>
                <a:srgbClr val="15151A"/>
              </a:solidFill>
              <a:latin typeface="宋体" panose="02010600030101010101" pitchFamily="2" charset="-122"/>
              <a:ea typeface="宋体" panose="02010600030101010101" pitchFamily="2" charset="-122"/>
              <a:cs typeface="PingFang SC" pitchFamily="34" charset="-120"/>
            </a:endParaRPr>
          </a:p>
        </p:txBody>
      </p:sp>
      <p:sp>
        <p:nvSpPr>
          <p:cNvPr id="62" name="Shape 35"/>
          <p:cNvSpPr/>
          <p:nvPr/>
        </p:nvSpPr>
        <p:spPr>
          <a:xfrm>
            <a:off x="1438275" y="6858000"/>
            <a:ext cx="7381875" cy="361950"/>
          </a:xfrm>
          <a:prstGeom prst="rect">
            <a:avLst/>
          </a:prstGeom>
          <a:solidFill>
            <a:srgbClr val="E8EAF3"/>
          </a:solidFill>
        </p:spPr>
      </p:sp>
      <p:sp>
        <p:nvSpPr>
          <p:cNvPr id="63" name="Text 36"/>
          <p:cNvSpPr/>
          <p:nvPr/>
        </p:nvSpPr>
        <p:spPr>
          <a:xfrm>
            <a:off x="1552575" y="6934200"/>
            <a:ext cx="7374731" cy="247650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p>
            <a:pPr marL="0" indent="0" algn="l">
              <a:buNone/>
            </a:pPr>
            <a:r>
              <a:rPr lang="en-US" sz="1600" dirty="0">
                <a:solidFill>
                  <a:srgbClr val="2B3A8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&gt; 当前检测结果怎么样？</a:t>
            </a:r>
            <a:endParaRPr lang="en-US" sz="1600" dirty="0">
              <a:solidFill>
                <a:srgbClr val="2B3A8A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4" name="Text 37"/>
          <p:cNvSpPr/>
          <p:nvPr/>
        </p:nvSpPr>
        <p:spPr>
          <a:xfrm>
            <a:off x="1438275" y="7315200"/>
            <a:ext cx="7603331" cy="266700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读取最新结果并解释缺陷类型、严重程度和依据。</a:t>
            </a:r>
            <a:endParaRPr lang="en-US" sz="1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5" name="Shape 38"/>
          <p:cNvSpPr/>
          <p:nvPr/>
        </p:nvSpPr>
        <p:spPr>
          <a:xfrm>
            <a:off x="9248775" y="6296025"/>
            <a:ext cx="7820025" cy="1809750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C">
                <a:alpha val="10000"/>
              </a:srgbClr>
            </a:solidFill>
            <a:prstDash val="solid"/>
          </a:ln>
        </p:spPr>
      </p:sp>
      <p:sp>
        <p:nvSpPr>
          <p:cNvPr id="66" name="Text 39"/>
          <p:cNvSpPr/>
          <p:nvPr/>
        </p:nvSpPr>
        <p:spPr>
          <a:xfrm>
            <a:off x="9467850" y="6524625"/>
            <a:ext cx="804416" cy="209550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p>
            <a:pPr marL="0" indent="0" algn="l">
              <a:buNone/>
            </a:pPr>
            <a:r>
              <a:rPr lang="en-US" sz="1200" kern="0" spc="189" dirty="0">
                <a:solidFill>
                  <a:srgbClr val="2B3A8A"/>
                </a:solidFill>
                <a:latin typeface="宋体" panose="02010600030101010101" pitchFamily="2" charset="-122"/>
                <a:ea typeface="宋体" panose="02010600030101010101" pitchFamily="2" charset="-122"/>
                <a:cs typeface="JetBrains Mono" pitchFamily="34" charset="-120"/>
              </a:rPr>
              <a:t>DEMO 06</a:t>
            </a:r>
            <a:endParaRPr lang="en-US" sz="1200" kern="0" spc="189" dirty="0">
              <a:solidFill>
                <a:srgbClr val="2B3A8A"/>
              </a:solidFill>
              <a:latin typeface="宋体" panose="02010600030101010101" pitchFamily="2" charset="-122"/>
              <a:ea typeface="宋体" panose="02010600030101010101" pitchFamily="2" charset="-122"/>
              <a:cs typeface="JetBrains Mono" pitchFamily="34" charset="-120"/>
            </a:endParaRPr>
          </a:p>
        </p:txBody>
      </p:sp>
      <p:sp>
        <p:nvSpPr>
          <p:cNvPr id="67" name="Text 40"/>
          <p:cNvSpPr/>
          <p:nvPr/>
        </p:nvSpPr>
        <p:spPr>
          <a:xfrm>
            <a:off x="10310495" y="6457950"/>
            <a:ext cx="3500755" cy="304800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p>
            <a:pPr marL="0" indent="0" algn="l">
              <a:buNone/>
            </a:pPr>
            <a:r>
              <a:rPr lang="en-US" sz="2000" b="1" dirty="0">
                <a:solidFill>
                  <a:srgbClr val="15151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Agent 工具能力</a:t>
            </a:r>
            <a:endParaRPr lang="en-US" sz="2000" b="1" dirty="0">
              <a:solidFill>
                <a:srgbClr val="15151A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8" name="Shape 41"/>
          <p:cNvSpPr/>
          <p:nvPr/>
        </p:nvSpPr>
        <p:spPr>
          <a:xfrm>
            <a:off x="9467850" y="6858000"/>
            <a:ext cx="7381875" cy="781050"/>
          </a:xfrm>
          <a:prstGeom prst="rect">
            <a:avLst/>
          </a:prstGeom>
          <a:solidFill>
            <a:srgbClr val="E8EAF3"/>
          </a:solidFill>
        </p:spPr>
      </p:sp>
      <p:sp>
        <p:nvSpPr>
          <p:cNvPr id="69" name="Text 42"/>
          <p:cNvSpPr/>
          <p:nvPr/>
        </p:nvSpPr>
        <p:spPr>
          <a:xfrm>
            <a:off x="9582150" y="6804025"/>
            <a:ext cx="7374731" cy="6667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p>
            <a:pPr marL="0" indent="0" algn="l">
              <a:lnSpc>
                <a:spcPct val="160000"/>
              </a:lnSpc>
              <a:buNone/>
            </a:pPr>
            <a:r>
              <a:rPr lang="en-US" sz="1600" dirty="0">
                <a:latin typeface="宋体" panose="02010600030101010101" pitchFamily="2" charset="-122"/>
                <a:ea typeface="宋体" panose="02010600030101010101" pitchFamily="2" charset="-122"/>
                <a:cs typeface="JetBrains Mono" pitchFamily="34" charset="-120"/>
              </a:rPr>
              <a:t>cd C:\Users\xecat\DAC-3D-LLM\dac3d_iim_assistant</a:t>
            </a:r>
            <a:endParaRPr lang="en-US" sz="1600" dirty="0">
              <a:latin typeface="宋体" panose="02010600030101010101" pitchFamily="2" charset="-122"/>
              <a:ea typeface="宋体" panose="02010600030101010101" pitchFamily="2" charset="-122"/>
              <a:cs typeface="JetBrains Mono" pitchFamily="34" charset="-120"/>
            </a:endParaRPr>
          </a:p>
          <a:p>
            <a:pPr marL="0" indent="0" algn="l">
              <a:lnSpc>
                <a:spcPct val="160000"/>
              </a:lnSpc>
              <a:buNone/>
            </a:pPr>
            <a:r>
              <a:rPr lang="en-US" sz="1600" dirty="0">
                <a:latin typeface="宋体" panose="02010600030101010101" pitchFamily="2" charset="-122"/>
                <a:ea typeface="宋体" panose="02010600030101010101" pitchFamily="2" charset="-122"/>
                <a:cs typeface="JetBrains Mono" pitchFamily="34" charset="-120"/>
              </a:rPr>
              <a:t>dac3d-agent --list-tools</a:t>
            </a:r>
            <a:endParaRPr lang="en-US" sz="1600" dirty="0">
              <a:latin typeface="宋体" panose="02010600030101010101" pitchFamily="2" charset="-122"/>
              <a:ea typeface="宋体" panose="02010600030101010101" pitchFamily="2" charset="-122"/>
              <a:cs typeface="JetBrains Mono" pitchFamily="34" charset="-120"/>
            </a:endParaRPr>
          </a:p>
        </p:txBody>
      </p:sp>
      <p:sp>
        <p:nvSpPr>
          <p:cNvPr id="70" name="Text 43"/>
          <p:cNvSpPr/>
          <p:nvPr/>
        </p:nvSpPr>
        <p:spPr>
          <a:xfrm>
            <a:off x="9465310" y="7698105"/>
            <a:ext cx="7603331" cy="247650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6B6B75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</a:rPr>
              <a:t>帮我总结最近三个月的检测/设备异常情况，有没有高频异常或明显趋势？</a:t>
            </a:r>
            <a:endParaRPr lang="en-US" sz="1400" dirty="0">
              <a:solidFill>
                <a:srgbClr val="6B6B75"/>
              </a:solidFill>
              <a:latin typeface="宋体" panose="02010600030101010101" pitchFamily="2" charset="-122"/>
              <a:ea typeface="宋体" panose="02010600030101010101" pitchFamily="2" charset="-122"/>
              <a:cs typeface="PingFang SC" pitchFamily="34" charset="-120"/>
            </a:endParaRPr>
          </a:p>
        </p:txBody>
      </p:sp>
      <p:sp>
        <p:nvSpPr>
          <p:cNvPr id="71" name="Shape 44"/>
          <p:cNvSpPr/>
          <p:nvPr/>
        </p:nvSpPr>
        <p:spPr>
          <a:xfrm>
            <a:off x="1219200" y="8315325"/>
            <a:ext cx="7820025" cy="1257300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C">
                <a:alpha val="10000"/>
              </a:srgbClr>
            </a:solidFill>
            <a:prstDash val="solid"/>
          </a:ln>
        </p:spPr>
      </p:sp>
      <p:sp>
        <p:nvSpPr>
          <p:cNvPr id="72" name="Text 45"/>
          <p:cNvSpPr/>
          <p:nvPr/>
        </p:nvSpPr>
        <p:spPr>
          <a:xfrm>
            <a:off x="1438275" y="8543925"/>
            <a:ext cx="804416" cy="209550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p>
            <a:pPr marL="0" indent="0" algn="l">
              <a:buNone/>
            </a:pPr>
            <a:r>
              <a:rPr lang="en-US" sz="1200" kern="0" spc="189" dirty="0">
                <a:solidFill>
                  <a:srgbClr val="2B3A8A"/>
                </a:solidFill>
                <a:latin typeface="宋体" panose="02010600030101010101" pitchFamily="2" charset="-122"/>
                <a:ea typeface="宋体" panose="02010600030101010101" pitchFamily="2" charset="-122"/>
                <a:cs typeface="JetBrains Mono" pitchFamily="34" charset="-120"/>
              </a:rPr>
              <a:t>DEMO 07</a:t>
            </a:r>
            <a:endParaRPr lang="en-US" sz="1200" kern="0" spc="189" dirty="0">
              <a:solidFill>
                <a:srgbClr val="2B3A8A"/>
              </a:solidFill>
              <a:latin typeface="宋体" panose="02010600030101010101" pitchFamily="2" charset="-122"/>
              <a:ea typeface="宋体" panose="02010600030101010101" pitchFamily="2" charset="-122"/>
              <a:cs typeface="JetBrains Mono" pitchFamily="34" charset="-120"/>
            </a:endParaRPr>
          </a:p>
        </p:txBody>
      </p:sp>
      <p:sp>
        <p:nvSpPr>
          <p:cNvPr id="73" name="Text 46"/>
          <p:cNvSpPr/>
          <p:nvPr/>
        </p:nvSpPr>
        <p:spPr>
          <a:xfrm>
            <a:off x="2280920" y="8477250"/>
            <a:ext cx="3078480" cy="3048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p>
            <a:pPr marL="0" indent="0" algn="l">
              <a:buNone/>
            </a:pPr>
            <a:r>
              <a:rPr lang="en-US" sz="2000" b="1" dirty="0">
                <a:solidFill>
                  <a:srgbClr val="15151A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</a:rPr>
              <a:t>评测与审计</a:t>
            </a:r>
            <a:endParaRPr lang="en-US" sz="2000" b="1" dirty="0">
              <a:solidFill>
                <a:srgbClr val="15151A"/>
              </a:solidFill>
              <a:latin typeface="宋体" panose="02010600030101010101" pitchFamily="2" charset="-122"/>
              <a:ea typeface="宋体" panose="02010600030101010101" pitchFamily="2" charset="-122"/>
              <a:cs typeface="PingFang SC" pitchFamily="34" charset="-120"/>
            </a:endParaRPr>
          </a:p>
        </p:txBody>
      </p:sp>
      <p:sp>
        <p:nvSpPr>
          <p:cNvPr id="74" name="Text 47"/>
          <p:cNvSpPr/>
          <p:nvPr/>
        </p:nvSpPr>
        <p:spPr>
          <a:xfrm>
            <a:off x="1438275" y="8877300"/>
            <a:ext cx="7603331" cy="266700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侧边栏\</a:t>
            </a:r>
            <a:r>
              <a:rPr lang="en-US" sz="1200" b="1" dirty="0">
                <a:solidFill>
                  <a:srgbClr val="C0392B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系统设置\</a:t>
            </a:r>
            <a:r>
              <a:rPr lang="en-US" sz="1200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Trace / Eval / 记忆补丁 / 技能补丁 入口</a:t>
            </a:r>
            <a:endParaRPr lang="en-US" sz="1200" dirty="0">
              <a:solidFill>
                <a:srgbClr val="2C2C34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5" name="Text 48"/>
          <p:cNvSpPr/>
          <p:nvPr/>
        </p:nvSpPr>
        <p:spPr>
          <a:xfrm>
            <a:off x="1438275" y="9201150"/>
            <a:ext cx="7603331" cy="247650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p>
            <a:pPr marL="0" indent="0" algn="l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C0392B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可复查\可测试\可持续改进</a:t>
            </a:r>
            <a:endParaRPr lang="en-US" sz="1200" b="1" dirty="0">
              <a:solidFill>
                <a:srgbClr val="C0392B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6" name="Shape 49"/>
          <p:cNvSpPr/>
          <p:nvPr/>
        </p:nvSpPr>
        <p:spPr>
          <a:xfrm>
            <a:off x="9248775" y="8315325"/>
            <a:ext cx="7820025" cy="1257300"/>
          </a:xfrm>
          <a:prstGeom prst="rect">
            <a:avLst/>
          </a:prstGeom>
          <a:solidFill>
            <a:srgbClr val="E8EAF3"/>
          </a:solidFill>
        </p:spPr>
      </p:sp>
      <p:sp>
        <p:nvSpPr>
          <p:cNvPr id="77" name="Shape 50"/>
          <p:cNvSpPr/>
          <p:nvPr/>
        </p:nvSpPr>
        <p:spPr>
          <a:xfrm>
            <a:off x="9248775" y="9563100"/>
            <a:ext cx="7820025" cy="9525"/>
          </a:xfrm>
          <a:prstGeom prst="rect">
            <a:avLst/>
          </a:prstGeom>
          <a:solidFill>
            <a:srgbClr val="14141C">
              <a:alpha val="10000"/>
            </a:srgbClr>
          </a:solidFill>
        </p:spPr>
      </p:sp>
      <p:sp>
        <p:nvSpPr>
          <p:cNvPr id="78" name="Shape 51"/>
          <p:cNvSpPr/>
          <p:nvPr/>
        </p:nvSpPr>
        <p:spPr>
          <a:xfrm>
            <a:off x="9248775" y="8315325"/>
            <a:ext cx="7820025" cy="9525"/>
          </a:xfrm>
          <a:prstGeom prst="rect">
            <a:avLst/>
          </a:prstGeom>
          <a:solidFill>
            <a:srgbClr val="14141C">
              <a:alpha val="10000"/>
            </a:srgbClr>
          </a:solidFill>
        </p:spPr>
      </p:sp>
      <p:sp>
        <p:nvSpPr>
          <p:cNvPr id="79" name="Shape 52"/>
          <p:cNvSpPr/>
          <p:nvPr/>
        </p:nvSpPr>
        <p:spPr>
          <a:xfrm>
            <a:off x="9248775" y="8315325"/>
            <a:ext cx="38100" cy="1257300"/>
          </a:xfrm>
          <a:prstGeom prst="rect">
            <a:avLst/>
          </a:prstGeom>
          <a:solidFill>
            <a:srgbClr val="B88746"/>
          </a:solidFill>
        </p:spPr>
      </p:sp>
      <p:sp>
        <p:nvSpPr>
          <p:cNvPr id="80" name="Shape 53"/>
          <p:cNvSpPr/>
          <p:nvPr/>
        </p:nvSpPr>
        <p:spPr>
          <a:xfrm>
            <a:off x="17059275" y="8315325"/>
            <a:ext cx="9525" cy="1257300"/>
          </a:xfrm>
          <a:prstGeom prst="rect">
            <a:avLst/>
          </a:prstGeom>
          <a:solidFill>
            <a:srgbClr val="14141C">
              <a:alpha val="10000"/>
            </a:srgbClr>
          </a:solidFill>
        </p:spPr>
      </p:sp>
      <p:sp>
        <p:nvSpPr>
          <p:cNvPr id="81" name="Text 54"/>
          <p:cNvSpPr/>
          <p:nvPr/>
        </p:nvSpPr>
        <p:spPr>
          <a:xfrm>
            <a:off x="9496425" y="8543925"/>
            <a:ext cx="804416" cy="209550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p>
            <a:pPr marL="0" indent="0" algn="l">
              <a:buNone/>
            </a:pPr>
            <a:r>
              <a:rPr lang="en-US" sz="1200" kern="0" spc="189" dirty="0">
                <a:solidFill>
                  <a:srgbClr val="B88746"/>
                </a:solidFill>
                <a:latin typeface="宋体" panose="02010600030101010101" pitchFamily="2" charset="-122"/>
                <a:ea typeface="宋体" panose="02010600030101010101" pitchFamily="2" charset="-122"/>
                <a:cs typeface="JetBrains Mono" pitchFamily="34" charset="-120"/>
              </a:rPr>
              <a:t>CLOSING</a:t>
            </a:r>
            <a:endParaRPr lang="en-US" sz="1200" kern="0" spc="189" dirty="0">
              <a:solidFill>
                <a:srgbClr val="B88746"/>
              </a:solidFill>
              <a:latin typeface="宋体" panose="02010600030101010101" pitchFamily="2" charset="-122"/>
              <a:ea typeface="宋体" panose="02010600030101010101" pitchFamily="2" charset="-122"/>
              <a:cs typeface="JetBrains Mono" pitchFamily="34" charset="-120"/>
            </a:endParaRPr>
          </a:p>
        </p:txBody>
      </p:sp>
      <p:sp>
        <p:nvSpPr>
          <p:cNvPr id="82" name="Text 55"/>
          <p:cNvSpPr/>
          <p:nvPr/>
        </p:nvSpPr>
        <p:spPr>
          <a:xfrm>
            <a:off x="10339070" y="8477250"/>
            <a:ext cx="4438015" cy="3048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p>
            <a:pPr marL="0" indent="0" algn="l">
              <a:buNone/>
            </a:pPr>
            <a:r>
              <a:rPr lang="en-US" sz="2000" b="1" dirty="0">
                <a:solidFill>
                  <a:srgbClr val="15151A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</a:rPr>
              <a:t>一句话总结</a:t>
            </a:r>
            <a:endParaRPr lang="en-US" sz="2000" b="1" dirty="0">
              <a:solidFill>
                <a:srgbClr val="15151A"/>
              </a:solidFill>
              <a:latin typeface="宋体" panose="02010600030101010101" pitchFamily="2" charset="-122"/>
              <a:ea typeface="宋体" panose="02010600030101010101" pitchFamily="2" charset="-122"/>
              <a:cs typeface="PingFang SC" pitchFamily="34" charset="-120"/>
            </a:endParaRPr>
          </a:p>
        </p:txBody>
      </p:sp>
      <p:sp>
        <p:nvSpPr>
          <p:cNvPr id="86" name="Text 56"/>
          <p:cNvSpPr/>
          <p:nvPr/>
        </p:nvSpPr>
        <p:spPr>
          <a:xfrm>
            <a:off x="9497695" y="8782050"/>
            <a:ext cx="7573899" cy="495300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p>
            <a:pPr marL="0" indent="0" algn="l">
              <a:lnSpc>
                <a:spcPct val="155000"/>
              </a:lnSpc>
              <a:buNone/>
            </a:pPr>
            <a:r>
              <a:rPr lang="en-US" sz="1600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创新点不是</a:t>
            </a:r>
            <a:r>
              <a:rPr lang="en-US" sz="1600" b="1" dirty="0">
                <a:solidFill>
                  <a:srgbClr val="C0392B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接入大模型</a:t>
            </a:r>
            <a:r>
              <a:rPr lang="en-US" sz="1600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，而是</a:t>
            </a:r>
            <a:r>
              <a:rPr lang="en-US" sz="1600" b="1" dirty="0">
                <a:solidFill>
                  <a:srgbClr val="C0392B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把大模型放进工业检测软件的受控工作流</a:t>
            </a:r>
            <a:r>
              <a:rPr lang="en-US" sz="1600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里 —— 智能交互 · 安全边界 · 可审计验证。</a:t>
            </a:r>
            <a:endParaRPr lang="en-US" sz="1600" dirty="0">
              <a:solidFill>
                <a:srgbClr val="2C2C34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1220470" y="1761490"/>
            <a:ext cx="16325088" cy="7524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90000" lnSpcReduction="20000"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4800" b="1" kern="0" spc="-48" dirty="0">
                <a:solidFill>
                  <a:srgbClr val="15151A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</a:rPr>
              <a:t>总结与</a:t>
            </a:r>
            <a:r>
              <a:rPr lang="en-US" sz="4800" b="1" kern="0" spc="-48" dirty="0">
                <a:solidFill>
                  <a:srgbClr val="2B3A8A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</a:rPr>
              <a:t>展望</a:t>
            </a:r>
            <a:endParaRPr lang="en-US" sz="48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219200" y="3657600"/>
            <a:ext cx="5105400" cy="2971800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C">
                <a:alpha val="1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14475" y="3933825"/>
            <a:ext cx="4650296" cy="2381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203" dirty="0">
                <a:solidFill>
                  <a:srgbClr val="2B3A8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DONE · 完成的工作</a:t>
            </a:r>
            <a:endParaRPr lang="en-US" sz="1125" kern="0" spc="203" dirty="0">
              <a:solidFill>
                <a:srgbClr val="2B3A8A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" name="Text 6"/>
          <p:cNvSpPr/>
          <p:nvPr/>
        </p:nvSpPr>
        <p:spPr>
          <a:xfrm>
            <a:off x="1514475" y="4248150"/>
            <a:ext cx="4650296" cy="3524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5151A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</a:rPr>
              <a:t>受约束的任务型助手原型</a:t>
            </a:r>
            <a:endParaRPr lang="en-US" sz="1800" b="1" dirty="0">
              <a:solidFill>
                <a:srgbClr val="15151A"/>
              </a:solidFill>
              <a:latin typeface="宋体" panose="02010600030101010101" pitchFamily="2" charset="-122"/>
              <a:ea typeface="宋体" panose="02010600030101010101" pitchFamily="2" charset="-122"/>
              <a:cs typeface="PingFang SC" pitchFamily="34" charset="-12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444625" y="4733925"/>
            <a:ext cx="4693920" cy="16573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139700" indent="-139700" algn="l">
              <a:lnSpc>
                <a:spcPct val="165000"/>
              </a:lnSpc>
              <a:buSzPct val="100000"/>
              <a:buChar char="•"/>
              <a:tabLst>
                <a:tab pos="139700" algn="l"/>
              </a:tabLst>
            </a:pPr>
            <a:r>
              <a:rPr lang="en-US" sz="1575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五类任务、五层架构、端到端打通</a:t>
            </a:r>
            <a:endParaRPr lang="en-US" sz="1575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39700" indent="-139700" algn="l">
              <a:lnSpc>
                <a:spcPct val="165000"/>
              </a:lnSpc>
              <a:buSzPct val="100000"/>
              <a:buChar char="•"/>
              <a:tabLst>
                <a:tab pos="139700" algn="l"/>
              </a:tabLst>
            </a:pPr>
            <a:r>
              <a:rPr lang="en-US" sz="1575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知识库</a:t>
            </a:r>
            <a:r>
              <a:rPr lang="zh-CN" altLang="en-US" sz="1575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sz="1575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RAG</a:t>
            </a:r>
            <a:r>
              <a:rPr lang="zh-CN" altLang="en-US" sz="1575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sz="1575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意图</a:t>
            </a:r>
            <a:r>
              <a:rPr lang="zh-CN" altLang="en-US" sz="1575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sz="1575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命令</a:t>
            </a:r>
            <a:r>
              <a:rPr lang="zh-CN" altLang="en-US" sz="1575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sz="1575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解析</a:t>
            </a:r>
            <a:r>
              <a:rPr lang="zh-CN" altLang="en-US" sz="1575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sz="1575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适配</a:t>
            </a:r>
            <a:r>
              <a:rPr lang="zh-CN" altLang="en-US" sz="1575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sz="1575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前端</a:t>
            </a:r>
            <a:endParaRPr lang="en-US" sz="1575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39700" indent="-139700" algn="l">
              <a:lnSpc>
                <a:spcPct val="165000"/>
              </a:lnSpc>
              <a:buSzPct val="100000"/>
              <a:buChar char="•"/>
              <a:tabLst>
                <a:tab pos="139700" algn="l"/>
              </a:tabLst>
            </a:pPr>
            <a:r>
              <a:rPr lang="en-US" sz="1575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状态文件桥接已接入主系统</a:t>
            </a:r>
            <a:endParaRPr lang="en-US" sz="1575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algn="l">
              <a:lnSpc>
                <a:spcPct val="165000"/>
              </a:lnSpc>
              <a:buSzPct val="100000"/>
              <a:buNone/>
              <a:tabLst>
                <a:tab pos="139700" algn="l"/>
              </a:tabLst>
            </a:pPr>
            <a:endParaRPr lang="zh-CN" altLang="en-US" sz="1575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591300" y="3657600"/>
            <a:ext cx="5105400" cy="2971800"/>
          </a:xfrm>
          <a:prstGeom prst="rect">
            <a:avLst/>
          </a:prstGeom>
          <a:solidFill>
            <a:srgbClr val="FFFFFF"/>
          </a:solidFill>
          <a:ln w="9525">
            <a:solidFill>
              <a:srgbClr val="B8874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86575" y="3933825"/>
            <a:ext cx="4650296" cy="2381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203" dirty="0">
                <a:solidFill>
                  <a:srgbClr val="B8874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LIMITS · 不足之处</a:t>
            </a:r>
            <a:endParaRPr lang="en-US" sz="1125" kern="0" spc="203" dirty="0">
              <a:solidFill>
                <a:srgbClr val="B8874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886575" y="4248150"/>
            <a:ext cx="4650296" cy="3524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5151A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</a:rPr>
              <a:t>仍在原型阶段</a:t>
            </a:r>
            <a:endParaRPr lang="en-US" sz="1800" b="1" dirty="0">
              <a:solidFill>
                <a:srgbClr val="15151A"/>
              </a:solidFill>
              <a:latin typeface="宋体" panose="02010600030101010101" pitchFamily="2" charset="-122"/>
              <a:ea typeface="宋体" panose="02010600030101010101" pitchFamily="2" charset="-122"/>
              <a:cs typeface="PingFang SC" pitchFamily="34" charset="-12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937375" y="4733925"/>
            <a:ext cx="4540885" cy="172339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139700" indent="-139700" algn="l">
              <a:lnSpc>
                <a:spcPct val="165000"/>
              </a:lnSpc>
              <a:buSzPct val="100000"/>
              <a:buChar char="•"/>
              <a:tabLst>
                <a:tab pos="139700" algn="l"/>
              </a:tabLst>
            </a:pPr>
            <a:r>
              <a:rPr lang="en-US" sz="1575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</a:rPr>
              <a:t>真实联机完整闭环仍需补完</a:t>
            </a:r>
            <a:endParaRPr lang="en-US" sz="1575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139700" indent="-139700" algn="l">
              <a:lnSpc>
                <a:spcPct val="165000"/>
              </a:lnSpc>
              <a:buSzPct val="100000"/>
              <a:buChar char="•"/>
              <a:tabLst>
                <a:tab pos="139700" algn="l"/>
              </a:tabLst>
            </a:pPr>
            <a:r>
              <a:rPr lang="en-US" sz="1575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</a:rPr>
              <a:t>知识库以样例资料为主，仍待扩充</a:t>
            </a:r>
            <a:endParaRPr lang="en-US" sz="1575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139700" indent="-139700" algn="l">
              <a:lnSpc>
                <a:spcPct val="165000"/>
              </a:lnSpc>
              <a:buSzPct val="100000"/>
              <a:buChar char="•"/>
              <a:tabLst>
                <a:tab pos="139700" algn="l"/>
              </a:tabLst>
            </a:pPr>
            <a:r>
              <a:rPr lang="en-US" sz="1575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</a:rPr>
              <a:t>性能、并发与可用性测试未系统展开</a:t>
            </a:r>
            <a:endParaRPr lang="en-US" sz="1575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139700" indent="-139700" algn="l">
              <a:lnSpc>
                <a:spcPct val="165000"/>
              </a:lnSpc>
              <a:buSzPct val="100000"/>
              <a:buChar char="•"/>
              <a:tabLst>
                <a:tab pos="139700" algn="l"/>
              </a:tabLst>
            </a:pPr>
            <a:r>
              <a:rPr lang="en-US" sz="1575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</a:rPr>
              <a:t>算法创新性有限，重点在工程整合</a:t>
            </a:r>
            <a:endParaRPr lang="en-US" sz="1575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11963400" y="3657600"/>
            <a:ext cx="5105400" cy="2971800"/>
          </a:xfrm>
          <a:prstGeom prst="rect">
            <a:avLst/>
          </a:prstGeom>
          <a:solidFill>
            <a:srgbClr val="FFFFFF"/>
          </a:solidFill>
          <a:ln w="9525">
            <a:solidFill>
              <a:srgbClr val="2B3A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258675" y="3933825"/>
            <a:ext cx="4650296" cy="2381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203" dirty="0">
                <a:solidFill>
                  <a:srgbClr val="2B3A8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NEXT · 未来工作</a:t>
            </a:r>
            <a:endParaRPr lang="en-US" sz="1125" kern="0" spc="203" dirty="0">
              <a:solidFill>
                <a:srgbClr val="2B3A8A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2258675" y="4248150"/>
            <a:ext cx="4650296" cy="3524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5151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从"可运行"走向"可联机"</a:t>
            </a:r>
            <a:endParaRPr lang="en-US" sz="1800" b="1" dirty="0">
              <a:solidFill>
                <a:srgbClr val="15151A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2309158" y="4733925"/>
            <a:ext cx="4540568" cy="13335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90000" lnSpcReduction="20000"/>
          </a:bodyPr>
          <a:lstStyle/>
          <a:p>
            <a:pPr marL="139700" indent="-139700" algn="l">
              <a:lnSpc>
                <a:spcPct val="165000"/>
              </a:lnSpc>
              <a:buSzPct val="100000"/>
              <a:buChar char="•"/>
              <a:tabLst>
                <a:tab pos="139700" algn="l"/>
              </a:tabLst>
            </a:pPr>
            <a:r>
              <a:rPr lang="en-US" sz="1575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命令提交闭环 + 异常恢复</a:t>
            </a:r>
            <a:endParaRPr lang="en-US" sz="1575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39700" indent="-139700" algn="l">
              <a:lnSpc>
                <a:spcPct val="165000"/>
              </a:lnSpc>
              <a:buSzPct val="100000"/>
              <a:buChar char="•"/>
              <a:tabLst>
                <a:tab pos="139700" algn="l"/>
              </a:tabLst>
            </a:pPr>
            <a:r>
              <a:rPr lang="en-US" sz="1575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官方手册接入 + 资料版本追踪</a:t>
            </a:r>
            <a:endParaRPr lang="en-US" sz="1575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39700" indent="-139700" algn="l">
              <a:lnSpc>
                <a:spcPct val="165000"/>
              </a:lnSpc>
              <a:buSzPct val="100000"/>
              <a:buChar char="•"/>
              <a:tabLst>
                <a:tab pos="139700" algn="l"/>
              </a:tabLst>
            </a:pPr>
            <a:r>
              <a:rPr lang="en-US" sz="1575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日志 / 权限 / 操作留痕</a:t>
            </a:r>
            <a:endParaRPr lang="en-US" sz="1575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39700" indent="-139700" algn="l">
              <a:lnSpc>
                <a:spcPct val="165000"/>
              </a:lnSpc>
              <a:buSzPct val="100000"/>
              <a:buChar char="•"/>
              <a:tabLst>
                <a:tab pos="139700" algn="l"/>
              </a:tabLst>
            </a:pPr>
            <a:r>
              <a:rPr lang="en-US" sz="1575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图像与点云能力扩展</a:t>
            </a:r>
            <a:endParaRPr lang="en-US" sz="1575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1219200" y="8229600"/>
            <a:ext cx="15849600" cy="1143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9" name="Shape 17"/>
          <p:cNvSpPr/>
          <p:nvPr/>
        </p:nvSpPr>
        <p:spPr>
          <a:xfrm>
            <a:off x="1219200" y="9363075"/>
            <a:ext cx="15849600" cy="9525"/>
          </a:xfrm>
          <a:prstGeom prst="rect">
            <a:avLst/>
          </a:prstGeom>
          <a:solidFill>
            <a:srgbClr val="14141C">
              <a:alpha val="10000"/>
            </a:srgbClr>
          </a:solidFill>
        </p:spPr>
      </p:sp>
      <p:sp>
        <p:nvSpPr>
          <p:cNvPr id="20" name="Shape 18"/>
          <p:cNvSpPr/>
          <p:nvPr/>
        </p:nvSpPr>
        <p:spPr>
          <a:xfrm>
            <a:off x="1219200" y="8229600"/>
            <a:ext cx="15849600" cy="9525"/>
          </a:xfrm>
          <a:prstGeom prst="rect">
            <a:avLst/>
          </a:prstGeom>
          <a:solidFill>
            <a:srgbClr val="14141C">
              <a:alpha val="10000"/>
            </a:srgbClr>
          </a:solidFill>
        </p:spPr>
      </p:sp>
      <p:sp>
        <p:nvSpPr>
          <p:cNvPr id="21" name="Shape 19"/>
          <p:cNvSpPr/>
          <p:nvPr/>
        </p:nvSpPr>
        <p:spPr>
          <a:xfrm>
            <a:off x="1219200" y="8229600"/>
            <a:ext cx="38100" cy="1143000"/>
          </a:xfrm>
          <a:prstGeom prst="rect">
            <a:avLst/>
          </a:prstGeom>
          <a:solidFill>
            <a:srgbClr val="2B3A8A"/>
          </a:solidFill>
        </p:spPr>
      </p:sp>
      <p:sp>
        <p:nvSpPr>
          <p:cNvPr id="22" name="Shape 20"/>
          <p:cNvSpPr/>
          <p:nvPr/>
        </p:nvSpPr>
        <p:spPr>
          <a:xfrm>
            <a:off x="17059275" y="8229600"/>
            <a:ext cx="9525" cy="1143000"/>
          </a:xfrm>
          <a:prstGeom prst="rect">
            <a:avLst/>
          </a:prstGeom>
          <a:solidFill>
            <a:srgbClr val="14141C">
              <a:alpha val="10000"/>
            </a:srgbClr>
          </a:solidFill>
        </p:spPr>
      </p:sp>
      <p:sp>
        <p:nvSpPr>
          <p:cNvPr id="23" name="Text 21"/>
          <p:cNvSpPr/>
          <p:nvPr/>
        </p:nvSpPr>
        <p:spPr>
          <a:xfrm>
            <a:off x="1524000" y="8410575"/>
            <a:ext cx="15384145" cy="819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algn="l">
              <a:lnSpc>
                <a:spcPct val="160000"/>
              </a:lnSpc>
              <a:buClrTx/>
              <a:buSzTx/>
              <a:buFontTx/>
              <a:buNone/>
            </a:pPr>
            <a:r>
              <a:rPr lang="en-US" sz="2400" dirty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Github</a:t>
            </a:r>
            <a:r>
              <a:rPr lang="zh-CN" altLang="en-US" sz="2400" dirty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地址：</a:t>
            </a:r>
            <a:r>
              <a:rPr sz="2400" dirty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https://github.com/Ysevan/DAC-3D-LLM</a:t>
            </a:r>
            <a:r>
              <a:rPr lang="en-US" sz="2400" dirty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      </a:t>
            </a:r>
            <a:r>
              <a:rPr sz="2400" dirty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 </a:t>
            </a:r>
            <a:r>
              <a:rPr lang="en-US" sz="2400" dirty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            </a:t>
            </a:r>
            <a:r>
              <a:rPr sz="2400" dirty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  </a:t>
            </a:r>
            <a:r>
              <a:rPr lang="zh-CN" sz="2400" dirty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项目网页地址：</a:t>
            </a:r>
            <a:r>
              <a:rPr sz="2400" dirty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https://dac3d-agent.2322333.xyz/</a:t>
            </a:r>
            <a:endParaRPr sz="2400" dirty="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83" name="Shape 2"/>
          <p:cNvSpPr/>
          <p:nvPr/>
        </p:nvSpPr>
        <p:spPr>
          <a:xfrm>
            <a:off x="4859685" y="1085850"/>
            <a:ext cx="12209115" cy="9525"/>
          </a:xfrm>
          <a:prstGeom prst="rect">
            <a:avLst/>
          </a:prstGeom>
          <a:solidFill>
            <a:srgbClr val="14141C">
              <a:alpha val="10000"/>
            </a:srgbClr>
          </a:solidFill>
        </p:spPr>
      </p:sp>
      <p:sp>
        <p:nvSpPr>
          <p:cNvPr id="84" name="Text 0"/>
          <p:cNvSpPr/>
          <p:nvPr/>
        </p:nvSpPr>
        <p:spPr>
          <a:xfrm>
            <a:off x="1220470" y="837565"/>
            <a:ext cx="506730" cy="4508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p>
            <a:pPr marL="0" indent="0" algn="l">
              <a:buNone/>
            </a:pPr>
            <a:r>
              <a:rPr lang="en-US" sz="3200" kern="0" spc="162" dirty="0">
                <a:solidFill>
                  <a:srgbClr val="2B3A8A"/>
                </a:solidFill>
                <a:latin typeface="宋体" panose="02010600030101010101" pitchFamily="2" charset="-122"/>
                <a:ea typeface="宋体" panose="02010600030101010101" pitchFamily="2" charset="-122"/>
                <a:cs typeface="JetBrains Mono" pitchFamily="34" charset="-120"/>
              </a:rPr>
              <a:t>04</a:t>
            </a:r>
            <a:endParaRPr lang="en-US" sz="3200" kern="0" spc="162" dirty="0">
              <a:solidFill>
                <a:srgbClr val="2B3A8A"/>
              </a:solidFill>
              <a:latin typeface="宋体" panose="02010600030101010101" pitchFamily="2" charset="-122"/>
              <a:ea typeface="宋体" panose="02010600030101010101" pitchFamily="2" charset="-122"/>
              <a:cs typeface="JetBrains Mono" pitchFamily="34" charset="-120"/>
            </a:endParaRPr>
          </a:p>
        </p:txBody>
      </p:sp>
      <p:sp>
        <p:nvSpPr>
          <p:cNvPr id="85" name="Text 1"/>
          <p:cNvSpPr/>
          <p:nvPr/>
        </p:nvSpPr>
        <p:spPr>
          <a:xfrm>
            <a:off x="1669415" y="841375"/>
            <a:ext cx="3517265" cy="4978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p>
            <a:pPr marL="0" indent="0" algn="l">
              <a:buNone/>
            </a:pPr>
            <a:r>
              <a:rPr lang="en-US" sz="3200" b="1" dirty="0">
                <a:solidFill>
                  <a:srgbClr val="15151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sz="3200" b="1" dirty="0">
                <a:solidFill>
                  <a:srgbClr val="1515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  <a:sym typeface="+mn-ea"/>
              </a:rPr>
              <a:t>总结与展望</a:t>
            </a:r>
            <a:endParaRPr lang="en-US" sz="3200" b="1" dirty="0">
              <a:solidFill>
                <a:srgbClr val="15151A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378275" y="3409950"/>
            <a:ext cx="9531450" cy="2133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90000" lnSpcReduction="1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0" b="1" kern="0" spc="1650" dirty="0">
                <a:solidFill>
                  <a:srgbClr val="15151A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</a:rPr>
              <a:t>敬请指正</a:t>
            </a:r>
            <a:endParaRPr lang="en-US" sz="165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Text 2"/>
          <p:cNvSpPr/>
          <p:nvPr/>
        </p:nvSpPr>
        <p:spPr>
          <a:xfrm>
            <a:off x="6211199" y="6038850"/>
            <a:ext cx="5865602" cy="476250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lstStyle/>
          <a:p>
            <a:pPr marL="0" indent="0" algn="ctr">
              <a:lnSpc>
                <a:spcPct val="155000"/>
              </a:lnSpc>
              <a:buNone/>
            </a:pPr>
            <a:r>
              <a:rPr lang="en-US" sz="2800" kern="0" spc="135" dirty="0">
                <a:solidFill>
                  <a:srgbClr val="6B6B75"/>
                </a:solidFill>
                <a:latin typeface="Times New Roman" panose="02020603050405020304" charset="0"/>
                <a:ea typeface="PingFang SC" pitchFamily="34" charset="-122"/>
                <a:cs typeface="Times New Roman" panose="02020603050405020304" charset="0"/>
              </a:rPr>
              <a:t>Q &amp; A</a:t>
            </a:r>
            <a:endParaRPr lang="en-US" sz="2800" kern="0" spc="135" dirty="0">
              <a:solidFill>
                <a:srgbClr val="6B6B75"/>
              </a:solidFill>
              <a:latin typeface="Times New Roman" panose="02020603050405020304" charset="0"/>
              <a:ea typeface="PingFang SC" pitchFamily="34" charset="-122"/>
              <a:cs typeface="Times New Roman" panose="0202060305040502030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6210300" y="7391400"/>
            <a:ext cx="6339205" cy="833120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2400" kern="0" spc="480" dirty="0">
                <a:solidFill>
                  <a:srgbClr val="2B3A8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信管2202</a:t>
            </a:r>
            <a:r>
              <a:rPr lang="en-US" sz="2400" kern="0" spc="480" dirty="0">
                <a:solidFill>
                  <a:srgbClr val="2B3A8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颜益炜 郑积仕老师指导</a:t>
            </a:r>
            <a:endParaRPr lang="en-US" sz="2400" kern="0" spc="480" dirty="0">
              <a:solidFill>
                <a:srgbClr val="2B3A8A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4586</Words>
  <Application>WPS 演示</Application>
  <PresentationFormat>On-screen Show (16:9)</PresentationFormat>
  <Paragraphs>548</Paragraphs>
  <Slides>14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32" baseType="lpstr">
      <vt:lpstr>Arial</vt:lpstr>
      <vt:lpstr>宋体</vt:lpstr>
      <vt:lpstr>Wingdings</vt:lpstr>
      <vt:lpstr>JetBrains Mono</vt:lpstr>
      <vt:lpstr>MingLiU-ExtB</vt:lpstr>
      <vt:lpstr>思源宋体 CN Heavy</vt:lpstr>
      <vt:lpstr>Noto Sans SC</vt:lpstr>
      <vt:lpstr>PingFang SC</vt:lpstr>
      <vt:lpstr>PingFang SC</vt:lpstr>
      <vt:lpstr>PingFang SC</vt:lpstr>
      <vt:lpstr>Times New Roman</vt:lpstr>
      <vt:lpstr>JetBrains Mono</vt:lpstr>
      <vt:lpstr>Segoe Print</vt:lpstr>
      <vt:lpstr>Calibri</vt:lpstr>
      <vt:lpstr>微软雅黑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Ysevan</cp:lastModifiedBy>
  <cp:revision>35</cp:revision>
  <dcterms:created xsi:type="dcterms:W3CDTF">2026-05-23T12:17:00Z</dcterms:created>
  <dcterms:modified xsi:type="dcterms:W3CDTF">2026-05-29T16:35:05Z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201FCCF33E184CD5B9E4BA40693939D1_12</vt:lpwstr>
  </property>
  <property fmtid="{D5CDD505-2E9C-101B-9397-08002B2CF9AE}" pid="3" name="KSOProductBuildVer">
    <vt:lpwstr>2052-12.8.2.18205</vt:lpwstr>
  </property>
</Properties>
</file>