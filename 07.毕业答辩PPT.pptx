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72" r:id="rId12"/>
    <p:sldId id="267" r:id="rId13"/>
    <p:sldId id="268" r:id="rId14"/>
    <p:sldId id="269" r:id="rId15"/>
    <p:sldId id="270" r:id="rId16"/>
    <p:sldId id="271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8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826920" y="0"/>
            <a:ext cx="4457700" cy="9175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8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7370426"/>
            <a:ext cx="4457700" cy="9175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826920" y="17370426"/>
            <a:ext cx="4457700" cy="9175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8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各位老师好，我是信管2202的颜益炜，我的毕业设计题目是《基于大语言模型的DAC-3D智能交互助手设计与实现》，指导老师是郑积仕老师。今天的汇报大约十分钟，会按研究背景、需求分析、总体设计、关键模块、测试结果和现场演示几个部分展开，最后再请各位老师提问，我会做现场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先说背景。DAC-3D面向精密光学检测，操作人员日常要做参数设置、扫描区域确认、运行状态查看和结果判读。问题在于参数多、流程长、状态杂、结果带专业字段。新用户经常拿着手册一边看一边操作，培训成本一直不低。我列了三句操作人员真实会问出口的话——这个参数是什么意思、为什么这个缺陷被判严重、接下来应该怎么办——这些问题传统菜单和按钮都不太能直接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近年大语言模型在自然语言理解和文本生成上能力明显提升，从Transformer、BERT到RAG、DPR，再到任务型对话、ReAct，方法已经比较成熟，工业数字助手综述也指出助手价值在知识支持和流程协调上。但具体到既有专业文档、又有结构化结果、还有运行状态的检测软件，需要把这些能力工程化整合成一套受约束、可审计、能联机的Agent化助手，现成的方案比较少。这就是本课题想填的空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所以本文的目标，不是再做一个通用聊天机器人，而是要做一个受三重约束的Agent化任务型助手——知识来源约束、结构化规则约束、检测业务流程约束。具体覆盖参数问答、操作预览、结果解读、状态查询、运维管理这五类任务。请注意这五类任务在后面的架构、模块、测试里会反复出现，是本设计的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把五类任务展开做需求分析。每一类对应明确的输入、输出和系统模块。这里我特别提一下表里两类需求：一是Agent任务分派，统一入口先识别任务类型再分流，避免把执行类请求当作普通问答处理；二是评测与审计，把Trace记录和回归用例纳入系统能力，使关键过程可以复查。这两点也是本设计相比一般RAG问答系统的差异所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基于需求，系统设计成六层。最上面是交互展示层，往下是DAC-3D集成层、工具与安全层、Agent编排层、知识与上下文层，最下面是配置与入口层。请注意中间这两层——工具与安全层、Agent编排层——是本设计的关键。Agent编排层负责把请求分派到对应链路，工具与安全层负责把执行类操作约束在预览-校验-确认-审计的生命周期内。后面几页会展开这几个关键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关键模块：知识库与检索增强问答。文档可以是Markdown、TXT、PDF或DOCX，先做格式探测和文本清洗，再按标题和句子边界切分成带元信息的片段，向量化后持久化到Chroma。检索阶段用稠密向量加词项统计的混合策略：一种处理表述不一致的情况，一种处理直接命中术语的情况。最后每条回答都会带上来源文件、章节和分数，可追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第二个关键模块：意图识别和结构化命令生成。这里要重点说一个工程决策——面对操作请求，系统不替用户决定关键参数。比如用户说"开始扫描"，缺区域、缺分辨率，系统不会自己猜，而是返回澄清提示。命令进入完整的生命周期：先生成pending preview，再依次经过schema校验、路径白名单、风险分类、确认token校验，最后才提交。这是从聊天系统走向任务型软件的关键。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这一页是本设计的核心工程亮点：工具网关 + 安全审查链路。所有可能改变DAC-3D状态的操作，都不能让LLM直接执行，必须依次经过工具注册、schema校验、路径白名单、风险分类、确认token、命令生命周期记录这六个环节。任何一步失败，整条命令链路都会被拒绝。这一层是我们能在工业检测场景部署Agent的安全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前后端实现。后端FastAPI，统一暴露八类接口——同步聊天、流式聊天、运行时查询、知识库管理、命令审批、Trace读取、评测运行、记忆补丁审核。前端React+Vite+TypeScript，从单纯的对话窗口扩展成Agent工作台，可以同时展示对话、来源、命令预览、审批入口、状态摘要、Trace审计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系统测试。我用诚实的数据汇报。功能测试65条，46通过、8警告、11失败，主要失败集中在结果解释模块的结构化输出稳定性，这是后续要优先修复的。Agent回归20条、安全红队20条全部跑通，验证了命令生命周期、记忆审核和安全拦截链路。性能数据显示本地确定性逻辑开销很低，主要响应时间来自外部模型调用。SUS用户体验量表平均得分82分，5名参与者中4人在所有任务上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下面进入现场演示环节。这是 DAC-3D Agent 工作台，它不是普通聊天框，而是连接 DAC-3D 主系统状态、知识库、命令审批和检测结果解释的本地智能助手。我会依次演示八个场景。第一个是知识问答与操作指导，我输入样品表面反光很强怎么办，助手会依据 DAC-3D 文档和检测经验给出处理建议；第二个是状态查询，我输入当前检测状态是什么，这不是模型猜的，而是从主系统写出的状态文件里读到的运行数据。第三个是自然语言命令预览，我输入扫描 10mm 乘 10mm 区域，助手会转换为结构化命令预览，包括扫描范围、模式、缺失字段与风险提示。第四个是安全审批，这是本设计最重要的部分，上一步返回的命令会带上 needs_confirmation、preview_id、confirmation_token 以及生命周期状态，LLM 不能直接控制设备，所有执行类动作都要经过预览、Tool Gateway、策略校验、路径白名单、确认 token 和生命周期记录。第五个是结果解释，我输入当前检测结果怎么样，助手会读取最近结果并解释缺陷类型、严重度和依据；如果没有结果会明确说明，不会编造。第六个是 Agent 工具能力，我在终端执行 dac3d-agent 列出工具列表，可以看到 DAC-3D、Machine、Memory、Skill、Safety、Tool Gateway 等工具，这说明系统是多工具 Agent Runtime，不是单一路由问答，我会重点补一个跨工具问题，让 Agent 总结近三个月的设备异常趋势。第七个是评测与审计，在系统设置区可以看到 Trace、Eval、记忆补丁和技能补丁入口，系统可复查、可测试、可持续改进。总结一句：本系统的创新点不是接入大模型，而是把大模型放入工业检测软件的受控工作流里，同时具备智能交互、工业安全边界和可审计验证能力。如果老师们在演示中有问题可以随时打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总结一下。本文围绕DAC-3D检测场景，完成了一套Agent化、有安全边界、可审计的智能交互助手原型，覆盖五类任务，功能、Agent回归和安全红队三类测试链路均已建立。本设计的工程价值在于：把LLM、RAG、意图识别、Agent编排、工具网关、安全审查、Memory OS、Trace/Eval拧成了一套可运行、可验证、可扩展的软件原型。不足主要在结果解释结构化输出稳定性、RAG来源约束、真实设备闭环联机三方面，后续工作会沿着这几条线推进。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感谢各位老师的耐心聆听，请各位老师批评指正。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19" name="Group 8"/>
          <p:cNvGrpSpPr/>
          <p:nvPr userDrawn="1"/>
        </p:nvGrpSpPr>
        <p:grpSpPr>
          <a:xfrm>
            <a:off x="13987145" y="264160"/>
            <a:ext cx="4162425" cy="960755"/>
            <a:chOff x="2063591" y="1157383"/>
            <a:chExt cx="8060246" cy="1859756"/>
          </a:xfrm>
        </p:grpSpPr>
        <p:pic>
          <p:nvPicPr>
            <p:cNvPr id="100008" name="Picture 9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2063591" y="1157383"/>
              <a:ext cx="1824609" cy="1824609"/>
            </a:xfrm>
            <a:prstGeom prst="rect">
              <a:avLst/>
            </a:prstGeom>
          </p:spPr>
        </p:pic>
        <p:pic>
          <p:nvPicPr>
            <p:cNvPr id="100014" name="Picture 10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007739" y="1310354"/>
              <a:ext cx="6116098" cy="1706785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219200" y="1047750"/>
            <a:ext cx="9526238" cy="352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本科毕业设计（论文）答辩</a:t>
            </a:r>
            <a:endParaRPr lang="en-US" sz="1800" kern="0" spc="432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5" name="TextBox 4"/>
          <p:cNvSpPr txBox="1"/>
          <p:nvPr/>
        </p:nvSpPr>
        <p:spPr>
          <a:xfrm>
            <a:off x="3522345" y="2962910"/>
            <a:ext cx="10808335" cy="21805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/>
          <a:p>
            <a:pPr algn="ctr">
              <a:lnSpc>
                <a:spcPct val="100000"/>
              </a:lnSpc>
            </a:pPr>
            <a:r>
              <a:rPr lang="zh-CN" sz="6000" b="1">
                <a:solidFill>
                  <a:srgbClr val="194B81">
                    <a:alpha val="100000"/>
                  </a:srgbClr>
                </a:solidFill>
                <a:effectLst>
                  <a:outerShdw blurRad="38100" dist="38100" dir="2700000">
                    <a:srgbClr val="000000">
                      <a:alpha val="43136"/>
                    </a:srgbClr>
                  </a:outerShdw>
                </a:effectLst>
                <a:latin typeface="思源宋体 CN Heavy"/>
                <a:ea typeface="思源宋体 CN Heavy"/>
                <a:cs typeface="思源宋体 CN Heavy"/>
                <a:sym typeface="+mn-ea"/>
              </a:rPr>
              <a:t>基于大语言模型的DAC-3D智能交互助手设计与实现</a:t>
            </a:r>
            <a:endParaRPr lang="zh-CN" sz="6000" b="1">
              <a:solidFill>
                <a:srgbClr val="194B81">
                  <a:alpha val="100000"/>
                </a:srgbClr>
              </a:solidFill>
              <a:effectLst>
                <a:outerShdw blurRad="38100" dist="38100" dir="2700000">
                  <a:srgbClr val="000000">
                    <a:alpha val="43136"/>
                  </a:srgbClr>
                </a:outerShdw>
              </a:effectLst>
              <a:latin typeface="思源宋体 CN Heavy"/>
              <a:ea typeface="思源宋体 CN Heavy"/>
              <a:cs typeface="思源宋体 CN Heavy"/>
              <a:sym typeface="+mn-ea"/>
            </a:endParaRPr>
          </a:p>
        </p:txBody>
      </p:sp>
      <p:sp>
        <p:nvSpPr>
          <p:cNvPr id="100007" name="TextBox 5"/>
          <p:cNvSpPr txBox="1"/>
          <p:nvPr/>
        </p:nvSpPr>
        <p:spPr>
          <a:xfrm>
            <a:off x="8002033" y="6393751"/>
            <a:ext cx="1848583" cy="87152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p>
            <a:pPr algn="ctr"/>
          </a:p>
          <a:p>
            <a:pPr algn="ctr">
              <a:lnSpc>
                <a:spcPct val="150000"/>
              </a:lnSpc>
            </a:pPr>
          </a:p>
        </p:txBody>
      </p:sp>
      <p:cxnSp>
        <p:nvCxnSpPr>
          <p:cNvPr id="16" name="Connector 6"/>
          <p:cNvCxnSpPr/>
          <p:nvPr/>
        </p:nvCxnSpPr>
        <p:spPr>
          <a:xfrm>
            <a:off x="4115868" y="5769079"/>
            <a:ext cx="9621008" cy="0"/>
          </a:xfrm>
          <a:prstGeom prst="line">
            <a:avLst/>
          </a:prstGeom>
          <a:ln w="28575">
            <a:solidFill>
              <a:srgbClr val="194B81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0" name="文本框 19"/>
          <p:cNvSpPr txBox="1"/>
          <p:nvPr/>
        </p:nvSpPr>
        <p:spPr>
          <a:xfrm>
            <a:off x="4116070" y="6628765"/>
            <a:ext cx="9620250" cy="2401570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学 生：颜益炜</a:t>
            </a:r>
            <a:r>
              <a:rPr lang="en-US" altLang="zh-CN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                                       </a:t>
            </a:r>
            <a:r>
              <a:rPr lang="zh-CN" altLang="en-US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指导老师：郑</a:t>
            </a:r>
            <a:r>
              <a:rPr lang="zh-CN" altLang="en-US" sz="2800">
                <a:latin typeface="Noto Sans SC" panose="020B0200000000000000" charset="-122"/>
                <a:ea typeface="Noto Sans SC" panose="020B0200000000000000" charset="-122"/>
                <a:sym typeface="+mn-ea"/>
              </a:rPr>
              <a:t>积仕</a:t>
            </a:r>
            <a:r>
              <a:rPr lang="en-US" altLang="zh-CN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  </a:t>
            </a:r>
            <a:endParaRPr lang="zh-CN" altLang="en-US" sz="2800" b="0" i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280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专 业：信息管理与信息系统</a:t>
            </a:r>
            <a:r>
              <a:rPr lang="en-US" altLang="zh-CN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            </a:t>
            </a:r>
            <a:r>
              <a:rPr lang="zh-CN" altLang="en-US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班 级：信管（闽台）</a:t>
            </a:r>
            <a:r>
              <a:rPr lang="en-US" altLang="zh-CN" sz="2800" b="0" i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</a:rPr>
              <a:t>2202  </a:t>
            </a:r>
            <a:endParaRPr lang="en-US" altLang="zh-CN" sz="2800" b="0" i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ctr">
              <a:spcBef>
                <a:spcPts val="2500"/>
              </a:spcBef>
            </a:pPr>
            <a:endParaRPr lang="zh-CN" altLang="en-US" sz="2000" b="0" i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ctr">
              <a:spcBef>
                <a:spcPts val="2500"/>
              </a:spcBef>
            </a:pPr>
            <a:r>
              <a:rPr lang="zh-CN" altLang="en-US"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福建理工大学 人工智能与交通工程学院</a:t>
            </a:r>
            <a:endParaRPr lang="zh-CN" altLang="en-US" sz="2000" b="0" i="0">
              <a:solidFill>
                <a:schemeClr val="tx1">
                  <a:lumMod val="50000"/>
                  <a:lumOff val="50000"/>
                </a:schemeClr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5870" y="872490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01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94815" y="876300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 研究背景与意义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19200" y="1509395"/>
            <a:ext cx="16325088" cy="146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检测系统的人机交互， 正在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慢慢发生变化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26515" y="2576195"/>
            <a:ext cx="7848600" cy="2254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3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DAC-3D 面向精密光学检测：</a:t>
            </a:r>
            <a:r>
              <a:rPr lang="en-US" sz="23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参数多、流程长、状态杂、结果带专业字段</a:t>
            </a:r>
            <a:r>
              <a:rPr lang="en-US" sz="23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。新用户往往要边看手册边操作，培训成本一直不低，传统菜单与按钮难以即时回答"为什么、是什么、怎么办"。</a:t>
            </a:r>
            <a:endParaRPr lang="en-US" sz="23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 flipH="1">
            <a:off x="9667875" y="7823835"/>
            <a:ext cx="76200" cy="1440815"/>
          </a:xfrm>
          <a:prstGeom prst="rect">
            <a:avLst/>
          </a:prstGeom>
          <a:solidFill>
            <a:srgbClr val="2B3A8A"/>
          </a:solidFill>
        </p:spPr>
      </p:sp>
      <p:sp>
        <p:nvSpPr>
          <p:cNvPr id="8" name="Text 6"/>
          <p:cNvSpPr/>
          <p:nvPr/>
        </p:nvSpPr>
        <p:spPr>
          <a:xfrm>
            <a:off x="9744075" y="7639685"/>
            <a:ext cx="4714240" cy="14401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“这个参数是</a:t>
            </a:r>
            <a:r>
              <a:rPr lang="en-US" sz="2400" u="sng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什么意思 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？” </a:t>
            </a:r>
            <a:b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“为什么这个缺陷被判</a:t>
            </a:r>
            <a:r>
              <a:rPr lang="en-US" sz="2400" u="sng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严重 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？” </a:t>
            </a:r>
            <a:b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“接下来</a:t>
            </a:r>
            <a:r>
              <a:rPr lang="en-US" sz="2400" u="sng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应该怎么办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？”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448800" y="2576195"/>
            <a:ext cx="7620000" cy="144843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44075" y="2714625"/>
            <a:ext cx="72403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参数与流程理解成本高</a:t>
            </a:r>
            <a:endParaRPr lang="en-US" sz="21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44075" y="3039745"/>
            <a:ext cx="7240334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algn="l">
              <a:lnSpc>
                <a:spcPct val="155000"/>
              </a:lnSpc>
              <a:buClrTx/>
              <a:buSzTx/>
              <a:buFontTx/>
              <a:buNone/>
            </a:pPr>
            <a:r>
              <a:rPr lang="en-US" sz="16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扫描区域过大 → 检测时间显著拉长；分辨率不当 → 影响结果细节。新用户需依赖手册与熟练人员。</a:t>
            </a:r>
            <a:endParaRPr lang="en-US" sz="165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448800" y="4111625"/>
            <a:ext cx="7620000" cy="145034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38665" y="4250055"/>
            <a:ext cx="72403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结果字段不直观</a:t>
            </a:r>
            <a:endParaRPr lang="en-US" sz="21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38665" y="4669155"/>
            <a:ext cx="7240334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algn="l">
              <a:lnSpc>
                <a:spcPct val="155000"/>
              </a:lnSpc>
              <a:buClrTx/>
              <a:buSzTx/>
              <a:buFontTx/>
              <a:buNone/>
            </a:pPr>
            <a:r>
              <a:rPr lang="en-US" sz="16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原始结果含深度、长度、坐标、规则编号——程序友好，但操作人员难以快速判断“</a:t>
            </a:r>
            <a:r>
              <a:rPr lang="en-US" sz="16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严不严重</a:t>
            </a:r>
            <a:r>
              <a:rPr lang="en-US" sz="16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”。</a:t>
            </a:r>
            <a:endParaRPr lang="en-US" sz="165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48800" y="5648960"/>
            <a:ext cx="7620000" cy="144970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38665" y="5787390"/>
            <a:ext cx="724033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异常时帮助有限</a:t>
            </a:r>
            <a:endParaRPr lang="en-US" sz="21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638665" y="6206490"/>
            <a:ext cx="7240334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用户想要的不是"再多一个页面"，而是在当前界面就能问、就能答的辅助层。</a:t>
            </a:r>
            <a:endParaRPr lang="en-US" sz="165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533400"/>
            <a:ext cx="533400" cy="3429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385" y="5184140"/>
            <a:ext cx="5709920" cy="4283075"/>
          </a:xfrm>
          <a:prstGeom prst="rect">
            <a:avLst/>
          </a:prstGeom>
        </p:spPr>
      </p:pic>
      <p:sp>
        <p:nvSpPr>
          <p:cNvPr id="32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219200" y="1419225"/>
            <a:ext cx="16325088" cy="146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方法基础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已经具备 </a:t>
            </a: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 工程化整合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仍是空白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19200" y="3248025"/>
            <a:ext cx="15849600" cy="1714500"/>
          </a:xfrm>
          <a:prstGeom prst="rect">
            <a:avLst/>
          </a:prstGeom>
          <a:ln w="9525">
            <a:solidFill>
              <a:srgbClr val="14141C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8725" y="3257550"/>
            <a:ext cx="3957638" cy="1695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5176838" y="3257550"/>
            <a:ext cx="9525" cy="169545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1495425" y="3340735"/>
            <a:ext cx="3517154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语言能力基础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17625" y="3702685"/>
            <a:ext cx="3721100" cy="1222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Transformer、BERT </a:t>
            </a:r>
            <a:r>
              <a:rPr lang="zh-CN" alt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应用于</a:t>
            </a:r>
            <a:r>
              <a:rPr 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自然语言理解与生成在工程</a:t>
            </a:r>
            <a:r>
              <a:rPr lang="zh-CN" alt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86363" y="3257550"/>
            <a:ext cx="3957638" cy="1695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9134475" y="3257550"/>
            <a:ext cx="9525" cy="169545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5453063" y="3340735"/>
            <a:ext cx="3517154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检索增强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65115" y="3702685"/>
            <a:ext cx="3605530" cy="12706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RAG、DPR 让回答可查、可更新、有依据。</a:t>
            </a:r>
            <a:endParaRPr lang="en-US" sz="2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44000" y="3257550"/>
            <a:ext cx="3957638" cy="1695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13092113" y="3257550"/>
            <a:ext cx="9525" cy="169545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9410700" y="3340735"/>
            <a:ext cx="3517154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任务型对话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338310" y="3702685"/>
            <a:ext cx="3589655" cy="12630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ReAct、任务型对话综述 强调“识别 + 行动”闭环。</a:t>
            </a:r>
            <a:endParaRPr lang="en-US" sz="2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3101638" y="3257550"/>
            <a:ext cx="3957638" cy="16954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13368338" y="3340735"/>
            <a:ext cx="3526965" cy="323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工业数字助手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275945" y="3702685"/>
            <a:ext cx="3691890" cy="11169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助手价值在知识支持与流程协调。</a:t>
            </a:r>
            <a:endParaRPr lang="en-US" sz="2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219200" y="5991225"/>
            <a:ext cx="7696200" cy="269811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1228725" y="8594725"/>
            <a:ext cx="76962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1167765" y="5981065"/>
            <a:ext cx="76962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9" name="Shape 27"/>
          <p:cNvSpPr/>
          <p:nvPr/>
        </p:nvSpPr>
        <p:spPr>
          <a:xfrm flipH="1">
            <a:off x="1167765" y="5991225"/>
            <a:ext cx="76200" cy="2697480"/>
          </a:xfrm>
          <a:prstGeom prst="rect">
            <a:avLst/>
          </a:prstGeom>
          <a:solidFill>
            <a:srgbClr val="2B3A8A"/>
          </a:solidFill>
        </p:spPr>
      </p:sp>
      <p:sp>
        <p:nvSpPr>
          <p:cNvPr id="30" name="Shape 28"/>
          <p:cNvSpPr/>
          <p:nvPr/>
        </p:nvSpPr>
        <p:spPr>
          <a:xfrm>
            <a:off x="8905875" y="5991225"/>
            <a:ext cx="9525" cy="22479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1600200" y="6305550"/>
            <a:ext cx="7171658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21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 研究空白</a:t>
            </a:r>
            <a:endParaRPr lang="en-US" sz="2400" kern="0" spc="216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600200" y="6640830"/>
            <a:ext cx="7171690" cy="1876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indent="609600" algn="l" fontAlgn="auto">
              <a:lnSpc>
                <a:spcPct val="160000"/>
              </a:lnSpc>
              <a:buNone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面向具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体检测软件、同时覆盖 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知识问答</a:t>
            </a:r>
            <a:r>
              <a:rPr lang="zh-CN" alt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自然语言操作</a:t>
            </a:r>
            <a:r>
              <a:rPr lang="zh-CN" alt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状态查询</a:t>
            </a:r>
            <a:r>
              <a:rPr lang="zh-CN" alt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结果解释</a:t>
            </a:r>
            <a:r>
              <a:rPr lang="zh-CN" alt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操作指导 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的工程化原型，仍然较少。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215120" y="6078220"/>
            <a:ext cx="8148955" cy="26111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indent="609600" algn="l" fontAlgn="auto">
              <a:lnSpc>
                <a:spcPct val="165000"/>
              </a:lnSpc>
              <a:buNone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DAC-3D 场景同时具备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专业文档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结构化结果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运行状态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三类信息源，</a:t>
            </a:r>
            <a:r>
              <a:rPr lang="zh-CN" alt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主系统</a:t>
            </a:r>
            <a:r>
              <a:rPr lang="zh-CN" alt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上布局知识库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助手——这要求助手既有知识约束，也能处理结构化任务，还有软件可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集成性。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01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35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 研究背景与意义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590675"/>
            <a:ext cx="16325088" cy="146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不是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通用聊天机器人</a:t>
            </a: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，而是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Agent化受约束</a:t>
            </a: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的任务型助手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3057525"/>
            <a:ext cx="13735050" cy="639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接受三重约束——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知识来源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结构化规则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检测业务流程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——服务以下五类任务。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394335" y="4540250"/>
            <a:ext cx="17499165" cy="2208530"/>
            <a:chOff x="1920" y="6150"/>
            <a:chExt cx="24960" cy="3150"/>
          </a:xfrm>
        </p:grpSpPr>
        <p:sp>
          <p:nvSpPr>
            <p:cNvPr id="7" name="Shape 5"/>
            <p:cNvSpPr/>
            <p:nvPr/>
          </p:nvSpPr>
          <p:spPr>
            <a:xfrm>
              <a:off x="1920" y="6150"/>
              <a:ext cx="4776" cy="3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2395" y="6350"/>
              <a:ext cx="3966" cy="66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参数问答</a:t>
              </a:r>
              <a:endPara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385" y="7066"/>
              <a:ext cx="3966" cy="1858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5000"/>
                </a:lnSpc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· </a:t>
              </a: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参数含义 </a:t>
              </a:r>
              <a:endPara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l">
                <a:lnSpc>
                  <a:spcPct val="155000"/>
                </a:lnSpc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流程说明 </a:t>
              </a:r>
              <a:endPara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l">
                <a:lnSpc>
                  <a:spcPct val="155000"/>
                </a:lnSpc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故障与手册理解</a:t>
              </a:r>
              <a:endPara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966" y="6150"/>
              <a:ext cx="4776" cy="3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7431" y="6350"/>
              <a:ext cx="3966" cy="66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24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操作预览</a:t>
              </a:r>
              <a:endPara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430" y="7067"/>
              <a:ext cx="3966" cy="1857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自然语言 → 结构化扫描命令 + 缺失项提示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12012" y="6150"/>
              <a:ext cx="4776" cy="3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2417" y="6350"/>
              <a:ext cx="3966" cy="66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24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结果解读</a:t>
              </a:r>
              <a:endPara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2477" y="7067"/>
              <a:ext cx="3966" cy="1858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· </a:t>
              </a: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严重度判定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依据展示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后续建议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17058" y="6150"/>
              <a:ext cx="4776" cy="3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17523" y="6350"/>
              <a:ext cx="3966" cy="66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24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状态查询</a:t>
              </a:r>
              <a:endPara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7523" y="7067"/>
              <a:ext cx="3966" cy="1858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· </a:t>
              </a: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运行时摘要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最近结果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当前阶段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22104" y="6150"/>
              <a:ext cx="4776" cy="3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22569" y="6350"/>
              <a:ext cx="3966" cy="66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运维管理</a:t>
              </a:r>
              <a:endParaRPr lang="en-US" sz="21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22569" y="7067"/>
              <a:ext cx="3966" cy="1858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· </a:t>
              </a: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文档上传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知识库重建 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algn="l">
                <a:lnSpc>
                  <a:spcPct val="155000"/>
                </a:lnSpc>
                <a:buClrTx/>
                <a:buSzTx/>
                <a:buFontTx/>
                <a:buNone/>
              </a:pPr>
              <a:r>
                <a:rPr lang="en-US" sz="1800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· 摘要追踪</a:t>
              </a:r>
              <a:endParaRPr lang="en-US" sz="18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4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02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35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 需求分析与目标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52717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需求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分类与映射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2343150"/>
            <a:ext cx="1373505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每一类任务对应明确的输入、目标输出与系统模块。</a:t>
            </a:r>
            <a:r>
              <a:rPr lang="zh-CN" alt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</a:t>
            </a:r>
            <a:r>
              <a:rPr lang="zh-CN" alt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所示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是后续设计与测试的依据。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19200" y="3724275"/>
            <a:ext cx="2852886" cy="1905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8" name="Text 6"/>
          <p:cNvSpPr/>
          <p:nvPr/>
        </p:nvSpPr>
        <p:spPr>
          <a:xfrm>
            <a:off x="1409700" y="3324225"/>
            <a:ext cx="2557780" cy="3568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400" b="1" kern="0" spc="54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功能需求</a:t>
            </a:r>
            <a:endParaRPr lang="en-US" sz="2400" b="1" kern="0" spc="54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72086" y="3724275"/>
            <a:ext cx="4754910" cy="1905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10" name="Text 8"/>
          <p:cNvSpPr/>
          <p:nvPr/>
        </p:nvSpPr>
        <p:spPr>
          <a:xfrm>
            <a:off x="4693920" y="3324225"/>
            <a:ext cx="1418590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54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输入形式</a:t>
            </a:r>
            <a:endParaRPr lang="en-US" sz="2400" b="1" kern="0" spc="54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826996" y="3724275"/>
            <a:ext cx="4437757" cy="1905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12" name="Text 10"/>
          <p:cNvSpPr/>
          <p:nvPr/>
        </p:nvSpPr>
        <p:spPr>
          <a:xfrm>
            <a:off x="8413115" y="3324225"/>
            <a:ext cx="1461135" cy="3568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5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输出结果</a:t>
            </a:r>
            <a:endParaRPr lang="en-US" sz="2400" b="1" kern="0" spc="54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264753" y="3724275"/>
            <a:ext cx="3804047" cy="1905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14" name="Text 12"/>
          <p:cNvSpPr/>
          <p:nvPr/>
        </p:nvSpPr>
        <p:spPr>
          <a:xfrm>
            <a:off x="13455253" y="3324225"/>
            <a:ext cx="3537168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5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约束说明</a:t>
            </a:r>
            <a:endParaRPr lang="en-US" sz="2400" b="1" kern="0" spc="54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19200" y="4900613"/>
            <a:ext cx="2852886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grpSp>
        <p:nvGrpSpPr>
          <p:cNvPr id="72" name="组合 71"/>
          <p:cNvGrpSpPr/>
          <p:nvPr/>
        </p:nvGrpSpPr>
        <p:grpSpPr>
          <a:xfrm>
            <a:off x="1276985" y="4049395"/>
            <a:ext cx="1649730" cy="503555"/>
            <a:chOff x="2011" y="6377"/>
            <a:chExt cx="2598" cy="793"/>
          </a:xfrm>
        </p:grpSpPr>
        <p:sp>
          <p:nvSpPr>
            <p:cNvPr id="16" name="Shape 14"/>
            <p:cNvSpPr/>
            <p:nvPr/>
          </p:nvSpPr>
          <p:spPr>
            <a:xfrm>
              <a:off x="2011" y="6377"/>
              <a:ext cx="2593" cy="778"/>
            </a:xfrm>
            <a:prstGeom prst="rect">
              <a:avLst/>
            </a:prstGeom>
            <a:ln w="9525">
              <a:solidFill>
                <a:srgbClr val="14141C">
                  <a:alpha val="22000"/>
                </a:srgbClr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2032" y="6457"/>
              <a:ext cx="2577" cy="713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参数问答</a:t>
              </a:r>
              <a:endParaRPr 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</p:grpSp>
      <p:sp>
        <p:nvSpPr>
          <p:cNvPr id="19" name="Shape 17"/>
          <p:cNvSpPr/>
          <p:nvPr/>
        </p:nvSpPr>
        <p:spPr>
          <a:xfrm>
            <a:off x="2874010" y="4860290"/>
            <a:ext cx="505777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4072255" y="4048125"/>
            <a:ext cx="2656205" cy="8528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参数名或自然语言问题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49210" y="4860290"/>
            <a:ext cx="472059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7648575" y="4049395"/>
            <a:ext cx="4199890" cy="5676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带来源依据的参数解释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126595" y="4860290"/>
            <a:ext cx="404685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12465685" y="4048125"/>
            <a:ext cx="3533140" cy="4597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优先依据知识库与来源元数据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219200" y="6062663"/>
            <a:ext cx="2852886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2874010" y="6022340"/>
            <a:ext cx="505777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4072255" y="5152390"/>
            <a:ext cx="2707005" cy="774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任意用户消息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649210" y="6022340"/>
            <a:ext cx="472059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7649210" y="5266055"/>
            <a:ext cx="4199255" cy="539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任务类型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工具选择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上下文摘要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2126595" y="6022340"/>
            <a:ext cx="404685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12462510" y="5266055"/>
            <a:ext cx="4032250" cy="3473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不把全部请求放入同一条自由问答链路</a:t>
            </a:r>
            <a:endParaRPr lang="en-US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19200" y="7224713"/>
            <a:ext cx="2852886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2874010" y="7184390"/>
            <a:ext cx="505777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4190365" y="6377305"/>
            <a:ext cx="2588895" cy="847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扫描 / 离线检测 / 停止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49210" y="7184390"/>
            <a:ext cx="472059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7688580" y="6348730"/>
            <a:ext cx="4159885" cy="5568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结构化命令 + 缺失项 + 风险 + 确认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2126595" y="7184390"/>
            <a:ext cx="404685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12476480" y="6418580"/>
            <a:ext cx="4272280" cy="3441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执行前必须进入 Tool Gateway 生命周期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19200" y="8386763"/>
            <a:ext cx="2852886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2874010" y="8346440"/>
            <a:ext cx="505777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4072255" y="7498715"/>
            <a:ext cx="2905125" cy="847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状态 / 进度 / 设备问题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649210" y="8346440"/>
            <a:ext cx="472059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7688580" y="7504430"/>
            <a:ext cx="3152140" cy="568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状态摘要 + 最近结果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2126595" y="8346440"/>
            <a:ext cx="404685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12462510" y="7504430"/>
            <a:ext cx="3025775" cy="361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只读工具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，不触发控制动作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219200" y="9548813"/>
            <a:ext cx="2852886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2874010" y="9508490"/>
            <a:ext cx="505777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60" name="Text 58"/>
          <p:cNvSpPr/>
          <p:nvPr/>
        </p:nvSpPr>
        <p:spPr>
          <a:xfrm>
            <a:off x="3919220" y="8724265"/>
            <a:ext cx="3481070" cy="784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跨轮指代 / 用户偏好 / 流程问题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649210" y="9508490"/>
            <a:ext cx="472059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62" name="Text 60"/>
          <p:cNvSpPr/>
          <p:nvPr/>
        </p:nvSpPr>
        <p:spPr>
          <a:xfrm>
            <a:off x="7688580" y="8724265"/>
            <a:ext cx="415925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记忆命中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技能说明 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待审核补丁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2126595" y="9508490"/>
            <a:ext cx="404685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64" name="Text 62"/>
          <p:cNvSpPr/>
          <p:nvPr/>
        </p:nvSpPr>
        <p:spPr>
          <a:xfrm>
            <a:off x="12476480" y="8724265"/>
            <a:ext cx="3696970" cy="3187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长期写入必须</a:t>
            </a: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可审核、可拒绝</a:t>
            </a:r>
            <a:endParaRPr lang="en-US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68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02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69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 需求分析与目标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grpSp>
        <p:nvGrpSpPr>
          <p:cNvPr id="73" name="组合 72"/>
          <p:cNvGrpSpPr/>
          <p:nvPr/>
        </p:nvGrpSpPr>
        <p:grpSpPr>
          <a:xfrm>
            <a:off x="1276985" y="8547735"/>
            <a:ext cx="1646555" cy="869950"/>
            <a:chOff x="2011" y="6377"/>
            <a:chExt cx="2593" cy="1370"/>
          </a:xfrm>
        </p:grpSpPr>
        <p:sp>
          <p:nvSpPr>
            <p:cNvPr id="74" name="Shape 14"/>
            <p:cNvSpPr/>
            <p:nvPr/>
          </p:nvSpPr>
          <p:spPr>
            <a:xfrm>
              <a:off x="2011" y="6377"/>
              <a:ext cx="2593" cy="1370"/>
            </a:xfrm>
            <a:prstGeom prst="rect">
              <a:avLst/>
            </a:prstGeom>
            <a:ln w="9525">
              <a:solidFill>
                <a:srgbClr val="14141C">
                  <a:alpha val="22000"/>
                </a:srgbClr>
              </a:solidFill>
              <a:prstDash val="solid"/>
            </a:ln>
          </p:spPr>
        </p:sp>
        <p:sp>
          <p:nvSpPr>
            <p:cNvPr id="75" name="Text 16"/>
            <p:cNvSpPr/>
            <p:nvPr/>
          </p:nvSpPr>
          <p:spPr>
            <a:xfrm>
              <a:off x="2033" y="6457"/>
              <a:ext cx="2538" cy="129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Autofit/>
            </a:bodyPr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记忆与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技能辅助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276985" y="6203315"/>
            <a:ext cx="1646555" cy="881221"/>
            <a:chOff x="2011" y="6377"/>
            <a:chExt cx="2593" cy="793"/>
          </a:xfrm>
        </p:grpSpPr>
        <p:sp>
          <p:nvSpPr>
            <p:cNvPr id="83" name="Shape 14"/>
            <p:cNvSpPr/>
            <p:nvPr/>
          </p:nvSpPr>
          <p:spPr>
            <a:xfrm>
              <a:off x="2011" y="6377"/>
              <a:ext cx="2593" cy="778"/>
            </a:xfrm>
            <a:prstGeom prst="rect">
              <a:avLst/>
            </a:prstGeom>
            <a:ln w="9525">
              <a:solidFill>
                <a:srgbClr val="14141C">
                  <a:alpha val="22000"/>
                </a:srgbClr>
              </a:solidFill>
              <a:prstDash val="solid"/>
            </a:ln>
          </p:spPr>
        </p:sp>
        <p:sp>
          <p:nvSpPr>
            <p:cNvPr id="84" name="Text 16"/>
            <p:cNvSpPr/>
            <p:nvPr/>
          </p:nvSpPr>
          <p:spPr>
            <a:xfrm>
              <a:off x="2033" y="6487"/>
              <a:ext cx="2538" cy="683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Autofit/>
            </a:bodyPr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自然语言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操作预览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</p:grpSp>
      <p:sp>
        <p:nvSpPr>
          <p:cNvPr id="86" name="Shape 14"/>
          <p:cNvSpPr/>
          <p:nvPr/>
        </p:nvSpPr>
        <p:spPr>
          <a:xfrm>
            <a:off x="1276985" y="7409180"/>
            <a:ext cx="1646555" cy="823595"/>
          </a:xfrm>
          <a:prstGeom prst="rect">
            <a:avLst/>
          </a:prstGeom>
          <a:ln w="9525">
            <a:solidFill>
              <a:srgbClr val="14141C">
                <a:alpha val="22000"/>
              </a:srgbClr>
            </a:solidFill>
            <a:prstDash val="solid"/>
          </a:ln>
        </p:spPr>
      </p:sp>
      <p:sp>
        <p:nvSpPr>
          <p:cNvPr id="87" name="Text 16"/>
          <p:cNvSpPr/>
          <p:nvPr/>
        </p:nvSpPr>
        <p:spPr>
          <a:xfrm>
            <a:off x="1298575" y="7498715"/>
            <a:ext cx="1642110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ctr">
              <a:buNone/>
            </a:pPr>
            <a:r>
              <a: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运行状态</a:t>
            </a:r>
            <a:endParaRPr lang="zh-CN" altLang="en-US" sz="20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  <a:p>
            <a:pPr marL="0" indent="0" algn="ctr">
              <a:buNone/>
            </a:pPr>
            <a:r>
              <a: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查询</a:t>
            </a:r>
            <a:endParaRPr lang="zh-CN" altLang="en-US" sz="20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1276985" y="5041265"/>
            <a:ext cx="1646555" cy="995680"/>
            <a:chOff x="2011" y="6377"/>
            <a:chExt cx="2593" cy="1568"/>
          </a:xfrm>
        </p:grpSpPr>
        <p:sp>
          <p:nvSpPr>
            <p:cNvPr id="89" name="Shape 14"/>
            <p:cNvSpPr/>
            <p:nvPr/>
          </p:nvSpPr>
          <p:spPr>
            <a:xfrm>
              <a:off x="2011" y="6377"/>
              <a:ext cx="2593" cy="1394"/>
            </a:xfrm>
            <a:prstGeom prst="rect">
              <a:avLst/>
            </a:prstGeom>
            <a:ln w="9525">
              <a:solidFill>
                <a:srgbClr val="14141C">
                  <a:alpha val="22000"/>
                </a:srgbClr>
              </a:solidFill>
              <a:prstDash val="solid"/>
            </a:ln>
          </p:spPr>
        </p:sp>
        <p:sp>
          <p:nvSpPr>
            <p:cNvPr id="90" name="Text 16"/>
            <p:cNvSpPr/>
            <p:nvPr/>
          </p:nvSpPr>
          <p:spPr>
            <a:xfrm>
              <a:off x="2011" y="6552"/>
              <a:ext cx="2593" cy="1393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Autofit/>
            </a:bodyPr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Agent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ctr">
                <a:buNone/>
              </a:pPr>
              <a:r>
                <a:rPr lang="zh-CN" altLang="en-US" sz="2000" b="1" dirty="0">
                  <a:solidFill>
                    <a:srgbClr val="C0392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任务分派</a:t>
              </a:r>
              <a:endParaRPr lang="zh-CN" altLang="en-US" sz="20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200" name="文本框 199"/>
          <p:cNvSpPr txBox="1"/>
          <p:nvPr/>
        </p:nvSpPr>
        <p:spPr>
          <a:xfrm>
            <a:off x="3967480" y="6418580"/>
            <a:ext cx="3327400" cy="487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59067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系统总体架构 -- </a:t>
            </a:r>
            <a:r>
              <a:rPr lang="zh-CN" alt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层结构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2343150"/>
            <a:ext cx="1373505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algn="l">
              <a:lnSpc>
                <a:spcPct val="155000"/>
              </a:lnSpc>
              <a:buClrTx/>
              <a:buSzTx/>
              <a:buFontTx/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中间两层</a:t>
            </a:r>
            <a:r>
              <a:rPr 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Agent编排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与</a:t>
            </a:r>
            <a:r>
              <a:rPr 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工具与安全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是本设计相对一般 RAG 系统的关键扩展。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36980" y="3114675"/>
            <a:ext cx="15831820" cy="6835775"/>
          </a:xfrm>
          <a:prstGeom prst="rect">
            <a:avLst/>
          </a:prstGeom>
          <a:ln w="9525">
            <a:solidFill>
              <a:srgbClr val="14141C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8725" y="3124200"/>
            <a:ext cx="15830550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Shape 7"/>
          <p:cNvSpPr/>
          <p:nvPr/>
        </p:nvSpPr>
        <p:spPr>
          <a:xfrm>
            <a:off x="1228725" y="4257675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228725" y="3124200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11" name="Shape 9"/>
          <p:cNvSpPr/>
          <p:nvPr/>
        </p:nvSpPr>
        <p:spPr>
          <a:xfrm>
            <a:off x="4267200" y="3124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1581785" y="3296920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06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81785" y="3544570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交互展示层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658475" y="3124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4562475" y="3238500"/>
            <a:ext cx="6001988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网页端对话主入口、来源依据、结构化命令预览、状态摘要展示，并保留 Gradio 兼容界面。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53750" y="3352800"/>
            <a:ext cx="6011513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frontend/ ui/web_api.py · ui/chat_widget.py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28725" y="4267200"/>
            <a:ext cx="15830550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1228725" y="6534150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1228725" y="4267200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20" name="Shape 18"/>
          <p:cNvSpPr/>
          <p:nvPr/>
        </p:nvSpPr>
        <p:spPr>
          <a:xfrm>
            <a:off x="4267200" y="4267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1581785" y="4439920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05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81785" y="4687570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DAC-3D 集成层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658475" y="4267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562475" y="4380865"/>
            <a:ext cx="6001988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统一封装运行时访问与结果解析，隔离设备通信细节。同时支持 mock runtime 与状态文件桥接。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953750" y="4495800"/>
            <a:ext cx="6011513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integration/dac3d_client.py integration/result_parser.py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228725" y="6543675"/>
            <a:ext cx="15830550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1228725" y="7677150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1228725" y="6543675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29" name="Shape 27"/>
          <p:cNvSpPr/>
          <p:nvPr/>
        </p:nvSpPr>
        <p:spPr>
          <a:xfrm>
            <a:off x="4267200" y="6543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1581785" y="6716395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03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581785" y="6964045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Times New Roman" panose="02020603050405020304" charset="0"/>
                <a:ea typeface="PingFang SC" pitchFamily="34" charset="-122"/>
                <a:cs typeface="Times New Roman" panose="02020603050405020304" charset="0"/>
                <a:sym typeface="+mn-ea"/>
              </a:rPr>
              <a:t>Agent </a:t>
            </a:r>
            <a:r>
              <a:rPr lang="en-US" sz="24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编排层</a:t>
            </a:r>
            <a:endParaRPr lang="en-US" sz="2400" dirty="0"/>
          </a:p>
          <a:p>
            <a:pPr marL="0" indent="0" algn="l">
              <a:buNone/>
            </a:pP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658475" y="6543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4562475" y="6678295"/>
            <a:ext cx="6001988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统一Agent入口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会话状态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任务分派（问答/状态/结果/控制/记忆/技能/安全）。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953750" y="6772275"/>
            <a:ext cx="6011513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5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JetBrains Mono" pitchFamily="34" charset="-122"/>
                <a:cs typeface="Times New Roman" panose="02020603050405020304" charset="0"/>
                <a:sym typeface="+mn-ea"/>
              </a:rPr>
              <a:t>agent_runtime.py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28725" y="7686675"/>
            <a:ext cx="15830550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Shape 34"/>
          <p:cNvSpPr/>
          <p:nvPr/>
        </p:nvSpPr>
        <p:spPr>
          <a:xfrm>
            <a:off x="1228725" y="8820150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1228725" y="7686675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38" name="Shape 36"/>
          <p:cNvSpPr/>
          <p:nvPr/>
        </p:nvSpPr>
        <p:spPr>
          <a:xfrm>
            <a:off x="4267200" y="7686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1581785" y="7859395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02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581785" y="8107045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知识与上下文层</a:t>
            </a:r>
            <a:endParaRPr lang="en-US" sz="2400" dirty="0"/>
          </a:p>
          <a:p>
            <a:pPr marL="0" indent="0" algn="l">
              <a:buNone/>
            </a:pP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0658475" y="7686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4562475" y="7820660"/>
            <a:ext cx="6001988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本地知识库构建、混合检索（稠密 + 词项）、任务相关提示词组织、LLM 适配。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0918825" y="7715250"/>
            <a:ext cx="6011545" cy="9251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knowledge_base/build_kb.py rag/retriever.py · prompts.py · llm_client.py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228725" y="8829675"/>
            <a:ext cx="15830550" cy="11334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Shape 43"/>
          <p:cNvSpPr/>
          <p:nvPr/>
        </p:nvSpPr>
        <p:spPr>
          <a:xfrm>
            <a:off x="1228725" y="8829675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46" name="Shape 44"/>
          <p:cNvSpPr/>
          <p:nvPr/>
        </p:nvSpPr>
        <p:spPr>
          <a:xfrm>
            <a:off x="4267200" y="8829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1581785" y="9002395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01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581785" y="9250045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配置与入口层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0658475" y="8829675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4562475" y="8978900"/>
            <a:ext cx="6002020" cy="755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配置装配、依赖注入、请求路由；统一管理 provider、向量库、文档路径、运行时开关。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953750" y="9058275"/>
            <a:ext cx="6011513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app.py · config.py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9" name="Text 0"/>
          <p:cNvSpPr/>
          <p:nvPr/>
        </p:nvSpPr>
        <p:spPr>
          <a:xfrm>
            <a:off x="1245870" y="872490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80" name="Text 1"/>
          <p:cNvSpPr/>
          <p:nvPr/>
        </p:nvSpPr>
        <p:spPr>
          <a:xfrm>
            <a:off x="1694815" y="876300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  <a:sym typeface="+mn-ea"/>
            </a:endParaRPr>
          </a:p>
        </p:txBody>
      </p:sp>
      <p:pic>
        <p:nvPicPr>
          <p:cNvPr id="8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533400"/>
            <a:ext cx="533400" cy="342900"/>
          </a:xfrm>
          <a:prstGeom prst="rect">
            <a:avLst/>
          </a:prstGeom>
        </p:spPr>
      </p:pic>
      <p:sp>
        <p:nvSpPr>
          <p:cNvPr id="82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" name="Shape 34"/>
          <p:cNvSpPr/>
          <p:nvPr/>
        </p:nvSpPr>
        <p:spPr>
          <a:xfrm>
            <a:off x="1228725" y="5400675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3" name="Shape 42"/>
          <p:cNvSpPr/>
          <p:nvPr/>
        </p:nvSpPr>
        <p:spPr>
          <a:xfrm>
            <a:off x="1228725" y="5410200"/>
            <a:ext cx="15830550" cy="11334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43"/>
          <p:cNvSpPr/>
          <p:nvPr/>
        </p:nvSpPr>
        <p:spPr>
          <a:xfrm>
            <a:off x="1228725" y="5410200"/>
            <a:ext cx="3048000" cy="1133475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56" name="Shape 44"/>
          <p:cNvSpPr/>
          <p:nvPr/>
        </p:nvSpPr>
        <p:spPr>
          <a:xfrm>
            <a:off x="4267200" y="5410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7" name="Text 45"/>
          <p:cNvSpPr/>
          <p:nvPr/>
        </p:nvSpPr>
        <p:spPr>
          <a:xfrm>
            <a:off x="1581785" y="5582920"/>
            <a:ext cx="2543175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1400" b="1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LAYER 04</a:t>
            </a:r>
            <a:endParaRPr lang="en-US" sz="1400" b="1" kern="0" spc="168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8" name="Text 46"/>
          <p:cNvSpPr/>
          <p:nvPr/>
        </p:nvSpPr>
        <p:spPr>
          <a:xfrm>
            <a:off x="1581785" y="5830570"/>
            <a:ext cx="254317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4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工具与安全层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62" name="Shape 35"/>
          <p:cNvSpPr/>
          <p:nvPr/>
        </p:nvSpPr>
        <p:spPr>
          <a:xfrm>
            <a:off x="1246505" y="6543675"/>
            <a:ext cx="3030220" cy="1132840"/>
          </a:xfrm>
          <a:prstGeom prst="rect">
            <a:avLst/>
          </a:prstGeom>
          <a:solidFill>
            <a:srgbClr val="C0392B">
              <a:alpha val="8000"/>
            </a:srgbClr>
          </a:solidFill>
        </p:spPr>
      </p:sp>
      <p:sp>
        <p:nvSpPr>
          <p:cNvPr id="59" name="Shape 47"/>
          <p:cNvSpPr/>
          <p:nvPr/>
        </p:nvSpPr>
        <p:spPr>
          <a:xfrm>
            <a:off x="10658475" y="5410200"/>
            <a:ext cx="9525" cy="113347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60" name="Text 48"/>
          <p:cNvSpPr/>
          <p:nvPr/>
        </p:nvSpPr>
        <p:spPr>
          <a:xfrm>
            <a:off x="4562475" y="5559425"/>
            <a:ext cx="6002020" cy="755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配置装配、依赖注入、请求路由；统一管理 provider、向量库、文档路径、运行时开关。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Text 49"/>
          <p:cNvSpPr/>
          <p:nvPr/>
        </p:nvSpPr>
        <p:spPr>
          <a:xfrm>
            <a:off x="10953750" y="5638800"/>
            <a:ext cx="6011513" cy="714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lnSpc>
                <a:spcPct val="185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Times New Roman" panose="02020603050405020304" charset="0"/>
                <a:ea typeface="JetBrains Mono" pitchFamily="34" charset="-122"/>
                <a:cs typeface="Times New Roman" panose="02020603050405020304" charset="0"/>
                <a:sym typeface="+mn-ea"/>
              </a:rPr>
              <a:t>tool_gateway/safety/policy.py  safety_guard.py</a:t>
            </a:r>
            <a:endParaRPr lang="en-US" sz="1600" dirty="0">
              <a:solidFill>
                <a:srgbClr val="6B6B7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2" name="Shape 26"/>
          <p:cNvSpPr/>
          <p:nvPr/>
        </p:nvSpPr>
        <p:spPr>
          <a:xfrm>
            <a:off x="1228725" y="5400675"/>
            <a:ext cx="3048000" cy="1142365"/>
          </a:xfrm>
          <a:prstGeom prst="rect">
            <a:avLst/>
          </a:prstGeom>
          <a:solidFill>
            <a:srgbClr val="C0392B">
              <a:alpha val="8000"/>
            </a:srgbClr>
          </a:solidFill>
        </p:spPr>
      </p:sp>
      <p:sp>
        <p:nvSpPr>
          <p:cNvPr id="63" name="Shape 25"/>
          <p:cNvSpPr/>
          <p:nvPr/>
        </p:nvSpPr>
        <p:spPr>
          <a:xfrm>
            <a:off x="4267200" y="6524625"/>
            <a:ext cx="1583055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3" name="Shape 27"/>
          <p:cNvSpPr/>
          <p:nvPr/>
        </p:nvSpPr>
        <p:spPr>
          <a:xfrm>
            <a:off x="4200525" y="5400675"/>
            <a:ext cx="76200" cy="1142365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64" name="Shape 36"/>
          <p:cNvSpPr/>
          <p:nvPr/>
        </p:nvSpPr>
        <p:spPr>
          <a:xfrm>
            <a:off x="4200525" y="6543675"/>
            <a:ext cx="76200" cy="1132840"/>
          </a:xfrm>
          <a:prstGeom prst="rect">
            <a:avLst/>
          </a:prstGeom>
          <a:solidFill>
            <a:srgbClr val="C0392B"/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47383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知识库与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检索增强问答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2108835"/>
            <a:ext cx="1298575" cy="8172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3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问题：</a:t>
            </a:r>
            <a:endParaRPr lang="en-US" sz="32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" y="2879725"/>
            <a:ext cx="8873490" cy="790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专业场景下，若模型仅靠参数化记忆，回答易出现事实漂移、依据不清、难以更新。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19200" y="3807460"/>
            <a:ext cx="1573530" cy="8382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algn="l">
              <a:lnSpc>
                <a:spcPct val="165000"/>
              </a:lnSpc>
              <a:buClrTx/>
              <a:buSzTx/>
              <a:buFontTx/>
              <a:buNone/>
            </a:pPr>
            <a:r>
              <a:rPr lang="en-US" sz="3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做法：</a:t>
            </a:r>
            <a:endParaRPr lang="en-US" sz="32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20470" y="4535170"/>
            <a:ext cx="5113020" cy="6191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algn="l">
              <a:lnSpc>
                <a:spcPct val="165000"/>
              </a:lnSpc>
              <a:buClrTx/>
              <a:buSzTx/>
              <a:buFontTx/>
              <a:buNone/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每一次回答都建立在</a:t>
            </a:r>
            <a:r>
              <a:rPr lang="en-US" sz="2000" u="sng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当前检索到的资料</a:t>
            </a: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之上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57575" y="4552950"/>
            <a:ext cx="20574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60000"/>
          </a:bodyPr>
          <a:lstStyle/>
          <a:p>
            <a:pPr marL="0" indent="0" algn="l">
              <a:lnSpc>
                <a:spcPct val="165000"/>
              </a:lnSpc>
              <a:buNone/>
            </a:pPr>
            <a:endParaRPr lang="en-US" sz="1950" u="sng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28725" y="5200650"/>
            <a:ext cx="8521065" cy="2318385"/>
          </a:xfrm>
          <a:prstGeom prst="rect">
            <a:avLst/>
          </a:prstGeom>
          <a:ln w="9525">
            <a:solidFill>
              <a:srgbClr val="14141C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5210175"/>
            <a:ext cx="2758440" cy="22961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3993515" y="5210175"/>
            <a:ext cx="76200" cy="229616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1673225" y="5409565"/>
            <a:ext cx="1880870" cy="4699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加载 + 清洗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05585" y="6029325"/>
            <a:ext cx="2287270" cy="9906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Markdown / TXT / PDF / DOCX，内容探测优先、后缀兜底</a:t>
            </a:r>
            <a:endParaRPr lang="en-US" sz="16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065270" y="5210175"/>
            <a:ext cx="2692400" cy="22961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6757670" y="5210175"/>
            <a:ext cx="76200" cy="229616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4996180" y="5454650"/>
            <a:ext cx="758190" cy="4946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algn="l">
              <a:lnSpc>
                <a:spcPct val="125000"/>
              </a:lnSpc>
              <a:buClrTx/>
              <a:buSzTx/>
              <a:buFontTx/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分块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68470" y="6086475"/>
            <a:ext cx="2356485" cy="9906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按标题与句子边界，保留 source</a:t>
            </a:r>
            <a:r>
              <a:rPr lang="zh-CN" alt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section</a:t>
            </a:r>
            <a:r>
              <a:rPr lang="zh-CN" alt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type 元信息</a:t>
            </a:r>
            <a:endParaRPr lang="en-US" sz="16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37680" y="5208270"/>
            <a:ext cx="2910205" cy="230060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7734935" y="5454650"/>
            <a:ext cx="1115695" cy="4946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向量化</a:t>
            </a:r>
            <a:endParaRPr lang="en-US" sz="24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33895" y="6086475"/>
            <a:ext cx="2365375" cy="67500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Chroma 持久化；支持上传与重建</a:t>
            </a:r>
            <a:endParaRPr lang="en-US" sz="16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90600" y="8403590"/>
            <a:ext cx="9531350" cy="96202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952500" y="8406765"/>
            <a:ext cx="76200" cy="957580"/>
          </a:xfrm>
          <a:prstGeom prst="rect">
            <a:avLst/>
          </a:prstGeom>
          <a:solidFill>
            <a:srgbClr val="2B3A8A"/>
          </a:solidFill>
        </p:spPr>
      </p:sp>
      <p:sp>
        <p:nvSpPr>
          <p:cNvPr id="33" name="Text 31"/>
          <p:cNvSpPr/>
          <p:nvPr/>
        </p:nvSpPr>
        <p:spPr>
          <a:xfrm>
            <a:off x="1144270" y="8594090"/>
            <a:ext cx="14143990" cy="7620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000" b="1" dirty="0">
                <a:solidFill>
                  <a:srgbClr val="2B3A8A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关键工程价值 ·</a:t>
            </a:r>
            <a:r>
              <a:rPr lang="en-US" sz="2000" dirty="0">
                <a:solidFill>
                  <a:srgbClr val="2C2C3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前端展示来源 → 用户可</a:t>
            </a:r>
            <a:r>
              <a:rPr lang="en-US" sz="2000" u="sng" dirty="0">
                <a:solidFill>
                  <a:srgbClr val="2C2C3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核对依据 </a:t>
            </a:r>
            <a:r>
              <a:rPr lang="en-US" sz="2000" dirty="0">
                <a:solidFill>
                  <a:srgbClr val="2C2C3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； 资料更新 → </a:t>
            </a:r>
            <a:r>
              <a:rPr lang="en-US" sz="2000" u="sng" dirty="0">
                <a:solidFill>
                  <a:srgbClr val="2C2C3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不需重新训练模型 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43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4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3280" y="1548130"/>
            <a:ext cx="6764655" cy="7886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41922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意图识别 + 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结构化命令生成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2343150"/>
            <a:ext cx="13735050" cy="504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面对操作请求，系统 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不替用户决定关键参数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7680" y="3684270"/>
            <a:ext cx="7928610" cy="3627120"/>
            <a:chOff x="1920" y="5355"/>
            <a:chExt cx="10964" cy="4289"/>
          </a:xfrm>
        </p:grpSpPr>
        <p:sp>
          <p:nvSpPr>
            <p:cNvPr id="8" name="Shape 6"/>
            <p:cNvSpPr/>
            <p:nvPr/>
          </p:nvSpPr>
          <p:spPr>
            <a:xfrm>
              <a:off x="1920" y="5355"/>
              <a:ext cx="10964" cy="8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4141C">
                  <a:alpha val="10000"/>
                </a:srgbClr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2265" y="5655"/>
              <a:ext cx="1200" cy="33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168" dirty="0">
                  <a:solidFill>
                    <a:srgbClr val="2B3A8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JetBrains Mono" pitchFamily="34" charset="-120"/>
                </a:rPr>
                <a:t>QUERY</a:t>
              </a:r>
              <a:endParaRPr lang="en-US" sz="1050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615" y="5580"/>
              <a:ext cx="2220" cy="48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参数问答</a:t>
              </a:r>
              <a:endParaRPr lang="en-US" sz="15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5985" y="5595"/>
              <a:ext cx="6750" cy="4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425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知识检索链路</a:t>
              </a:r>
              <a:endParaRPr lang="en-US" sz="142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1920" y="6225"/>
              <a:ext cx="10964" cy="855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1920" y="7065"/>
              <a:ext cx="10964" cy="1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14" name="Shape 12"/>
            <p:cNvSpPr/>
            <p:nvPr/>
          </p:nvSpPr>
          <p:spPr>
            <a:xfrm>
              <a:off x="1920" y="6225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15" name="Shape 13"/>
            <p:cNvSpPr/>
            <p:nvPr/>
          </p:nvSpPr>
          <p:spPr>
            <a:xfrm>
              <a:off x="12869" y="6225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16" name="Text 14"/>
            <p:cNvSpPr/>
            <p:nvPr/>
          </p:nvSpPr>
          <p:spPr>
            <a:xfrm>
              <a:off x="2265" y="6510"/>
              <a:ext cx="1200" cy="33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168" dirty="0">
                  <a:solidFill>
                    <a:srgbClr val="2B3A8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JetBrains Mono" pitchFamily="34" charset="-120"/>
                </a:rPr>
                <a:t>OPER.</a:t>
              </a:r>
              <a:endParaRPr lang="en-US" sz="1050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3615" y="6435"/>
              <a:ext cx="2220" cy="48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扫描操作</a:t>
              </a:r>
              <a:endParaRPr lang="en-US" sz="15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5985" y="6450"/>
              <a:ext cx="6750" cy="4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425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字段抽取 + 命令生成</a:t>
              </a:r>
              <a:endParaRPr lang="en-US" sz="142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1920" y="7080"/>
              <a:ext cx="10964" cy="855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20" name="Shape 18"/>
            <p:cNvSpPr/>
            <p:nvPr/>
          </p:nvSpPr>
          <p:spPr>
            <a:xfrm>
              <a:off x="1920" y="7920"/>
              <a:ext cx="10964" cy="1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21" name="Shape 19"/>
            <p:cNvSpPr/>
            <p:nvPr/>
          </p:nvSpPr>
          <p:spPr>
            <a:xfrm>
              <a:off x="1920" y="7080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22" name="Shape 20"/>
            <p:cNvSpPr/>
            <p:nvPr/>
          </p:nvSpPr>
          <p:spPr>
            <a:xfrm>
              <a:off x="12869" y="7080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23" name="Text 21"/>
            <p:cNvSpPr/>
            <p:nvPr/>
          </p:nvSpPr>
          <p:spPr>
            <a:xfrm>
              <a:off x="2265" y="7365"/>
              <a:ext cx="1200" cy="33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168" dirty="0">
                  <a:solidFill>
                    <a:srgbClr val="2B3A8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JetBrains Mono" pitchFamily="34" charset="-120"/>
                </a:rPr>
                <a:t>INTRP</a:t>
              </a:r>
              <a:endParaRPr lang="en-US" sz="1050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3615" y="7290"/>
              <a:ext cx="2220" cy="48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结果解读</a:t>
              </a:r>
              <a:endParaRPr lang="en-US" sz="15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985" y="7305"/>
              <a:ext cx="6750" cy="4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425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解析 + 解释链路</a:t>
              </a:r>
              <a:endParaRPr lang="en-US" sz="142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1920" y="7935"/>
              <a:ext cx="10964" cy="855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27" name="Shape 25"/>
            <p:cNvSpPr/>
            <p:nvPr/>
          </p:nvSpPr>
          <p:spPr>
            <a:xfrm>
              <a:off x="1920" y="8775"/>
              <a:ext cx="10964" cy="1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28" name="Shape 26"/>
            <p:cNvSpPr/>
            <p:nvPr/>
          </p:nvSpPr>
          <p:spPr>
            <a:xfrm>
              <a:off x="1920" y="7935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29" name="Shape 27"/>
            <p:cNvSpPr/>
            <p:nvPr/>
          </p:nvSpPr>
          <p:spPr>
            <a:xfrm>
              <a:off x="12869" y="7935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30" name="Text 28"/>
            <p:cNvSpPr/>
            <p:nvPr/>
          </p:nvSpPr>
          <p:spPr>
            <a:xfrm>
              <a:off x="2265" y="8220"/>
              <a:ext cx="1200" cy="33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168" dirty="0">
                  <a:solidFill>
                    <a:srgbClr val="2B3A8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JetBrains Mono" pitchFamily="34" charset="-120"/>
                </a:rPr>
                <a:t>GUIDE</a:t>
              </a:r>
              <a:endParaRPr lang="en-US" sz="1050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3615" y="8145"/>
              <a:ext cx="2220" cy="48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操作建议</a:t>
              </a:r>
              <a:endParaRPr lang="en-US" sz="15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5985" y="8160"/>
              <a:ext cx="6750" cy="4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425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故障与指导检索</a:t>
              </a:r>
              <a:endParaRPr lang="en-US" sz="142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920" y="8790"/>
              <a:ext cx="10964" cy="855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34" name="Shape 32"/>
            <p:cNvSpPr/>
            <p:nvPr/>
          </p:nvSpPr>
          <p:spPr>
            <a:xfrm>
              <a:off x="1920" y="9630"/>
              <a:ext cx="10964" cy="1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35" name="Shape 33"/>
            <p:cNvSpPr/>
            <p:nvPr/>
          </p:nvSpPr>
          <p:spPr>
            <a:xfrm>
              <a:off x="1920" y="8790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36" name="Shape 34"/>
            <p:cNvSpPr/>
            <p:nvPr/>
          </p:nvSpPr>
          <p:spPr>
            <a:xfrm>
              <a:off x="12869" y="8790"/>
              <a:ext cx="15" cy="855"/>
            </a:xfrm>
            <a:prstGeom prst="rect">
              <a:avLst/>
            </a:prstGeom>
            <a:solidFill>
              <a:srgbClr val="14141C">
                <a:alpha val="10000"/>
              </a:srgbClr>
            </a:solidFill>
          </p:spPr>
        </p:sp>
        <p:sp>
          <p:nvSpPr>
            <p:cNvPr id="37" name="Text 35"/>
            <p:cNvSpPr/>
            <p:nvPr/>
          </p:nvSpPr>
          <p:spPr>
            <a:xfrm>
              <a:off x="2265" y="9075"/>
              <a:ext cx="1200" cy="33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50" kern="0" spc="168" dirty="0">
                  <a:solidFill>
                    <a:srgbClr val="2B3A8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JetBrains Mono" pitchFamily="34" charset="-120"/>
                </a:rPr>
                <a:t>STAT.</a:t>
              </a:r>
              <a:endParaRPr lang="en-US" sz="1050" kern="0" spc="16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3615" y="9000"/>
              <a:ext cx="2220" cy="48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5151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PingFang SC" pitchFamily="34" charset="-120"/>
                </a:rPr>
                <a:t>运行状态</a:t>
              </a:r>
              <a:endParaRPr lang="en-US" sz="15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5985" y="9015"/>
              <a:ext cx="6750" cy="450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425" dirty="0">
                  <a:solidFill>
                    <a:srgbClr val="2C2C34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适配层 / 状态文件</a:t>
              </a:r>
              <a:endParaRPr lang="en-US" sz="142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48" name="Text 46"/>
          <p:cNvSpPr/>
          <p:nvPr/>
        </p:nvSpPr>
        <p:spPr>
          <a:xfrm>
            <a:off x="1219200" y="7834630"/>
            <a:ext cx="6563995" cy="12369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0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 关键参数缺失时返回 </a:t>
            </a:r>
            <a:r>
              <a:rPr lang="en-US" sz="2000" b="1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澄清提示 </a:t>
            </a:r>
            <a:r>
              <a:rPr lang="en-US" sz="20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，而非自动补全。</a:t>
            </a:r>
            <a:br>
              <a:rPr lang="en-US" sz="20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sz="20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→ 同时输出 YAML 预览（人读）与对象（程序处理）。</a:t>
            </a:r>
            <a:endParaRPr lang="en-US" sz="20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3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4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0335" y="1786255"/>
            <a:ext cx="7630160" cy="8260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53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4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Text 4"/>
          <p:cNvSpPr/>
          <p:nvPr/>
        </p:nvSpPr>
        <p:spPr>
          <a:xfrm>
            <a:off x="1219200" y="2167255"/>
            <a:ext cx="15815310" cy="8572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32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所有可能改变 DAC-3D 状态的操作，</a:t>
            </a:r>
            <a:r>
              <a:rPr lang="en-US" sz="3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都不能让 LLM 直接执行 </a:t>
            </a:r>
            <a:r>
              <a:rPr lang="en-US" sz="32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，必须依次经过六个网关任何一步失败，整条链路被拒绝。</a:t>
            </a:r>
            <a:endParaRPr lang="en-US" sz="32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1920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0" name="Text 6"/>
          <p:cNvSpPr/>
          <p:nvPr/>
        </p:nvSpPr>
        <p:spPr>
          <a:xfrm>
            <a:off x="1419225" y="516064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01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1" name="Text 7"/>
          <p:cNvSpPr/>
          <p:nvPr/>
        </p:nvSpPr>
        <p:spPr>
          <a:xfrm>
            <a:off x="1419225" y="5436235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工具注册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2" name="Text 8"/>
          <p:cNvSpPr/>
          <p:nvPr/>
        </p:nvSpPr>
        <p:spPr>
          <a:xfrm>
            <a:off x="1419225" y="5765165"/>
            <a:ext cx="2222500" cy="56261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ToolDescriptor + risk + annotations</a:t>
            </a:r>
            <a:endParaRPr lang="en-US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387985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4" name="Text 10"/>
          <p:cNvSpPr/>
          <p:nvPr/>
        </p:nvSpPr>
        <p:spPr>
          <a:xfrm>
            <a:off x="4079875" y="516064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02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4079875" y="5436235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Schema 校验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4079875" y="5821680"/>
            <a:ext cx="2222500" cy="30607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参数类型 / 取值范围 / 必填项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654050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9" name="Text 14"/>
          <p:cNvSpPr/>
          <p:nvPr/>
        </p:nvSpPr>
        <p:spPr>
          <a:xfrm>
            <a:off x="6740525" y="516064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03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6740525" y="5436235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PathPolicy</a:t>
            </a:r>
            <a:endParaRPr lang="en-US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6740525" y="5821680"/>
            <a:ext cx="2222500" cy="30607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路径白名单 / 越权阻断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920115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56" name="Text 18"/>
          <p:cNvSpPr/>
          <p:nvPr/>
        </p:nvSpPr>
        <p:spPr>
          <a:xfrm>
            <a:off x="9401175" y="515429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04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9401175" y="5433060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风险分类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9401175" y="5765165"/>
            <a:ext cx="2222500" cy="56261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low / medium / high → 是否需确认</a:t>
            </a:r>
            <a:endParaRPr lang="en-US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Shape 21"/>
          <p:cNvSpPr/>
          <p:nvPr/>
        </p:nvSpPr>
        <p:spPr>
          <a:xfrm>
            <a:off x="1186180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60" name="Text 22"/>
          <p:cNvSpPr/>
          <p:nvPr/>
        </p:nvSpPr>
        <p:spPr>
          <a:xfrm>
            <a:off x="12061825" y="515429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05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61" name="Text 23"/>
          <p:cNvSpPr/>
          <p:nvPr/>
        </p:nvSpPr>
        <p:spPr>
          <a:xfrm>
            <a:off x="12061825" y="5433060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Confirm Token</a:t>
            </a:r>
            <a:endParaRPr lang="en-US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62" name="Text 24"/>
          <p:cNvSpPr/>
          <p:nvPr/>
        </p:nvSpPr>
        <p:spPr>
          <a:xfrm>
            <a:off x="12061825" y="5821680"/>
            <a:ext cx="2222500" cy="30607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显式确认 + 有效期 + 不可复用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Shape 25"/>
          <p:cNvSpPr/>
          <p:nvPr/>
        </p:nvSpPr>
        <p:spPr>
          <a:xfrm>
            <a:off x="14522450" y="5038090"/>
            <a:ext cx="2546350" cy="167703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64" name="Text 26"/>
          <p:cNvSpPr/>
          <p:nvPr/>
        </p:nvSpPr>
        <p:spPr>
          <a:xfrm>
            <a:off x="14722475" y="5154295"/>
            <a:ext cx="2222500" cy="2444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kern="0" spc="162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GATE 06</a:t>
            </a:r>
            <a:endParaRPr lang="en-US" sz="1200" kern="0" spc="162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14722475" y="5466715"/>
            <a:ext cx="2222500" cy="35496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生命周期审计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66" name="Text 28"/>
          <p:cNvSpPr/>
          <p:nvPr/>
        </p:nvSpPr>
        <p:spPr>
          <a:xfrm>
            <a:off x="14598650" y="5765165"/>
            <a:ext cx="2355215" cy="56261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preview → confirmed → submitted</a:t>
            </a:r>
            <a:endParaRPr lang="en-US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85" name="Shape 47"/>
          <p:cNvSpPr/>
          <p:nvPr/>
        </p:nvSpPr>
        <p:spPr>
          <a:xfrm>
            <a:off x="5257800" y="7067550"/>
            <a:ext cx="7772400" cy="171513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6" name="Shape 48"/>
          <p:cNvSpPr/>
          <p:nvPr/>
        </p:nvSpPr>
        <p:spPr>
          <a:xfrm>
            <a:off x="5295900" y="8767445"/>
            <a:ext cx="77724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7" name="Shape 49"/>
          <p:cNvSpPr/>
          <p:nvPr/>
        </p:nvSpPr>
        <p:spPr>
          <a:xfrm>
            <a:off x="5257800" y="7067550"/>
            <a:ext cx="77724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8" name="Shape 50"/>
          <p:cNvSpPr/>
          <p:nvPr/>
        </p:nvSpPr>
        <p:spPr>
          <a:xfrm>
            <a:off x="5219700" y="7067550"/>
            <a:ext cx="76200" cy="169291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89" name="Shape 51"/>
          <p:cNvSpPr/>
          <p:nvPr/>
        </p:nvSpPr>
        <p:spPr>
          <a:xfrm>
            <a:off x="13020675" y="7067550"/>
            <a:ext cx="9525" cy="139065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0" name="Text 52"/>
          <p:cNvSpPr/>
          <p:nvPr/>
        </p:nvSpPr>
        <p:spPr>
          <a:xfrm>
            <a:off x="5562600" y="7286625"/>
            <a:ext cx="7407116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600" kern="0" spc="189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DESIGN PRINCIPLE</a:t>
            </a:r>
            <a:endParaRPr lang="en-US" sz="1600" kern="0" spc="189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1" name="Text 53"/>
          <p:cNvSpPr/>
          <p:nvPr/>
        </p:nvSpPr>
        <p:spPr>
          <a:xfrm>
            <a:off x="5562600" y="7591425"/>
            <a:ext cx="7407116" cy="685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即使</a:t>
            </a:r>
            <a:r>
              <a:rPr lang="en-US" sz="2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模型输出 / 检索资料 / 长期记忆 / 技能说明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中包含错误指令，也 </a:t>
            </a:r>
            <a:r>
              <a:rPr lang="en-US" sz="2400" u="sng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难以越过代码层面设置的安全边界 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41922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前后端实现 · 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FastAPI + React + SSE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19200" y="2343150"/>
            <a:ext cx="8978801" cy="6096000"/>
          </a:xfrm>
          <a:prstGeom prst="rect">
            <a:avLst/>
          </a:prstGeom>
          <a:ln w="9525">
            <a:solidFill>
              <a:srgbClr val="14141C">
                <a:alpha val="22000"/>
              </a:srgb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655300" y="2343150"/>
            <a:ext cx="6413500" cy="3093085"/>
          </a:xfrm>
          <a:prstGeom prst="rect">
            <a:avLst/>
          </a:prstGeom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93326" y="2422525"/>
            <a:ext cx="611547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24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 · 六类接口</a:t>
            </a:r>
            <a:endParaRPr lang="en-US" sz="24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893425" y="2759710"/>
            <a:ext cx="6115685" cy="272859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46685" indent="-146685" algn="l" fontAlgn="auto">
              <a:lnSpc>
                <a:spcPct val="165000"/>
              </a:lnSpc>
              <a:buClrTx/>
              <a:buSzTx/>
              <a:buFontTx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POST  /api/chat                  同步聊天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46685" indent="-146685" algn="l" fontAlgn="auto">
              <a:lnSpc>
                <a:spcPct val="165000"/>
              </a:lnSpc>
              <a:buClrTx/>
              <a:buSzTx/>
              <a:buFontTx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   /api/chat/stream           SSE 流式输出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46685" indent="-146685" algn="l" fontAlgn="auto">
              <a:lnSpc>
                <a:spcPct val="165000"/>
              </a:lnSpc>
              <a:buClrTx/>
              <a:buSzTx/>
              <a:buFontTx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   /api/runtime provider /KB/ 状态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46685" indent="-146685" algn="l" fontAlgn="auto">
              <a:lnSpc>
                <a:spcPct val="165000"/>
              </a:lnSpc>
              <a:buClrTx/>
              <a:buSzTx/>
              <a:buFontTx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GET   /api/knowledge-base/summary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46685" indent="-146685" algn="l" fontAlgn="auto">
              <a:lnSpc>
                <a:spcPct val="165000"/>
              </a:lnSpc>
              <a:buClrTx/>
              <a:buSzTx/>
              <a:buFontTx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POST  /api/knowledge-base/build  上传 + 重建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655300" y="5597525"/>
            <a:ext cx="6413500" cy="2770505"/>
          </a:xfrm>
          <a:prstGeom prst="rect">
            <a:avLst/>
          </a:prstGeom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93326" y="5797550"/>
            <a:ext cx="6115470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前端策略</a:t>
            </a:r>
            <a:endParaRPr lang="en-US" sz="24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56290" y="6268720"/>
            <a:ext cx="5950585" cy="197231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146685" indent="-146685" algn="l">
              <a:lnSpc>
                <a:spcPct val="165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React + Vite + TypeScript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46685" indent="-146685" algn="l">
              <a:lnSpc>
                <a:spcPct val="165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SSE 流式输出（按块逐步显示）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46685" indent="-146685" algn="l">
              <a:lnSpc>
                <a:spcPct val="165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聊天主区 + 来源 / 命令 / 状态独立展示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46685" indent="-146685" algn="l">
              <a:lnSpc>
                <a:spcPct val="165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20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保留 Gradio 兼容界面（调试用）</a:t>
            </a:r>
            <a:endParaRPr lang="en-US" sz="20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46270" y="8728710"/>
            <a:ext cx="9871075" cy="704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b="1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独立性： </a:t>
            </a: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助手可脱离 DAC-3D 单独启动测试，也可由主系统跳转调用</a:t>
            </a:r>
            <a:r>
              <a:rPr lang="zh-CN" alt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-21474826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2277745"/>
            <a:ext cx="8994140" cy="61639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1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22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419225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8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系统测试 · </a:t>
            </a:r>
            <a:r>
              <a:rPr lang="en-US" sz="4800" b="1" kern="0" spc="-48" dirty="0">
                <a:solidFill>
                  <a:srgbClr val="2B3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四条验证链路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4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85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关键模块实现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Shape 21"/>
          <p:cNvSpPr/>
          <p:nvPr/>
        </p:nvSpPr>
        <p:spPr>
          <a:xfrm>
            <a:off x="910590" y="5295900"/>
            <a:ext cx="9376410" cy="3092450"/>
          </a:xfrm>
          <a:prstGeom prst="rect">
            <a:avLst/>
          </a:prstGeom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3" name="Text 22"/>
          <p:cNvSpPr/>
          <p:nvPr/>
        </p:nvSpPr>
        <p:spPr>
          <a:xfrm>
            <a:off x="1156335" y="5476875"/>
            <a:ext cx="9150350" cy="2571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16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性能指标（部分）</a:t>
            </a:r>
            <a:endParaRPr lang="en-US" sz="16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" name="Shape 23"/>
          <p:cNvSpPr/>
          <p:nvPr/>
        </p:nvSpPr>
        <p:spPr>
          <a:xfrm>
            <a:off x="1369695" y="6115050"/>
            <a:ext cx="2665095" cy="7620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9" name="Text 24"/>
          <p:cNvSpPr/>
          <p:nvPr/>
        </p:nvSpPr>
        <p:spPr>
          <a:xfrm>
            <a:off x="1489075" y="5819775"/>
            <a:ext cx="2508885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b="1" kern="0" spc="5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测试项</a:t>
            </a:r>
            <a:endParaRPr lang="en-US" b="1" kern="0" spc="5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" name="Shape 25"/>
          <p:cNvSpPr/>
          <p:nvPr/>
        </p:nvSpPr>
        <p:spPr>
          <a:xfrm>
            <a:off x="3985260" y="6115050"/>
            <a:ext cx="1510030" cy="7620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17" name="Text 26"/>
          <p:cNvSpPr/>
          <p:nvPr/>
        </p:nvSpPr>
        <p:spPr>
          <a:xfrm>
            <a:off x="4104640" y="5819775"/>
            <a:ext cx="1352550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b="1" kern="0" spc="5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平均</a:t>
            </a:r>
            <a:endParaRPr lang="en-US" b="1" kern="0" spc="5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21" name="Shape 27"/>
          <p:cNvSpPr/>
          <p:nvPr/>
        </p:nvSpPr>
        <p:spPr>
          <a:xfrm>
            <a:off x="5445760" y="6115050"/>
            <a:ext cx="1510030" cy="7620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86" name="Text 28"/>
          <p:cNvSpPr/>
          <p:nvPr/>
        </p:nvSpPr>
        <p:spPr>
          <a:xfrm>
            <a:off x="5565140" y="5819775"/>
            <a:ext cx="1352550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b="1" kern="0" spc="5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P95</a:t>
            </a:r>
            <a:endParaRPr lang="en-US" b="1" kern="0" spc="5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87" name="Shape 29"/>
          <p:cNvSpPr/>
          <p:nvPr/>
        </p:nvSpPr>
        <p:spPr>
          <a:xfrm>
            <a:off x="6851015" y="6115050"/>
            <a:ext cx="3197860" cy="76200"/>
          </a:xfrm>
          <a:prstGeom prst="rect">
            <a:avLst/>
          </a:prstGeom>
          <a:solidFill>
            <a:srgbClr val="15151A"/>
          </a:solidFill>
        </p:spPr>
      </p:sp>
      <p:sp>
        <p:nvSpPr>
          <p:cNvPr id="88" name="Text 30"/>
          <p:cNvSpPr/>
          <p:nvPr/>
        </p:nvSpPr>
        <p:spPr>
          <a:xfrm>
            <a:off x="6969760" y="5819775"/>
            <a:ext cx="3057525" cy="289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b="1" kern="0" spc="5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备注</a:t>
            </a:r>
            <a:endParaRPr lang="en-US" b="1" kern="0" spc="5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89" name="Shape 31"/>
          <p:cNvSpPr/>
          <p:nvPr/>
        </p:nvSpPr>
        <p:spPr>
          <a:xfrm>
            <a:off x="1369695" y="6558280"/>
            <a:ext cx="266509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0" name="Text 32"/>
          <p:cNvSpPr/>
          <p:nvPr/>
        </p:nvSpPr>
        <p:spPr>
          <a:xfrm>
            <a:off x="1489075" y="6210300"/>
            <a:ext cx="2508885" cy="3492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健康检查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1" name="Shape 33"/>
          <p:cNvSpPr/>
          <p:nvPr/>
        </p:nvSpPr>
        <p:spPr>
          <a:xfrm>
            <a:off x="3985260" y="6558280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2" name="Text 34"/>
          <p:cNvSpPr/>
          <p:nvPr/>
        </p:nvSpPr>
        <p:spPr>
          <a:xfrm>
            <a:off x="4104640" y="6210300"/>
            <a:ext cx="1352550" cy="349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15.9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93" name="Shape 35"/>
          <p:cNvSpPr/>
          <p:nvPr/>
        </p:nvSpPr>
        <p:spPr>
          <a:xfrm>
            <a:off x="5445760" y="6558280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4" name="Text 36"/>
          <p:cNvSpPr/>
          <p:nvPr/>
        </p:nvSpPr>
        <p:spPr>
          <a:xfrm>
            <a:off x="5565140" y="6210300"/>
            <a:ext cx="1352550" cy="349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28.1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95" name="Shape 37"/>
          <p:cNvSpPr/>
          <p:nvPr/>
        </p:nvSpPr>
        <p:spPr>
          <a:xfrm>
            <a:off x="6851015" y="6558280"/>
            <a:ext cx="319786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6" name="Text 38"/>
          <p:cNvSpPr/>
          <p:nvPr/>
        </p:nvSpPr>
        <p:spPr>
          <a:xfrm>
            <a:off x="6969760" y="6210300"/>
            <a:ext cx="3057525" cy="349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本地确定性逻辑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7" name="Shape 39"/>
          <p:cNvSpPr/>
          <p:nvPr/>
        </p:nvSpPr>
        <p:spPr>
          <a:xfrm>
            <a:off x="1369695" y="6986905"/>
            <a:ext cx="266509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98" name="Text 40"/>
          <p:cNvSpPr/>
          <p:nvPr/>
        </p:nvSpPr>
        <p:spPr>
          <a:xfrm>
            <a:off x="1489075" y="6644005"/>
            <a:ext cx="250888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状态查询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9" name="Shape 41"/>
          <p:cNvSpPr/>
          <p:nvPr/>
        </p:nvSpPr>
        <p:spPr>
          <a:xfrm>
            <a:off x="3985260" y="6986905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0" name="Text 42"/>
          <p:cNvSpPr/>
          <p:nvPr/>
        </p:nvSpPr>
        <p:spPr>
          <a:xfrm>
            <a:off x="4104640" y="6644005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61.2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01" name="Shape 43"/>
          <p:cNvSpPr/>
          <p:nvPr/>
        </p:nvSpPr>
        <p:spPr>
          <a:xfrm>
            <a:off x="5445760" y="6986905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2" name="Text 44"/>
          <p:cNvSpPr/>
          <p:nvPr/>
        </p:nvSpPr>
        <p:spPr>
          <a:xfrm>
            <a:off x="5565140" y="6644005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72.1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03" name="Shape 45"/>
          <p:cNvSpPr/>
          <p:nvPr/>
        </p:nvSpPr>
        <p:spPr>
          <a:xfrm>
            <a:off x="6851015" y="6986905"/>
            <a:ext cx="319786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4" name="Text 46"/>
          <p:cNvSpPr/>
          <p:nvPr/>
        </p:nvSpPr>
        <p:spPr>
          <a:xfrm>
            <a:off x="6969760" y="6644005"/>
            <a:ext cx="305752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含状态文件桥接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05" name="Shape 47"/>
          <p:cNvSpPr/>
          <p:nvPr/>
        </p:nvSpPr>
        <p:spPr>
          <a:xfrm>
            <a:off x="1369695" y="7415530"/>
            <a:ext cx="266509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6" name="Text 48"/>
          <p:cNvSpPr/>
          <p:nvPr/>
        </p:nvSpPr>
        <p:spPr>
          <a:xfrm>
            <a:off x="1489075" y="7072630"/>
            <a:ext cx="250888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知识库检索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07" name="Shape 49"/>
          <p:cNvSpPr/>
          <p:nvPr/>
        </p:nvSpPr>
        <p:spPr>
          <a:xfrm>
            <a:off x="3985260" y="7415530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08" name="Text 50"/>
          <p:cNvSpPr/>
          <p:nvPr/>
        </p:nvSpPr>
        <p:spPr>
          <a:xfrm>
            <a:off x="4104640" y="7072630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25.6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09" name="Shape 51"/>
          <p:cNvSpPr/>
          <p:nvPr/>
        </p:nvSpPr>
        <p:spPr>
          <a:xfrm>
            <a:off x="5445760" y="7415530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10" name="Text 52"/>
          <p:cNvSpPr/>
          <p:nvPr/>
        </p:nvSpPr>
        <p:spPr>
          <a:xfrm>
            <a:off x="5565140" y="7072630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34.0 ms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11" name="Shape 53"/>
          <p:cNvSpPr/>
          <p:nvPr/>
        </p:nvSpPr>
        <p:spPr>
          <a:xfrm>
            <a:off x="6851015" y="7415530"/>
            <a:ext cx="319786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12" name="Text 54"/>
          <p:cNvSpPr/>
          <p:nvPr/>
        </p:nvSpPr>
        <p:spPr>
          <a:xfrm>
            <a:off x="6969760" y="7072630"/>
            <a:ext cx="305752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混合检索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13" name="Shape 55"/>
          <p:cNvSpPr/>
          <p:nvPr/>
        </p:nvSpPr>
        <p:spPr>
          <a:xfrm>
            <a:off x="1369695" y="7844155"/>
            <a:ext cx="2665095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14" name="Text 56"/>
          <p:cNvSpPr/>
          <p:nvPr/>
        </p:nvSpPr>
        <p:spPr>
          <a:xfrm>
            <a:off x="1489075" y="7501255"/>
            <a:ext cx="250888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流式问答首块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15" name="Shape 57"/>
          <p:cNvSpPr/>
          <p:nvPr/>
        </p:nvSpPr>
        <p:spPr>
          <a:xfrm>
            <a:off x="3985260" y="7844155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16" name="Text 58"/>
          <p:cNvSpPr/>
          <p:nvPr/>
        </p:nvSpPr>
        <p:spPr>
          <a:xfrm>
            <a:off x="4104640" y="7501255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3.27 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17" name="Shape 59"/>
          <p:cNvSpPr/>
          <p:nvPr/>
        </p:nvSpPr>
        <p:spPr>
          <a:xfrm>
            <a:off x="5445760" y="7844155"/>
            <a:ext cx="151003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18" name="Text 60"/>
          <p:cNvSpPr/>
          <p:nvPr/>
        </p:nvSpPr>
        <p:spPr>
          <a:xfrm>
            <a:off x="5565140" y="7501255"/>
            <a:ext cx="1352550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4.74 s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19" name="Shape 61"/>
          <p:cNvSpPr/>
          <p:nvPr/>
        </p:nvSpPr>
        <p:spPr>
          <a:xfrm>
            <a:off x="6851015" y="7844155"/>
            <a:ext cx="319786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20" name="Text 62"/>
          <p:cNvSpPr/>
          <p:nvPr/>
        </p:nvSpPr>
        <p:spPr>
          <a:xfrm>
            <a:off x="6969760" y="7501255"/>
            <a:ext cx="3057525" cy="343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主要受外部模型影响</a:t>
            </a:r>
            <a:endParaRPr lang="en-US" sz="16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21" name="Shape 63"/>
          <p:cNvSpPr/>
          <p:nvPr/>
        </p:nvSpPr>
        <p:spPr>
          <a:xfrm>
            <a:off x="10591651" y="5295900"/>
            <a:ext cx="6477000" cy="1809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2" name="Shape 64"/>
          <p:cNvSpPr/>
          <p:nvPr/>
        </p:nvSpPr>
        <p:spPr>
          <a:xfrm>
            <a:off x="10591651" y="7096125"/>
            <a:ext cx="64770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24" name="Shape 66"/>
          <p:cNvSpPr/>
          <p:nvPr/>
        </p:nvSpPr>
        <p:spPr>
          <a:xfrm>
            <a:off x="10591651" y="5295900"/>
            <a:ext cx="38100" cy="1809750"/>
          </a:xfrm>
          <a:prstGeom prst="rect">
            <a:avLst/>
          </a:prstGeom>
          <a:solidFill>
            <a:srgbClr val="B88746"/>
          </a:solidFill>
        </p:spPr>
      </p:sp>
      <p:sp>
        <p:nvSpPr>
          <p:cNvPr id="125" name="Shape 67"/>
          <p:cNvSpPr/>
          <p:nvPr/>
        </p:nvSpPr>
        <p:spPr>
          <a:xfrm>
            <a:off x="17059126" y="5295900"/>
            <a:ext cx="9525" cy="180975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126" name="Text 68"/>
          <p:cNvSpPr/>
          <p:nvPr/>
        </p:nvSpPr>
        <p:spPr>
          <a:xfrm>
            <a:off x="10877401" y="5495925"/>
            <a:ext cx="6112097" cy="228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kern="0" spc="189" dirty="0">
                <a:solidFill>
                  <a:srgbClr val="B88746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已识别的失败边界</a:t>
            </a:r>
            <a:endParaRPr lang="en-US" sz="2000" kern="0" spc="189" dirty="0">
              <a:solidFill>
                <a:srgbClr val="B88746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27" name="Text 69"/>
          <p:cNvSpPr/>
          <p:nvPr/>
        </p:nvSpPr>
        <p:spPr>
          <a:xfrm>
            <a:off x="10966936" y="5762625"/>
            <a:ext cx="6016276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60000"/>
              </a:lnSpc>
              <a:buSzPct val="100000"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结果解释结构化输出</a:t>
            </a: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稳定性不足</a:t>
            </a:r>
            <a:endParaRPr lang="en-US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28" name="Text 70"/>
          <p:cNvSpPr/>
          <p:nvPr/>
        </p:nvSpPr>
        <p:spPr>
          <a:xfrm>
            <a:off x="10966936" y="6029325"/>
            <a:ext cx="6016276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60000"/>
              </a:lnSpc>
              <a:buSzPct val="100000"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 </a:t>
            </a: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来源约束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需强化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9" name="Text 71"/>
          <p:cNvSpPr/>
          <p:nvPr/>
        </p:nvSpPr>
        <p:spPr>
          <a:xfrm>
            <a:off x="10966936" y="6296025"/>
            <a:ext cx="6016276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60000"/>
              </a:lnSpc>
              <a:buSzPct val="100000"/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真实 DAC-3D 设备闭环</a:t>
            </a:r>
            <a:r>
              <a:rPr lang="en-US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未覆盖</a:t>
            </a:r>
            <a:endParaRPr lang="en-US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29665" y="2228850"/>
            <a:ext cx="1426908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本地环境 · 真实模型接入 · 同步保留日志 / 截图 / Trace / 性能数据</a:t>
            </a:r>
            <a:endParaRPr lang="en-US" sz="2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1071880" y="2847975"/>
            <a:ext cx="3952240" cy="203962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33" name="Text 6"/>
          <p:cNvSpPr/>
          <p:nvPr/>
        </p:nvSpPr>
        <p:spPr>
          <a:xfrm>
            <a:off x="1324610" y="3086100"/>
            <a:ext cx="3561715" cy="7112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00000"/>
              </a:lnSpc>
              <a:buNone/>
            </a:pPr>
            <a:r>
              <a:rPr lang="en-US" sz="4000" b="1" kern="0" spc="-9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46 </a:t>
            </a:r>
            <a:r>
              <a:rPr lang="en-US" b="1" kern="0" spc="-96" dirty="0">
                <a:solidFill>
                  <a:srgbClr val="9A9AA3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/65</a:t>
            </a:r>
            <a:endParaRPr lang="en-US" b="1" kern="0" spc="-96" dirty="0">
              <a:solidFill>
                <a:srgbClr val="9A9AA3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1324610" y="3752850"/>
            <a:ext cx="3561715" cy="2190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000" kern="0" spc="176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FUNCTIONAL</a:t>
            </a:r>
            <a:endParaRPr lang="en-US" sz="1000" kern="0" spc="176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1324610" y="4029075"/>
            <a:ext cx="3561715" cy="5645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 警告 / 11 失败 主因：结果解释结构化字段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5086985" y="2847975"/>
            <a:ext cx="3952240" cy="203962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37" name="Text 10"/>
          <p:cNvSpPr/>
          <p:nvPr/>
        </p:nvSpPr>
        <p:spPr>
          <a:xfrm>
            <a:off x="5339715" y="3086100"/>
            <a:ext cx="3561715" cy="7112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00000"/>
              </a:lnSpc>
              <a:buNone/>
            </a:pPr>
            <a:r>
              <a:rPr lang="en-US" sz="4000" b="1" kern="0" spc="-9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20</a:t>
            </a:r>
            <a:endParaRPr lang="en-US" sz="4000" b="1" kern="0" spc="-96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5339715" y="3752850"/>
            <a:ext cx="3561715" cy="2190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000" kern="0" spc="176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AGENT</a:t>
            </a:r>
            <a:r>
              <a:rPr lang="zh-CN" altLang="en-US" sz="1000" kern="0" spc="176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回归</a:t>
            </a:r>
            <a:endParaRPr lang="zh-CN" altLang="en-US" sz="1000" kern="0" spc="176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5339715" y="4029075"/>
            <a:ext cx="3561715" cy="5645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状态查询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命令预览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批准提交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记忆候选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9101455" y="2847975"/>
            <a:ext cx="3952240" cy="203962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41" name="Text 14"/>
          <p:cNvSpPr/>
          <p:nvPr/>
        </p:nvSpPr>
        <p:spPr>
          <a:xfrm>
            <a:off x="9354185" y="3086100"/>
            <a:ext cx="3561715" cy="7112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00000"/>
              </a:lnSpc>
              <a:buNone/>
            </a:pPr>
            <a:r>
              <a:rPr lang="en-US" sz="4000" b="1" kern="0" spc="-9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20</a:t>
            </a:r>
            <a:endParaRPr lang="en-US" sz="4000" b="1" kern="0" spc="-96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9354185" y="3752850"/>
            <a:ext cx="3561715" cy="2190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zh-CN" altLang="en-US" sz="1000" kern="0" spc="176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安全</a:t>
            </a:r>
            <a:r>
              <a:rPr lang="zh-CN" altLang="en-US" sz="1000" kern="0" spc="176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红队</a:t>
            </a:r>
            <a:endParaRPr lang="zh-CN" altLang="en-US" sz="1000" kern="0" spc="176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9354185" y="4029075"/>
            <a:ext cx="3561715" cy="30289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绕过确认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越权路径</a:t>
            </a:r>
            <a:r>
              <a:rPr lang="zh-CN" alt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Prompt Injection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13116560" y="2847975"/>
            <a:ext cx="3952240" cy="203962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145" name="Text 18"/>
          <p:cNvSpPr/>
          <p:nvPr/>
        </p:nvSpPr>
        <p:spPr>
          <a:xfrm>
            <a:off x="13369290" y="3086100"/>
            <a:ext cx="3561715" cy="7112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00000"/>
              </a:lnSpc>
              <a:buNone/>
            </a:pPr>
            <a:r>
              <a:rPr lang="en-US" sz="4000" b="1" kern="0" spc="-9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82.0</a:t>
            </a:r>
            <a:r>
              <a:rPr lang="zh-CN" altLang="en-US" sz="4000" b="1" kern="0" spc="-96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分</a:t>
            </a:r>
            <a:endParaRPr lang="zh-CN" altLang="en-US" sz="4000" b="1" kern="0" spc="-96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13369290" y="3752850"/>
            <a:ext cx="3561715" cy="21907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endParaRPr lang="en-US" sz="1000" kern="0" spc="176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13369290" y="4029075"/>
            <a:ext cx="3561715" cy="30289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 名参与者 · 优秀区间</a:t>
            </a:r>
            <a:endParaRPr lang="en-US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8" name="Shape 65"/>
          <p:cNvSpPr/>
          <p:nvPr/>
        </p:nvSpPr>
        <p:spPr>
          <a:xfrm>
            <a:off x="10340340" y="4972050"/>
            <a:ext cx="6728460" cy="762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19200" y="1569720"/>
            <a:ext cx="2500015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现场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演示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725" y="3248025"/>
            <a:ext cx="9262021" cy="9262021"/>
          </a:xfrm>
          <a:prstGeom prst="rect">
            <a:avLst/>
          </a:prstGeom>
        </p:spPr>
      </p:pic>
      <p:sp>
        <p:nvSpPr>
          <p:cNvPr id="83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4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85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测试与现场演示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Shape 8"/>
          <p:cNvSpPr/>
          <p:nvPr/>
        </p:nvSpPr>
        <p:spPr>
          <a:xfrm>
            <a:off x="1219200" y="2714625"/>
            <a:ext cx="7820025" cy="141922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3" name="Text 9"/>
          <p:cNvSpPr/>
          <p:nvPr/>
        </p:nvSpPr>
        <p:spPr>
          <a:xfrm>
            <a:off x="1438275" y="2943225"/>
            <a:ext cx="1051560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01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" name="Text 10"/>
          <p:cNvSpPr/>
          <p:nvPr/>
        </p:nvSpPr>
        <p:spPr>
          <a:xfrm>
            <a:off x="2280920" y="2876550"/>
            <a:ext cx="483997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知识问答 / 操作指导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Shape 11"/>
          <p:cNvSpPr/>
          <p:nvPr/>
        </p:nvSpPr>
        <p:spPr>
          <a:xfrm>
            <a:off x="1438275" y="3276600"/>
            <a:ext cx="7381875" cy="36195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7" name="Text 12"/>
          <p:cNvSpPr/>
          <p:nvPr/>
        </p:nvSpPr>
        <p:spPr>
          <a:xfrm>
            <a:off x="1552575" y="3352800"/>
            <a:ext cx="73747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60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 样品表面反光很强怎么办？</a:t>
            </a:r>
            <a:endParaRPr lang="en-US" sz="1600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 13"/>
          <p:cNvSpPr/>
          <p:nvPr/>
        </p:nvSpPr>
        <p:spPr>
          <a:xfrm>
            <a:off x="1438275" y="3733800"/>
            <a:ext cx="7603331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助手会根据 DAC-3D 文档和检测经验给出处理建议，而不是随便聊天。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9248775" y="2714625"/>
            <a:ext cx="7820025" cy="141922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42" name="Text 15"/>
          <p:cNvSpPr/>
          <p:nvPr/>
        </p:nvSpPr>
        <p:spPr>
          <a:xfrm>
            <a:off x="9467850" y="2943225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02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10310495" y="2876550"/>
            <a:ext cx="353441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状态查询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44" name="Shape 17"/>
          <p:cNvSpPr/>
          <p:nvPr/>
        </p:nvSpPr>
        <p:spPr>
          <a:xfrm>
            <a:off x="9467850" y="3276600"/>
            <a:ext cx="7381875" cy="36195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45" name="Text 18"/>
          <p:cNvSpPr/>
          <p:nvPr/>
        </p:nvSpPr>
        <p:spPr>
          <a:xfrm>
            <a:off x="9582150" y="3352800"/>
            <a:ext cx="73747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60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 当前检测状态是什么？</a:t>
            </a:r>
            <a:endParaRPr lang="en-US" sz="1600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9467850" y="3733800"/>
            <a:ext cx="7603331" cy="27622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 runtime bridge / status_file 读取 ,</a:t>
            </a:r>
            <a:r>
              <a:rPr lang="en-US" sz="1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不是模型猜的</a:t>
            </a:r>
            <a:endParaRPr lang="en-US" sz="14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Shape 20"/>
          <p:cNvSpPr/>
          <p:nvPr/>
        </p:nvSpPr>
        <p:spPr>
          <a:xfrm>
            <a:off x="1219200" y="4343400"/>
            <a:ext cx="7820025" cy="17430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48" name="Text 21"/>
          <p:cNvSpPr/>
          <p:nvPr/>
        </p:nvSpPr>
        <p:spPr>
          <a:xfrm>
            <a:off x="1438275" y="4572000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03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2280920" y="4505325"/>
            <a:ext cx="451993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自然语言命令预览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50" name="Shape 23"/>
          <p:cNvSpPr/>
          <p:nvPr/>
        </p:nvSpPr>
        <p:spPr>
          <a:xfrm>
            <a:off x="1438275" y="4905375"/>
            <a:ext cx="7381875" cy="36195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51" name="Text 24"/>
          <p:cNvSpPr/>
          <p:nvPr/>
        </p:nvSpPr>
        <p:spPr>
          <a:xfrm>
            <a:off x="1552575" y="4981575"/>
            <a:ext cx="73747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60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 扫描 10mm x 10mm 区域</a:t>
            </a:r>
            <a:endParaRPr lang="en-US" sz="1600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1438275" y="5362575"/>
            <a:ext cx="7603331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一句话转换成结构化命令预览，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Shape 26"/>
          <p:cNvSpPr/>
          <p:nvPr/>
        </p:nvSpPr>
        <p:spPr>
          <a:xfrm>
            <a:off x="9248775" y="4343400"/>
            <a:ext cx="7820025" cy="1743075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54" name="Text 27"/>
          <p:cNvSpPr/>
          <p:nvPr/>
        </p:nvSpPr>
        <p:spPr>
          <a:xfrm>
            <a:off x="9467850" y="4572000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04</a:t>
            </a:r>
            <a:endParaRPr lang="en-US" sz="1200" kern="0" spc="189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5" name="Text 28"/>
          <p:cNvSpPr/>
          <p:nvPr/>
        </p:nvSpPr>
        <p:spPr>
          <a:xfrm>
            <a:off x="10310495" y="4505325"/>
            <a:ext cx="389382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安全审批 </a:t>
            </a:r>
            <a:r>
              <a:rPr lang="en-US" sz="1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 重点</a:t>
            </a:r>
            <a:endParaRPr lang="en-US" sz="14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Shape 29"/>
          <p:cNvSpPr/>
          <p:nvPr/>
        </p:nvSpPr>
        <p:spPr>
          <a:xfrm>
            <a:off x="9467850" y="4905375"/>
            <a:ext cx="7381875" cy="723900"/>
          </a:xfrm>
          <a:prstGeom prst="rect">
            <a:avLst/>
          </a:prstGeom>
          <a:solidFill>
            <a:srgbClr val="C0392B">
              <a:alpha val="6000"/>
            </a:srgbClr>
          </a:solidFill>
        </p:spPr>
      </p:sp>
      <p:sp>
        <p:nvSpPr>
          <p:cNvPr id="57" name="Text 30"/>
          <p:cNvSpPr/>
          <p:nvPr/>
        </p:nvSpPr>
        <p:spPr>
          <a:xfrm>
            <a:off x="9582150" y="4981575"/>
            <a:ext cx="7374731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60000"/>
              </a:lnSpc>
              <a:buNone/>
            </a:pPr>
            <a:r>
              <a:rPr lang="en-US" sz="1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needs_confirmation: </a:t>
            </a:r>
            <a:r>
              <a:rPr lang="en-US" sz="14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true    </a:t>
            </a:r>
            <a:r>
              <a:rPr lang="en-US" sz="14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preview_id · confirmation_token lifecycle_state: awaiting_confirmation</a:t>
            </a:r>
            <a:endParaRPr lang="en-US" sz="14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58" name="Text 31"/>
          <p:cNvSpPr/>
          <p:nvPr/>
        </p:nvSpPr>
        <p:spPr>
          <a:xfrm>
            <a:off x="9467850" y="5724525"/>
            <a:ext cx="7603331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 不能直接写 command.json </a:t>
            </a:r>
            <a:r>
              <a:rPr lang="en-US" sz="12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· 全路径可审计</a:t>
            </a:r>
            <a:endParaRPr lang="en-US" sz="12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Shape 32"/>
          <p:cNvSpPr/>
          <p:nvPr/>
        </p:nvSpPr>
        <p:spPr>
          <a:xfrm>
            <a:off x="1219200" y="6296025"/>
            <a:ext cx="782002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60" name="Text 33"/>
          <p:cNvSpPr/>
          <p:nvPr/>
        </p:nvSpPr>
        <p:spPr>
          <a:xfrm>
            <a:off x="1438275" y="6524625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05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61" name="Text 34"/>
          <p:cNvSpPr/>
          <p:nvPr/>
        </p:nvSpPr>
        <p:spPr>
          <a:xfrm>
            <a:off x="2280920" y="6457950"/>
            <a:ext cx="459105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结果解释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62" name="Shape 35"/>
          <p:cNvSpPr/>
          <p:nvPr/>
        </p:nvSpPr>
        <p:spPr>
          <a:xfrm>
            <a:off x="1438275" y="6858000"/>
            <a:ext cx="7381875" cy="36195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63" name="Text 36"/>
          <p:cNvSpPr/>
          <p:nvPr/>
        </p:nvSpPr>
        <p:spPr>
          <a:xfrm>
            <a:off x="1552575" y="6934200"/>
            <a:ext cx="73747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60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 当前检测结果怎么样？</a:t>
            </a:r>
            <a:endParaRPr lang="en-US" sz="1600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Text 37"/>
          <p:cNvSpPr/>
          <p:nvPr/>
        </p:nvSpPr>
        <p:spPr>
          <a:xfrm>
            <a:off x="1438275" y="7315200"/>
            <a:ext cx="7603331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读取最新结果并解释缺陷类型、严重程度和依据。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Shape 38"/>
          <p:cNvSpPr/>
          <p:nvPr/>
        </p:nvSpPr>
        <p:spPr>
          <a:xfrm>
            <a:off x="9248775" y="6296025"/>
            <a:ext cx="7820025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66" name="Text 39"/>
          <p:cNvSpPr/>
          <p:nvPr/>
        </p:nvSpPr>
        <p:spPr>
          <a:xfrm>
            <a:off x="9467850" y="6524625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06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67" name="Text 40"/>
          <p:cNvSpPr/>
          <p:nvPr/>
        </p:nvSpPr>
        <p:spPr>
          <a:xfrm>
            <a:off x="10310495" y="6457950"/>
            <a:ext cx="3500755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 工具能力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Shape 41"/>
          <p:cNvSpPr/>
          <p:nvPr/>
        </p:nvSpPr>
        <p:spPr>
          <a:xfrm>
            <a:off x="9467850" y="6858000"/>
            <a:ext cx="7381875" cy="78105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69" name="Text 42"/>
          <p:cNvSpPr/>
          <p:nvPr/>
        </p:nvSpPr>
        <p:spPr>
          <a:xfrm>
            <a:off x="9582150" y="6804025"/>
            <a:ext cx="7374731" cy="666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lnSpc>
                <a:spcPct val="160000"/>
              </a:lnSpc>
              <a:buNone/>
            </a:pP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cd C:\Users\xecat\DAC-3D-LLM\dac3d_iim_assistant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dac3d-agent --list-tools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70" name="Text 43"/>
          <p:cNvSpPr/>
          <p:nvPr/>
        </p:nvSpPr>
        <p:spPr>
          <a:xfrm>
            <a:off x="9465310" y="7698105"/>
            <a:ext cx="76033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6B6B75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帮我总结最近三个月的检测/设备异常情况，有没有高频异常或明显趋势？</a:t>
            </a:r>
            <a:endParaRPr lang="en-US" sz="1400" dirty="0">
              <a:solidFill>
                <a:srgbClr val="6B6B75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71" name="Shape 44"/>
          <p:cNvSpPr/>
          <p:nvPr/>
        </p:nvSpPr>
        <p:spPr>
          <a:xfrm>
            <a:off x="1219200" y="8315325"/>
            <a:ext cx="7820025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72" name="Text 45"/>
          <p:cNvSpPr/>
          <p:nvPr/>
        </p:nvSpPr>
        <p:spPr>
          <a:xfrm>
            <a:off x="1438275" y="8543925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DEMO 07</a:t>
            </a:r>
            <a:endParaRPr lang="en-US" sz="1200" kern="0" spc="189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73" name="Text 46"/>
          <p:cNvSpPr/>
          <p:nvPr/>
        </p:nvSpPr>
        <p:spPr>
          <a:xfrm>
            <a:off x="2280920" y="8477250"/>
            <a:ext cx="3078480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评测与审计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74" name="Text 47"/>
          <p:cNvSpPr/>
          <p:nvPr/>
        </p:nvSpPr>
        <p:spPr>
          <a:xfrm>
            <a:off x="1438275" y="8877300"/>
            <a:ext cx="7603331" cy="2667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侧边栏\</a:t>
            </a:r>
            <a:r>
              <a:rPr lang="en-US" sz="1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系统设置\</a:t>
            </a:r>
            <a:r>
              <a:rPr lang="en-US" sz="12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Trace / Eval / 记忆补丁 / 技能补丁 入口</a:t>
            </a:r>
            <a:endParaRPr lang="en-US" sz="12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5" name="Text 48"/>
          <p:cNvSpPr/>
          <p:nvPr/>
        </p:nvSpPr>
        <p:spPr>
          <a:xfrm>
            <a:off x="1438275" y="9201150"/>
            <a:ext cx="7603331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可复查\可测试\可持续改进</a:t>
            </a:r>
            <a:endParaRPr lang="en-US" sz="1200" b="1" dirty="0">
              <a:solidFill>
                <a:srgbClr val="C0392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Shape 49"/>
          <p:cNvSpPr/>
          <p:nvPr/>
        </p:nvSpPr>
        <p:spPr>
          <a:xfrm>
            <a:off x="9248775" y="8315325"/>
            <a:ext cx="7820025" cy="1257300"/>
          </a:xfrm>
          <a:prstGeom prst="rect">
            <a:avLst/>
          </a:prstGeom>
          <a:solidFill>
            <a:srgbClr val="E8EAF3"/>
          </a:solidFill>
        </p:spPr>
      </p:sp>
      <p:sp>
        <p:nvSpPr>
          <p:cNvPr id="77" name="Shape 50"/>
          <p:cNvSpPr/>
          <p:nvPr/>
        </p:nvSpPr>
        <p:spPr>
          <a:xfrm>
            <a:off x="9248775" y="9563100"/>
            <a:ext cx="782002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78" name="Shape 51"/>
          <p:cNvSpPr/>
          <p:nvPr/>
        </p:nvSpPr>
        <p:spPr>
          <a:xfrm>
            <a:off x="9248775" y="8315325"/>
            <a:ext cx="782002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79" name="Shape 52"/>
          <p:cNvSpPr/>
          <p:nvPr/>
        </p:nvSpPr>
        <p:spPr>
          <a:xfrm>
            <a:off x="9248775" y="8315325"/>
            <a:ext cx="38100" cy="1257300"/>
          </a:xfrm>
          <a:prstGeom prst="rect">
            <a:avLst/>
          </a:prstGeom>
          <a:solidFill>
            <a:srgbClr val="B88746"/>
          </a:solidFill>
        </p:spPr>
      </p:sp>
      <p:sp>
        <p:nvSpPr>
          <p:cNvPr id="80" name="Shape 53"/>
          <p:cNvSpPr/>
          <p:nvPr/>
        </p:nvSpPr>
        <p:spPr>
          <a:xfrm>
            <a:off x="17059275" y="8315325"/>
            <a:ext cx="9525" cy="12573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1" name="Text 54"/>
          <p:cNvSpPr/>
          <p:nvPr/>
        </p:nvSpPr>
        <p:spPr>
          <a:xfrm>
            <a:off x="9496425" y="8543925"/>
            <a:ext cx="804416" cy="2095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buNone/>
            </a:pPr>
            <a:r>
              <a:rPr lang="en-US" sz="1200" kern="0" spc="189" dirty="0">
                <a:solidFill>
                  <a:srgbClr val="B88746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CLOSING</a:t>
            </a:r>
            <a:endParaRPr lang="en-US" sz="1200" kern="0" spc="189" dirty="0">
              <a:solidFill>
                <a:srgbClr val="B88746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82" name="Text 55"/>
          <p:cNvSpPr/>
          <p:nvPr/>
        </p:nvSpPr>
        <p:spPr>
          <a:xfrm>
            <a:off x="10339070" y="8477250"/>
            <a:ext cx="4438015" cy="304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20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一句话总结</a:t>
            </a:r>
            <a:endParaRPr lang="en-US" sz="20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86" name="Text 56"/>
          <p:cNvSpPr/>
          <p:nvPr/>
        </p:nvSpPr>
        <p:spPr>
          <a:xfrm>
            <a:off x="9496425" y="8839200"/>
            <a:ext cx="7573899" cy="49530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p>
            <a:pPr marL="0" indent="0" algn="l">
              <a:lnSpc>
                <a:spcPct val="155000"/>
              </a:lnSpc>
              <a:buNone/>
            </a:pP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创新点不是</a:t>
            </a:r>
            <a:r>
              <a:rPr lang="en-US" sz="16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接入大模型</a:t>
            </a: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，而是</a:t>
            </a:r>
            <a:r>
              <a:rPr lang="en-US" sz="1600" b="1" dirty="0">
                <a:solidFill>
                  <a:srgbClr val="C039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把大模型放进工业检测软件的受控工作流 </a:t>
            </a:r>
            <a:r>
              <a:rPr lang="en-US" sz="160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里 —— 智能交互 · 安全边界 · 可审计验证。</a:t>
            </a:r>
            <a:endParaRPr lang="en-US" sz="1600" dirty="0">
              <a:solidFill>
                <a:srgbClr val="2C2C3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20470" y="1761490"/>
            <a:ext cx="16325088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kern="0" spc="-48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总结与</a:t>
            </a:r>
            <a:r>
              <a:rPr lang="en-US" sz="4800" b="1" kern="0" spc="-48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展望</a:t>
            </a:r>
            <a:endParaRPr 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19200" y="365760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C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4475" y="3933825"/>
            <a:ext cx="4650296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DONE · 完成的工作</a:t>
            </a:r>
            <a:endParaRPr lang="en-US" sz="1125" kern="0" spc="203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14475" y="4248150"/>
            <a:ext cx="4650296" cy="352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受约束的任务型助手原型</a:t>
            </a:r>
            <a:endParaRPr lang="en-US" sz="18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44625" y="4733925"/>
            <a:ext cx="4693920" cy="1657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五类任务、五层架构、端到端打通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知识库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意图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解析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适配</a:t>
            </a:r>
            <a:r>
              <a:rPr lang="zh-CN" alt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状态文件桥接已接入主系统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51 项自动化测试 100 % 通过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91300" y="365760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B887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6575" y="3933825"/>
            <a:ext cx="4650296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B8874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LIMITS · 不足之处</a:t>
            </a:r>
            <a:endParaRPr lang="en-US" sz="1125" kern="0" spc="203" dirty="0">
              <a:solidFill>
                <a:srgbClr val="B8874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86575" y="4248150"/>
            <a:ext cx="4650296" cy="352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仍在原型阶段</a:t>
            </a:r>
            <a:endParaRPr lang="en-US" sz="18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PingFang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37375" y="4733925"/>
            <a:ext cx="4540885" cy="17233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真实联机完整闭环仍需补完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知识库以样例资料为主，仍待扩充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性能、并发与可用性测试未系统展开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算法创新性有限，重点在工程整合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963400" y="3657600"/>
            <a:ext cx="51054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2B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8675" y="3933825"/>
            <a:ext cx="4650296" cy="2381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NEXT · 未来工作</a:t>
            </a:r>
            <a:endParaRPr lang="en-US" sz="1125" kern="0" spc="203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258675" y="4248150"/>
            <a:ext cx="4650296" cy="352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从"可运行"走向"可联机"</a:t>
            </a:r>
            <a:endParaRPr lang="en-US" sz="18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309158" y="4733925"/>
            <a:ext cx="4540568" cy="1333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20000"/>
          </a:bodyPr>
          <a:lstStyle/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命令提交闭环 + 异常恢复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官方手册接入 + 资料版本追踪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日志 / 权限 / 操作留痕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0" indent="-139700" algn="l">
              <a:lnSpc>
                <a:spcPct val="165000"/>
              </a:lnSpc>
              <a:buSzPct val="100000"/>
              <a:buChar char="•"/>
              <a:tabLst>
                <a:tab pos="139700" algn="l"/>
              </a:tabLst>
            </a:pPr>
            <a:r>
              <a:rPr lang="en-US" sz="1575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图像与点云能力扩展</a:t>
            </a:r>
            <a:endParaRPr lang="en-US" sz="157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219200" y="8229600"/>
            <a:ext cx="15849600" cy="1143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1219200" y="9363075"/>
            <a:ext cx="158496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1219200" y="8229600"/>
            <a:ext cx="15849600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1219200" y="8229600"/>
            <a:ext cx="38100" cy="1143000"/>
          </a:xfrm>
          <a:prstGeom prst="rect">
            <a:avLst/>
          </a:prstGeom>
          <a:solidFill>
            <a:srgbClr val="2B3A8A"/>
          </a:solidFill>
        </p:spPr>
      </p:sp>
      <p:sp>
        <p:nvSpPr>
          <p:cNvPr id="22" name="Shape 20"/>
          <p:cNvSpPr/>
          <p:nvPr/>
        </p:nvSpPr>
        <p:spPr>
          <a:xfrm>
            <a:off x="17059275" y="8229600"/>
            <a:ext cx="9525" cy="1143000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1524000" y="8410575"/>
            <a:ext cx="15726632" cy="819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本文的工程价值 — 在一个边界清晰的专业场景里，把 </a:t>
            </a:r>
            <a:r>
              <a:rPr lang="en-US" sz="1950" b="1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</a:t>
            </a:r>
            <a:r>
              <a:rPr lang="zh-CN" altLang="en-US" sz="1950" b="1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950" b="1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RAG</a:t>
            </a:r>
            <a:r>
              <a:rPr lang="zh-CN" altLang="en-US" sz="1950" b="1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950" b="1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意图识别</a:t>
            </a:r>
            <a:r>
              <a:rPr lang="zh-CN" altLang="en-US" sz="1950" b="1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950" b="1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设备接口 </a:t>
            </a:r>
            <a:r>
              <a:rPr lang="en-US" sz="19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拧成了一套</a:t>
            </a:r>
            <a:r>
              <a:rPr lang="en-US" sz="195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可运行</a:t>
            </a:r>
            <a:r>
              <a:rPr lang="zh-CN" altLang="en-US" sz="195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95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可验证</a:t>
            </a:r>
            <a:r>
              <a:rPr lang="zh-CN" altLang="en-US" sz="195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95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可扩展</a:t>
            </a:r>
            <a:r>
              <a:rPr lang="en-US" sz="1950" u="sng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sz="1950" dirty="0">
                <a:solidFill>
                  <a:srgbClr val="2C2C3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的软件原型。</a:t>
            </a:r>
            <a:endParaRPr lang="en-US" sz="19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859685" y="1085850"/>
            <a:ext cx="12209115" cy="9525"/>
          </a:xfrm>
          <a:prstGeom prst="rect">
            <a:avLst/>
          </a:prstGeom>
          <a:solidFill>
            <a:srgbClr val="14141C">
              <a:alpha val="10000"/>
            </a:srgbClr>
          </a:solidFill>
        </p:spPr>
      </p:sp>
      <p:sp>
        <p:nvSpPr>
          <p:cNvPr id="84" name="Text 0"/>
          <p:cNvSpPr/>
          <p:nvPr/>
        </p:nvSpPr>
        <p:spPr>
          <a:xfrm>
            <a:off x="1220470" y="837565"/>
            <a:ext cx="506730" cy="450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kern="0" spc="162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JetBrains Mono" pitchFamily="34" charset="-120"/>
              </a:rPr>
              <a:t>04</a:t>
            </a:r>
            <a:endParaRPr lang="en-US" sz="3200" kern="0" spc="162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JetBrains Mono" pitchFamily="34" charset="-120"/>
            </a:endParaRPr>
          </a:p>
        </p:txBody>
      </p:sp>
      <p:sp>
        <p:nvSpPr>
          <p:cNvPr id="85" name="Text 1"/>
          <p:cNvSpPr/>
          <p:nvPr/>
        </p:nvSpPr>
        <p:spPr>
          <a:xfrm>
            <a:off x="1669415" y="841375"/>
            <a:ext cx="3517265" cy="497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 marL="0" indent="0" algn="l">
              <a:buNone/>
            </a:pPr>
            <a:r>
              <a:rPr lang="en-US" sz="3200" b="1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3200" b="1" dirty="0">
                <a:solidFill>
                  <a:srgbClr val="151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  <a:sym typeface="+mn-ea"/>
              </a:rPr>
              <a:t>总结与展望</a:t>
            </a:r>
            <a:endParaRPr lang="en-US" sz="3200" b="1" dirty="0">
              <a:solidFill>
                <a:srgbClr val="15151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78275" y="3409950"/>
            <a:ext cx="9531450" cy="2133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0" b="1" kern="0" spc="1650" dirty="0">
                <a:solidFill>
                  <a:srgbClr val="15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PingFang SC" pitchFamily="34" charset="-120"/>
              </a:rPr>
              <a:t>敬请指正</a:t>
            </a:r>
            <a:endParaRPr lang="en-US" sz="16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11199" y="6038850"/>
            <a:ext cx="5865602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2800" kern="0" spc="135" dirty="0">
                <a:solidFill>
                  <a:srgbClr val="6B6B75"/>
                </a:solidFill>
                <a:latin typeface="Times New Roman" panose="02020603050405020304" charset="0"/>
                <a:ea typeface="PingFang SC" pitchFamily="34" charset="-122"/>
                <a:cs typeface="Times New Roman" panose="02020603050405020304" charset="0"/>
              </a:rPr>
              <a:t>Q &amp; A</a:t>
            </a:r>
            <a:endParaRPr lang="en-US" sz="2800" kern="0" spc="135" dirty="0">
              <a:solidFill>
                <a:srgbClr val="6B6B75"/>
              </a:solidFill>
              <a:latin typeface="Times New Roman" panose="02020603050405020304" charset="0"/>
              <a:ea typeface="PingFang SC" pitchFamily="34" charset="-122"/>
              <a:cs typeface="Times New Roman" panose="020206030504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10300" y="7391400"/>
            <a:ext cx="6339205" cy="8331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2400" kern="0" spc="48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信管2202</a:t>
            </a:r>
            <a:r>
              <a:rPr lang="en-US" sz="2400" kern="0" spc="480" dirty="0">
                <a:solidFill>
                  <a:srgbClr val="2B3A8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颜益炜 郑积仕老师指导</a:t>
            </a:r>
            <a:endParaRPr lang="en-US" sz="2400" kern="0" spc="480" dirty="0">
              <a:solidFill>
                <a:srgbClr val="2B3A8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4409</Words>
  <Application>WPS 演示</Application>
  <PresentationFormat>On-screen Show (16:9)</PresentationFormat>
  <Paragraphs>543</Paragraphs>
  <Slides>14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JetBrains Mono</vt:lpstr>
      <vt:lpstr>MingLiU-ExtB</vt:lpstr>
      <vt:lpstr>PingFang SC</vt:lpstr>
      <vt:lpstr>PingFang SC</vt:lpstr>
      <vt:lpstr>PingFang SC</vt:lpstr>
      <vt:lpstr>Times New Roman</vt:lpstr>
      <vt:lpstr>JetBrains Mono</vt:lpstr>
      <vt:lpstr>JetBrains Mono</vt:lpstr>
      <vt:lpstr>Segoe Print</vt:lpstr>
      <vt:lpstr>微软雅黑</vt:lpstr>
      <vt:lpstr>Arial Unicode MS</vt:lpstr>
      <vt:lpstr>Calibri</vt:lpstr>
      <vt:lpstr>思源宋体 CN Heavy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Ysevan</cp:lastModifiedBy>
  <cp:revision>23</cp:revision>
  <dcterms:created xsi:type="dcterms:W3CDTF">2026-05-23T12:17:00Z</dcterms:created>
  <dcterms:modified xsi:type="dcterms:W3CDTF">2026-05-28T15:13:57Z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201FCCF33E184CD5B9E4BA40693939D1_12</vt:lpwstr>
  </property>
  <property fmtid="{D5CDD505-2E9C-101B-9397-08002B2CF9AE}" pid="3" name="KSOProductBuildVer">
    <vt:lpwstr>2052-12.8.2.18205</vt:lpwstr>
  </property>
</Properties>
</file>